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74" r:id="rId12"/>
    <p:sldId id="268" r:id="rId13"/>
    <p:sldId id="269" r:id="rId14"/>
    <p:sldId id="270" r:id="rId15"/>
    <p:sldId id="272"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C5FD"/>
    <a:srgbClr val="F0FDF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0" d="100"/>
          <a:sy n="120" d="100"/>
        </p:scale>
        <p:origin x="370" y="77"/>
      </p:cViewPr>
      <p:guideLst/>
    </p:cSldViewPr>
  </p:slideViewPr>
  <p:notesTextViewPr>
    <p:cViewPr>
      <p:scale>
        <a:sx n="1" d="1"/>
        <a:sy n="1" d="1"/>
      </p:scale>
      <p:origin x="0" y="-67"/>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RIZIO APUZZO" userId="S::fab.apuzzo@studenti.unina.it::d2e4b4f4-4f4c-4d22-be90-e12d8f7aad87" providerId="AD" clId="Web-{E2450A84-754D-6898-59B5-6DC0EFFAFED7}"/>
    <pc:docChg chg="modSld">
      <pc:chgData name="FABRIZIO APUZZO" userId="S::fab.apuzzo@studenti.unina.it::d2e4b4f4-4f4c-4d22-be90-e12d8f7aad87" providerId="AD" clId="Web-{E2450A84-754D-6898-59B5-6DC0EFFAFED7}" dt="2026-10-06T14:20:49.394" v="222" actId="20577"/>
      <pc:docMkLst>
        <pc:docMk/>
      </pc:docMkLst>
      <pc:sldChg chg="modSp">
        <pc:chgData name="FABRIZIO APUZZO" userId="S::fab.apuzzo@studenti.unina.it::d2e4b4f4-4f4c-4d22-be90-e12d8f7aad87" providerId="AD" clId="Web-{E2450A84-754D-6898-59B5-6DC0EFFAFED7}" dt="2026-10-06T14:20:49.394" v="222" actId="20577"/>
        <pc:sldMkLst>
          <pc:docMk/>
          <pc:sldMk cId="0" sldId="274"/>
        </pc:sldMkLst>
        <pc:spChg chg="mod">
          <ac:chgData name="FABRIZIO APUZZO" userId="S::fab.apuzzo@studenti.unina.it::d2e4b4f4-4f4c-4d22-be90-e12d8f7aad87" providerId="AD" clId="Web-{E2450A84-754D-6898-59B5-6DC0EFFAFED7}" dt="2026-10-06T14:16:45.384" v="141" actId="20577"/>
          <ac:spMkLst>
            <pc:docMk/>
            <pc:sldMk cId="0" sldId="274"/>
            <ac:spMk id="4" creationId="{00000000-0000-0000-0000-000000000000}"/>
          </ac:spMkLst>
        </pc:spChg>
        <pc:spChg chg="mod">
          <ac:chgData name="FABRIZIO APUZZO" userId="S::fab.apuzzo@studenti.unina.it::d2e4b4f4-4f4c-4d22-be90-e12d8f7aad87" providerId="AD" clId="Web-{E2450A84-754D-6898-59B5-6DC0EFFAFED7}" dt="2026-10-06T14:15:01.769" v="84" actId="20577"/>
          <ac:spMkLst>
            <pc:docMk/>
            <pc:sldMk cId="0" sldId="274"/>
            <ac:spMk id="8" creationId="{00000000-0000-0000-0000-000000000000}"/>
          </ac:spMkLst>
        </pc:spChg>
        <pc:spChg chg="mod">
          <ac:chgData name="FABRIZIO APUZZO" userId="S::fab.apuzzo@studenti.unina.it::d2e4b4f4-4f4c-4d22-be90-e12d8f7aad87" providerId="AD" clId="Web-{E2450A84-754D-6898-59B5-6DC0EFFAFED7}" dt="2026-10-06T14:20:49.394" v="222" actId="20577"/>
          <ac:spMkLst>
            <pc:docMk/>
            <pc:sldMk cId="0" sldId="274"/>
            <ac:spMk id="11" creationId="{00000000-0000-0000-0000-000000000000}"/>
          </ac:spMkLst>
        </pc:spChg>
        <pc:spChg chg="mod">
          <ac:chgData name="FABRIZIO APUZZO" userId="S::fab.apuzzo@studenti.unina.it::d2e4b4f4-4f4c-4d22-be90-e12d8f7aad87" providerId="AD" clId="Web-{E2450A84-754D-6898-59B5-6DC0EFFAFED7}" dt="2026-10-06T14:15:21.458" v="86" actId="1076"/>
          <ac:spMkLst>
            <pc:docMk/>
            <pc:sldMk cId="0" sldId="274"/>
            <ac:spMk id="12" creationId="{00000000-0000-0000-0000-000000000000}"/>
          </ac:spMkLst>
        </pc:spChg>
        <pc:spChg chg="mod">
          <ac:chgData name="FABRIZIO APUZZO" userId="S::fab.apuzzo@studenti.unina.it::d2e4b4f4-4f4c-4d22-be90-e12d8f7aad87" providerId="AD" clId="Web-{E2450A84-754D-6898-59B5-6DC0EFFAFED7}" dt="2026-10-06T14:19:56.954" v="221" actId="20577"/>
          <ac:spMkLst>
            <pc:docMk/>
            <pc:sldMk cId="0" sldId="274"/>
            <ac:spMk id="14" creationId="{00000000-0000-0000-0000-000000000000}"/>
          </ac:spMkLst>
        </pc:spChg>
        <pc:graphicFrameChg chg="mod modGraphic">
          <ac:chgData name="FABRIZIO APUZZO" userId="S::fab.apuzzo@studenti.unina.it::d2e4b4f4-4f4c-4d22-be90-e12d8f7aad87" providerId="AD" clId="Web-{E2450A84-754D-6898-59B5-6DC0EFFAFED7}" dt="2026-10-06T14:17:47.980" v="170"/>
          <ac:graphicFrameMkLst>
            <pc:docMk/>
            <pc:sldMk cId="0" sldId="274"/>
            <ac:graphicFrameMk id="13" creationId="{00000000-0000-0000-0000-000000000000}"/>
          </ac:graphicFrameMkLst>
        </pc:graphicFrameChg>
      </pc:sldChg>
    </pc:docChg>
  </pc:docChgLst>
  <pc:docChgLst>
    <pc:chgData name="FABRIZIO APUZZO" userId="S::fab.apuzzo@studenti.unina.it::d2e4b4f4-4f4c-4d22-be90-e12d8f7aad87" providerId="AD" clId="Web-{F793E4C8-87D0-2085-9E76-290C5BD8C9D0}"/>
    <pc:docChg chg="modSld">
      <pc:chgData name="FABRIZIO APUZZO" userId="S::fab.apuzzo@studenti.unina.it::d2e4b4f4-4f4c-4d22-be90-e12d8f7aad87" providerId="AD" clId="Web-{F793E4C8-87D0-2085-9E76-290C5BD8C9D0}" dt="2026-10-06T11:35:04.371" v="163" actId="20577"/>
      <pc:docMkLst>
        <pc:docMk/>
      </pc:docMkLst>
      <pc:sldChg chg="modSp">
        <pc:chgData name="FABRIZIO APUZZO" userId="S::fab.apuzzo@studenti.unina.it::d2e4b4f4-4f4c-4d22-be90-e12d8f7aad87" providerId="AD" clId="Web-{F793E4C8-87D0-2085-9E76-290C5BD8C9D0}" dt="2026-10-06T11:21:28.783" v="36" actId="20577"/>
        <pc:sldMkLst>
          <pc:docMk/>
          <pc:sldMk cId="0" sldId="256"/>
        </pc:sldMkLst>
      </pc:sldChg>
      <pc:sldChg chg="modSp">
        <pc:chgData name="FABRIZIO APUZZO" userId="S::fab.apuzzo@studenti.unina.it::d2e4b4f4-4f4c-4d22-be90-e12d8f7aad87" providerId="AD" clId="Web-{F793E4C8-87D0-2085-9E76-290C5BD8C9D0}" dt="2026-10-06T11:24:21.226" v="116" actId="20577"/>
        <pc:sldMkLst>
          <pc:docMk/>
          <pc:sldMk cId="0" sldId="257"/>
        </pc:sldMkLst>
        <pc:spChg chg="mod">
          <ac:chgData name="FABRIZIO APUZZO" userId="S::fab.apuzzo@studenti.unina.it::d2e4b4f4-4f4c-4d22-be90-e12d8f7aad87" providerId="AD" clId="Web-{F793E4C8-87D0-2085-9E76-290C5BD8C9D0}" dt="2026-10-06T11:24:10.616" v="112" actId="20577"/>
          <ac:spMkLst>
            <pc:docMk/>
            <pc:sldMk cId="0" sldId="257"/>
            <ac:spMk id="11" creationId="{00000000-0000-0000-0000-000000000000}"/>
          </ac:spMkLst>
        </pc:spChg>
        <pc:spChg chg="mod">
          <ac:chgData name="FABRIZIO APUZZO" userId="S::fab.apuzzo@studenti.unina.it::d2e4b4f4-4f4c-4d22-be90-e12d8f7aad87" providerId="AD" clId="Web-{F793E4C8-87D0-2085-9E76-290C5BD8C9D0}" dt="2026-10-06T11:23:10.427" v="88" actId="20577"/>
          <ac:spMkLst>
            <pc:docMk/>
            <pc:sldMk cId="0" sldId="257"/>
            <ac:spMk id="15" creationId="{00000000-0000-0000-0000-000000000000}"/>
          </ac:spMkLst>
        </pc:spChg>
        <pc:spChg chg="mod">
          <ac:chgData name="FABRIZIO APUZZO" userId="S::fab.apuzzo@studenti.unina.it::d2e4b4f4-4f4c-4d22-be90-e12d8f7aad87" providerId="AD" clId="Web-{F793E4C8-87D0-2085-9E76-290C5BD8C9D0}" dt="2026-10-06T11:24:21.226" v="116" actId="20577"/>
          <ac:spMkLst>
            <pc:docMk/>
            <pc:sldMk cId="0" sldId="257"/>
            <ac:spMk id="17" creationId="{00000000-0000-0000-0000-000000000000}"/>
          </ac:spMkLst>
        </pc:spChg>
      </pc:sldChg>
      <pc:sldChg chg="modSp">
        <pc:chgData name="FABRIZIO APUZZO" userId="S::fab.apuzzo@studenti.unina.it::d2e4b4f4-4f4c-4d22-be90-e12d8f7aad87" providerId="AD" clId="Web-{F793E4C8-87D0-2085-9E76-290C5BD8C9D0}" dt="2026-10-06T11:35:04.371" v="163" actId="20577"/>
        <pc:sldMkLst>
          <pc:docMk/>
          <pc:sldMk cId="0" sldId="269"/>
        </pc:sldMkLst>
        <pc:spChg chg="mod">
          <ac:chgData name="FABRIZIO APUZZO" userId="S::fab.apuzzo@studenti.unina.it::d2e4b4f4-4f4c-4d22-be90-e12d8f7aad87" providerId="AD" clId="Web-{F793E4C8-87D0-2085-9E76-290C5BD8C9D0}" dt="2026-10-06T11:35:04.371" v="163" actId="20577"/>
          <ac:spMkLst>
            <pc:docMk/>
            <pc:sldMk cId="0" sldId="269"/>
            <ac:spMk id="13" creationId="{00000000-0000-0000-0000-000000000000}"/>
          </ac:spMkLst>
        </pc:spChg>
      </pc:sldChg>
      <pc:sldChg chg="modSp">
        <pc:chgData name="FABRIZIO APUZZO" userId="S::fab.apuzzo@studenti.unina.it::d2e4b4f4-4f4c-4d22-be90-e12d8f7aad87" providerId="AD" clId="Web-{F793E4C8-87D0-2085-9E76-290C5BD8C9D0}" dt="2026-10-06T11:33:11.696" v="160" actId="20577"/>
        <pc:sldMkLst>
          <pc:docMk/>
          <pc:sldMk cId="0" sldId="274"/>
        </pc:sldMkLst>
        <pc:spChg chg="mod">
          <ac:chgData name="FABRIZIO APUZZO" userId="S::fab.apuzzo@studenti.unina.it::d2e4b4f4-4f4c-4d22-be90-e12d8f7aad87" providerId="AD" clId="Web-{F793E4C8-87D0-2085-9E76-290C5BD8C9D0}" dt="2026-10-06T11:33:11.696" v="160" actId="20577"/>
          <ac:spMkLst>
            <pc:docMk/>
            <pc:sldMk cId="0" sldId="274"/>
            <ac:spMk id="11" creationId="{00000000-0000-0000-0000-000000000000}"/>
          </ac:spMkLst>
        </pc:spChg>
        <pc:graphicFrameChg chg="mod modGraphic">
          <ac:chgData name="FABRIZIO APUZZO" userId="S::fab.apuzzo@studenti.unina.it::d2e4b4f4-4f4c-4d22-be90-e12d8f7aad87" providerId="AD" clId="Web-{F793E4C8-87D0-2085-9E76-290C5BD8C9D0}" dt="2026-10-06T11:32:20.319" v="139"/>
          <ac:graphicFrameMkLst>
            <pc:docMk/>
            <pc:sldMk cId="0" sldId="274"/>
            <ac:graphicFrameMk id="13" creationId="{00000000-0000-0000-0000-000000000000}"/>
          </ac:graphicFrameMkLst>
        </pc:graphicFrameChg>
      </pc:sldChg>
    </pc:docChg>
  </pc:docChgLst>
  <pc:docChgLst>
    <pc:chgData name="FABRIZIO APUZZO" userId="S::fab.apuzzo@studenti.unina.it::d2e4b4f4-4f4c-4d22-be90-e12d8f7aad87" providerId="AD" clId="Web-{00000000-0000-0000-0000-000000000000}"/>
    <pc:docChg chg="modSld">
      <pc:chgData name="FABRIZIO APUZZO" userId="S::fab.apuzzo@studenti.unina.it::d2e4b4f4-4f4c-4d22-be90-e12d8f7aad87" providerId="AD" clId="Web-{00000000-0000-0000-0000-000000000000}" dt="2026-10-06T15:16:56.524" v="97" actId="1076"/>
      <pc:docMkLst>
        <pc:docMk/>
      </pc:docMkLst>
      <pc:sldChg chg="modSp">
        <pc:chgData name="FABRIZIO APUZZO" userId="S::fab.apuzzo@studenti.unina.it::d2e4b4f4-4f4c-4d22-be90-e12d8f7aad87" providerId="AD" clId="Web-{00000000-0000-0000-0000-000000000000}" dt="2026-10-05T15:17:55.916" v="1" actId="20577"/>
        <pc:sldMkLst>
          <pc:docMk/>
          <pc:sldMk cId="0" sldId="265"/>
        </pc:sldMkLst>
        <pc:spChg chg="mod">
          <ac:chgData name="FABRIZIO APUZZO" userId="S::fab.apuzzo@studenti.unina.it::d2e4b4f4-4f4c-4d22-be90-e12d8f7aad87" providerId="AD" clId="Web-{00000000-0000-0000-0000-000000000000}" dt="2026-10-05T15:17:55.916" v="1" actId="20577"/>
          <ac:spMkLst>
            <pc:docMk/>
            <pc:sldMk cId="0" sldId="265"/>
            <ac:spMk id="17" creationId="{00000000-0000-0000-0000-000000000000}"/>
          </ac:spMkLst>
        </pc:spChg>
      </pc:sldChg>
      <pc:sldChg chg="addSp delSp modSp">
        <pc:chgData name="FABRIZIO APUZZO" userId="S::fab.apuzzo@studenti.unina.it::d2e4b4f4-4f4c-4d22-be90-e12d8f7aad87" providerId="AD" clId="Web-{00000000-0000-0000-0000-000000000000}" dt="2026-10-06T15:16:56.524" v="97" actId="1076"/>
        <pc:sldMkLst>
          <pc:docMk/>
          <pc:sldMk cId="0" sldId="269"/>
        </pc:sldMkLst>
        <pc:spChg chg="add del">
          <ac:chgData name="FABRIZIO APUZZO" userId="S::fab.apuzzo@studenti.unina.it::d2e4b4f4-4f4c-4d22-be90-e12d8f7aad87" providerId="AD" clId="Web-{00000000-0000-0000-0000-000000000000}" dt="2026-10-06T15:16:00.037" v="88"/>
          <ac:spMkLst>
            <pc:docMk/>
            <pc:sldMk cId="0" sldId="269"/>
            <ac:spMk id="9" creationId="{00000000-0000-0000-0000-000000000000}"/>
          </ac:spMkLst>
        </pc:spChg>
        <pc:spChg chg="add del">
          <ac:chgData name="FABRIZIO APUZZO" userId="S::fab.apuzzo@studenti.unina.it::d2e4b4f4-4f4c-4d22-be90-e12d8f7aad87" providerId="AD" clId="Web-{00000000-0000-0000-0000-000000000000}" dt="2026-10-06T15:16:00.459" v="89"/>
          <ac:spMkLst>
            <pc:docMk/>
            <pc:sldMk cId="0" sldId="269"/>
            <ac:spMk id="10" creationId="{00000000-0000-0000-0000-000000000000}"/>
          </ac:spMkLst>
        </pc:spChg>
        <pc:spChg chg="mod">
          <ac:chgData name="FABRIZIO APUZZO" userId="S::fab.apuzzo@studenti.unina.it::d2e4b4f4-4f4c-4d22-be90-e12d8f7aad87" providerId="AD" clId="Web-{00000000-0000-0000-0000-000000000000}" dt="2026-10-06T15:16:56.524" v="97" actId="1076"/>
          <ac:spMkLst>
            <pc:docMk/>
            <pc:sldMk cId="0" sldId="269"/>
            <ac:spMk id="13" creationId="{00000000-0000-0000-0000-000000000000}"/>
          </ac:spMkLst>
        </pc:spChg>
        <pc:spChg chg="add del">
          <ac:chgData name="FABRIZIO APUZZO" userId="S::fab.apuzzo@studenti.unina.it::d2e4b4f4-4f4c-4d22-be90-e12d8f7aad87" providerId="AD" clId="Web-{00000000-0000-0000-0000-000000000000}" dt="2026-10-06T15:15:40.458" v="78"/>
          <ac:spMkLst>
            <pc:docMk/>
            <pc:sldMk cId="0" sldId="269"/>
            <ac:spMk id="26" creationId="{00000000-0000-0000-0000-000000000000}"/>
          </ac:spMkLst>
        </pc:spChg>
        <pc:spChg chg="mod">
          <ac:chgData name="FABRIZIO APUZZO" userId="S::fab.apuzzo@studenti.unina.it::d2e4b4f4-4f4c-4d22-be90-e12d8f7aad87" providerId="AD" clId="Web-{00000000-0000-0000-0000-000000000000}" dt="2026-10-06T15:15:22.677" v="71" actId="20577"/>
          <ac:spMkLst>
            <pc:docMk/>
            <pc:sldMk cId="0" sldId="269"/>
            <ac:spMk id="28" creationId="{00000000-0000-0000-0000-000000000000}"/>
          </ac:spMkLst>
        </pc:spChg>
        <pc:spChg chg="mod">
          <ac:chgData name="FABRIZIO APUZZO" userId="S::fab.apuzzo@studenti.unina.it::d2e4b4f4-4f4c-4d22-be90-e12d8f7aad87" providerId="AD" clId="Web-{00000000-0000-0000-0000-000000000000}" dt="2026-10-06T15:14:46.800" v="59"/>
          <ac:spMkLst>
            <pc:docMk/>
            <pc:sldMk cId="0" sldId="269"/>
            <ac:spMk id="35" creationId="{00000000-0000-0000-0000-000000000000}"/>
          </ac:spMkLst>
        </pc:spChg>
        <pc:spChg chg="mod">
          <ac:chgData name="FABRIZIO APUZZO" userId="S::fab.apuzzo@studenti.unina.it::d2e4b4f4-4f4c-4d22-be90-e12d8f7aad87" providerId="AD" clId="Web-{00000000-0000-0000-0000-000000000000}" dt="2026-10-06T15:15:52.724" v="84" actId="20577"/>
          <ac:spMkLst>
            <pc:docMk/>
            <pc:sldMk cId="0" sldId="269"/>
            <ac:spMk id="39" creationId="{00000000-0000-0000-0000-000000000000}"/>
          </ac:spMkLst>
        </pc:spChg>
        <pc:spChg chg="mod">
          <ac:chgData name="FABRIZIO APUZZO" userId="S::fab.apuzzo@studenti.unina.it::d2e4b4f4-4f4c-4d22-be90-e12d8f7aad87" providerId="AD" clId="Web-{00000000-0000-0000-0000-000000000000}" dt="2026-10-06T15:16:47.898" v="92" actId="1076"/>
          <ac:spMkLst>
            <pc:docMk/>
            <pc:sldMk cId="0" sldId="269"/>
            <ac:spMk id="40" creationId="{00000000-0000-0000-0000-000000000000}"/>
          </ac:spMkLst>
        </pc:spChg>
        <pc:spChg chg="mod">
          <ac:chgData name="FABRIZIO APUZZO" userId="S::fab.apuzzo@studenti.unina.it::d2e4b4f4-4f4c-4d22-be90-e12d8f7aad87" providerId="AD" clId="Web-{00000000-0000-0000-0000-000000000000}" dt="2026-10-06T15:16:52.570" v="94" actId="1076"/>
          <ac:spMkLst>
            <pc:docMk/>
            <pc:sldMk cId="0" sldId="269"/>
            <ac:spMk id="41" creationId="{00000000-0000-0000-0000-000000000000}"/>
          </ac:spMkLst>
        </pc:spChg>
        <pc:spChg chg="add del ord">
          <ac:chgData name="FABRIZIO APUZZO" userId="S::fab.apuzzo@studenti.unina.it::d2e4b4f4-4f4c-4d22-be90-e12d8f7aad87" providerId="AD" clId="Web-{00000000-0000-0000-0000-000000000000}" dt="2026-10-06T15:15:32.380" v="74"/>
          <ac:spMkLst>
            <pc:docMk/>
            <pc:sldMk cId="0" sldId="269"/>
            <ac:spMk id="46" creationId="{00000000-0000-0000-0000-000000000000}"/>
          </ac:spMkLst>
        </pc:spChg>
        <pc:spChg chg="add mod ord">
          <ac:chgData name="FABRIZIO APUZZO" userId="S::fab.apuzzo@studenti.unina.it::d2e4b4f4-4f4c-4d22-be90-e12d8f7aad87" providerId="AD" clId="Web-{00000000-0000-0000-0000-000000000000}" dt="2026-10-06T15:12:58.484" v="41" actId="14100"/>
          <ac:spMkLst>
            <pc:docMk/>
            <pc:sldMk cId="0" sldId="269"/>
            <ac:spMk id="54" creationId="{68473868-0755-8C53-A095-C769D7CB6AEA}"/>
          </ac:spMkLst>
        </pc:spChg>
        <pc:spChg chg="add mod ord">
          <ac:chgData name="FABRIZIO APUZZO" userId="S::fab.apuzzo@studenti.unina.it::d2e4b4f4-4f4c-4d22-be90-e12d8f7aad87" providerId="AD" clId="Web-{00000000-0000-0000-0000-000000000000}" dt="2026-10-06T15:16:34.742" v="91"/>
          <ac:spMkLst>
            <pc:docMk/>
            <pc:sldMk cId="0" sldId="269"/>
            <ac:spMk id="55" creationId="{72867D24-A395-84FF-B2AF-E9599363EE7A}"/>
          </ac:spMkLst>
        </pc:spChg>
        <pc:spChg chg="add del mod ord">
          <ac:chgData name="FABRIZIO APUZZO" userId="S::fab.apuzzo@studenti.unina.it::d2e4b4f4-4f4c-4d22-be90-e12d8f7aad87" providerId="AD" clId="Web-{00000000-0000-0000-0000-000000000000}" dt="2026-10-06T15:14:28.425" v="58"/>
          <ac:spMkLst>
            <pc:docMk/>
            <pc:sldMk cId="0" sldId="269"/>
            <ac:spMk id="56" creationId="{162495C1-8554-8E67-4C0D-7BFB9FA9C0D8}"/>
          </ac:spMkLst>
        </pc:spChg>
      </pc:sldChg>
    </pc:docChg>
  </pc:docChgLst>
  <pc:docChgLst>
    <pc:chgData name="FABRIZIO APUZZO" userId="S::fab.apuzzo@studenti.unina.it::d2e4b4f4-4f4c-4d22-be90-e12d8f7aad87" providerId="AD" clId="Web-{45BAA69B-9353-1306-EC09-7B692948B43F}"/>
    <pc:docChg chg="modSld">
      <pc:chgData name="FABRIZIO APUZZO" userId="S::fab.apuzzo@studenti.unina.it::d2e4b4f4-4f4c-4d22-be90-e12d8f7aad87" providerId="AD" clId="Web-{45BAA69B-9353-1306-EC09-7B692948B43F}" dt="2026-10-05T14:52:59.092" v="527" actId="1076"/>
      <pc:docMkLst>
        <pc:docMk/>
      </pc:docMkLst>
      <pc:sldChg chg="modSp">
        <pc:chgData name="FABRIZIO APUZZO" userId="S::fab.apuzzo@studenti.unina.it::d2e4b4f4-4f4c-4d22-be90-e12d8f7aad87" providerId="AD" clId="Web-{45BAA69B-9353-1306-EC09-7B692948B43F}" dt="2026-10-05T13:25:03.218" v="1" actId="20577"/>
        <pc:sldMkLst>
          <pc:docMk/>
          <pc:sldMk cId="0" sldId="256"/>
        </pc:sldMkLst>
        <pc:spChg chg="mod">
          <ac:chgData name="FABRIZIO APUZZO" userId="S::fab.apuzzo@studenti.unina.it::d2e4b4f4-4f4c-4d22-be90-e12d8f7aad87" providerId="AD" clId="Web-{45BAA69B-9353-1306-EC09-7B692948B43F}" dt="2026-10-05T13:25:03.218" v="1" actId="20577"/>
          <ac:spMkLst>
            <pc:docMk/>
            <pc:sldMk cId="0" sldId="256"/>
            <ac:spMk id="4" creationId="{00000000-0000-0000-0000-000000000000}"/>
          </ac:spMkLst>
        </pc:spChg>
      </pc:sldChg>
      <pc:sldChg chg="modSp">
        <pc:chgData name="FABRIZIO APUZZO" userId="S::fab.apuzzo@studenti.unina.it::d2e4b4f4-4f4c-4d22-be90-e12d8f7aad87" providerId="AD" clId="Web-{45BAA69B-9353-1306-EC09-7B692948B43F}" dt="2026-10-05T14:00:29.412" v="62" actId="20577"/>
        <pc:sldMkLst>
          <pc:docMk/>
          <pc:sldMk cId="0" sldId="257"/>
        </pc:sldMkLst>
        <pc:spChg chg="mod">
          <ac:chgData name="FABRIZIO APUZZO" userId="S::fab.apuzzo@studenti.unina.it::d2e4b4f4-4f4c-4d22-be90-e12d8f7aad87" providerId="AD" clId="Web-{45BAA69B-9353-1306-EC09-7B692948B43F}" dt="2026-10-05T14:00:29.412" v="62" actId="20577"/>
          <ac:spMkLst>
            <pc:docMk/>
            <pc:sldMk cId="0" sldId="257"/>
            <ac:spMk id="2" creationId="{00000000-0000-0000-0000-000000000000}"/>
          </ac:spMkLst>
        </pc:spChg>
        <pc:spChg chg="mod">
          <ac:chgData name="FABRIZIO APUZZO" userId="S::fab.apuzzo@studenti.unina.it::d2e4b4f4-4f4c-4d22-be90-e12d8f7aad87" providerId="AD" clId="Web-{45BAA69B-9353-1306-EC09-7B692948B43F}" dt="2026-10-05T13:28:00.529" v="4" actId="20577"/>
          <ac:spMkLst>
            <pc:docMk/>
            <pc:sldMk cId="0" sldId="257"/>
            <ac:spMk id="3" creationId="{00000000-0000-0000-0000-000000000000}"/>
          </ac:spMkLst>
        </pc:spChg>
        <pc:spChg chg="mod">
          <ac:chgData name="FABRIZIO APUZZO" userId="S::fab.apuzzo@studenti.unina.it::d2e4b4f4-4f4c-4d22-be90-e12d8f7aad87" providerId="AD" clId="Web-{45BAA69B-9353-1306-EC09-7B692948B43F}" dt="2026-10-05T13:30:18.868" v="6" actId="20577"/>
          <ac:spMkLst>
            <pc:docMk/>
            <pc:sldMk cId="0" sldId="257"/>
            <ac:spMk id="18" creationId="{00000000-0000-0000-0000-000000000000}"/>
          </ac:spMkLst>
        </pc:spChg>
      </pc:sldChg>
      <pc:sldChg chg="modSp">
        <pc:chgData name="FABRIZIO APUZZO" userId="S::fab.apuzzo@studenti.unina.it::d2e4b4f4-4f4c-4d22-be90-e12d8f7aad87" providerId="AD" clId="Web-{45BAA69B-9353-1306-EC09-7B692948B43F}" dt="2026-10-05T13:38:06.201" v="8" actId="20577"/>
        <pc:sldMkLst>
          <pc:docMk/>
          <pc:sldMk cId="0" sldId="258"/>
        </pc:sldMkLst>
        <pc:spChg chg="mod">
          <ac:chgData name="FABRIZIO APUZZO" userId="S::fab.apuzzo@studenti.unina.it::d2e4b4f4-4f4c-4d22-be90-e12d8f7aad87" providerId="AD" clId="Web-{45BAA69B-9353-1306-EC09-7B692948B43F}" dt="2026-10-05T13:38:06.201" v="8" actId="20577"/>
          <ac:spMkLst>
            <pc:docMk/>
            <pc:sldMk cId="0" sldId="258"/>
            <ac:spMk id="42" creationId="{00000000-0000-0000-0000-000000000000}"/>
          </ac:spMkLst>
        </pc:spChg>
      </pc:sldChg>
      <pc:sldChg chg="modSp">
        <pc:chgData name="FABRIZIO APUZZO" userId="S::fab.apuzzo@studenti.unina.it::d2e4b4f4-4f4c-4d22-be90-e12d8f7aad87" providerId="AD" clId="Web-{45BAA69B-9353-1306-EC09-7B692948B43F}" dt="2026-10-05T13:59:01.343" v="47" actId="20577"/>
        <pc:sldMkLst>
          <pc:docMk/>
          <pc:sldMk cId="0" sldId="261"/>
        </pc:sldMkLst>
        <pc:spChg chg="mod">
          <ac:chgData name="FABRIZIO APUZZO" userId="S::fab.apuzzo@studenti.unina.it::d2e4b4f4-4f4c-4d22-be90-e12d8f7aad87" providerId="AD" clId="Web-{45BAA69B-9353-1306-EC09-7B692948B43F}" dt="2026-10-05T13:57:16.663" v="28" actId="20577"/>
          <ac:spMkLst>
            <pc:docMk/>
            <pc:sldMk cId="0" sldId="261"/>
            <ac:spMk id="7" creationId="{00000000-0000-0000-0000-000000000000}"/>
          </ac:spMkLst>
        </pc:spChg>
        <pc:spChg chg="mod">
          <ac:chgData name="FABRIZIO APUZZO" userId="S::fab.apuzzo@studenti.unina.it::d2e4b4f4-4f4c-4d22-be90-e12d8f7aad87" providerId="AD" clId="Web-{45BAA69B-9353-1306-EC09-7B692948B43F}" dt="2026-10-05T13:58:17.746" v="45" actId="20577"/>
          <ac:spMkLst>
            <pc:docMk/>
            <pc:sldMk cId="0" sldId="261"/>
            <ac:spMk id="11" creationId="{00000000-0000-0000-0000-000000000000}"/>
          </ac:spMkLst>
        </pc:spChg>
        <pc:spChg chg="mod">
          <ac:chgData name="FABRIZIO APUZZO" userId="S::fab.apuzzo@studenti.unina.it::d2e4b4f4-4f4c-4d22-be90-e12d8f7aad87" providerId="AD" clId="Web-{45BAA69B-9353-1306-EC09-7B692948B43F}" dt="2026-10-05T13:59:01.343" v="47" actId="20577"/>
          <ac:spMkLst>
            <pc:docMk/>
            <pc:sldMk cId="0" sldId="261"/>
            <ac:spMk id="13" creationId="{00000000-0000-0000-0000-000000000000}"/>
          </ac:spMkLst>
        </pc:spChg>
      </pc:sldChg>
      <pc:sldChg chg="modSp">
        <pc:chgData name="FABRIZIO APUZZO" userId="S::fab.apuzzo@studenti.unina.it::d2e4b4f4-4f4c-4d22-be90-e12d8f7aad87" providerId="AD" clId="Web-{45BAA69B-9353-1306-EC09-7B692948B43F}" dt="2026-10-05T14:00:54.586" v="64" actId="20577"/>
        <pc:sldMkLst>
          <pc:docMk/>
          <pc:sldMk cId="0" sldId="262"/>
        </pc:sldMkLst>
        <pc:spChg chg="mod">
          <ac:chgData name="FABRIZIO APUZZO" userId="S::fab.apuzzo@studenti.unina.it::d2e4b4f4-4f4c-4d22-be90-e12d8f7aad87" providerId="AD" clId="Web-{45BAA69B-9353-1306-EC09-7B692948B43F}" dt="2026-10-05T14:00:22.177" v="60" actId="20577"/>
          <ac:spMkLst>
            <pc:docMk/>
            <pc:sldMk cId="0" sldId="262"/>
            <ac:spMk id="2" creationId="{00000000-0000-0000-0000-000000000000}"/>
          </ac:spMkLst>
        </pc:spChg>
        <pc:spChg chg="mod">
          <ac:chgData name="FABRIZIO APUZZO" userId="S::fab.apuzzo@studenti.unina.it::d2e4b4f4-4f4c-4d22-be90-e12d8f7aad87" providerId="AD" clId="Web-{45BAA69B-9353-1306-EC09-7B692948B43F}" dt="2026-10-05T14:00:54.586" v="64" actId="20577"/>
          <ac:spMkLst>
            <pc:docMk/>
            <pc:sldMk cId="0" sldId="262"/>
            <ac:spMk id="3" creationId="{00000000-0000-0000-0000-000000000000}"/>
          </ac:spMkLst>
        </pc:spChg>
        <pc:spChg chg="mod">
          <ac:chgData name="FABRIZIO APUZZO" userId="S::fab.apuzzo@studenti.unina.it::d2e4b4f4-4f4c-4d22-be90-e12d8f7aad87" providerId="AD" clId="Web-{45BAA69B-9353-1306-EC09-7B692948B43F}" dt="2026-10-05T13:59:35.502" v="50" actId="20577"/>
          <ac:spMkLst>
            <pc:docMk/>
            <pc:sldMk cId="0" sldId="262"/>
            <ac:spMk id="21" creationId="{00000000-0000-0000-0000-000000000000}"/>
          </ac:spMkLst>
        </pc:spChg>
        <pc:spChg chg="mod">
          <ac:chgData name="FABRIZIO APUZZO" userId="S::fab.apuzzo@studenti.unina.it::d2e4b4f4-4f4c-4d22-be90-e12d8f7aad87" providerId="AD" clId="Web-{45BAA69B-9353-1306-EC09-7B692948B43F}" dt="2026-10-05T13:59:57.957" v="52" actId="20577"/>
          <ac:spMkLst>
            <pc:docMk/>
            <pc:sldMk cId="0" sldId="262"/>
            <ac:spMk id="29" creationId="{00000000-0000-0000-0000-000000000000}"/>
          </ac:spMkLst>
        </pc:spChg>
      </pc:sldChg>
      <pc:sldChg chg="modSp">
        <pc:chgData name="FABRIZIO APUZZO" userId="S::fab.apuzzo@studenti.unina.it::d2e4b4f4-4f4c-4d22-be90-e12d8f7aad87" providerId="AD" clId="Web-{45BAA69B-9353-1306-EC09-7B692948B43F}" dt="2026-10-05T14:52:59.092" v="527" actId="1076"/>
        <pc:sldMkLst>
          <pc:docMk/>
          <pc:sldMk cId="0" sldId="263"/>
        </pc:sldMkLst>
        <pc:spChg chg="mod">
          <ac:chgData name="FABRIZIO APUZZO" userId="S::fab.apuzzo@studenti.unina.it::d2e4b4f4-4f4c-4d22-be90-e12d8f7aad87" providerId="AD" clId="Web-{45BAA69B-9353-1306-EC09-7B692948B43F}" dt="2026-10-05T14:52:59.092" v="527" actId="1076"/>
          <ac:spMkLst>
            <pc:docMk/>
            <pc:sldMk cId="0" sldId="263"/>
            <ac:spMk id="2" creationId="{00000000-0000-0000-0000-000000000000}"/>
          </ac:spMkLst>
        </pc:spChg>
        <pc:spChg chg="mod">
          <ac:chgData name="FABRIZIO APUZZO" userId="S::fab.apuzzo@studenti.unina.it::d2e4b4f4-4f4c-4d22-be90-e12d8f7aad87" providerId="AD" clId="Web-{45BAA69B-9353-1306-EC09-7B692948B43F}" dt="2026-10-05T14:06:08.657" v="89" actId="20577"/>
          <ac:spMkLst>
            <pc:docMk/>
            <pc:sldMk cId="0" sldId="263"/>
            <ac:spMk id="3" creationId="{00000000-0000-0000-0000-000000000000}"/>
          </ac:spMkLst>
        </pc:spChg>
        <pc:spChg chg="mod">
          <ac:chgData name="FABRIZIO APUZZO" userId="S::fab.apuzzo@studenti.unina.it::d2e4b4f4-4f4c-4d22-be90-e12d8f7aad87" providerId="AD" clId="Web-{45BAA69B-9353-1306-EC09-7B692948B43F}" dt="2026-10-05T14:16:07.734" v="504" actId="20577"/>
          <ac:spMkLst>
            <pc:docMk/>
            <pc:sldMk cId="0" sldId="263"/>
            <ac:spMk id="10" creationId="{00000000-0000-0000-0000-000000000000}"/>
          </ac:spMkLst>
        </pc:spChg>
        <pc:spChg chg="mod">
          <ac:chgData name="FABRIZIO APUZZO" userId="S::fab.apuzzo@studenti.unina.it::d2e4b4f4-4f4c-4d22-be90-e12d8f7aad87" providerId="AD" clId="Web-{45BAA69B-9353-1306-EC09-7B692948B43F}" dt="2026-10-05T14:52:58.201" v="526" actId="20577"/>
          <ac:spMkLst>
            <pc:docMk/>
            <pc:sldMk cId="0" sldId="263"/>
            <ac:spMk id="14" creationId="{00000000-0000-0000-0000-000000000000}"/>
          </ac:spMkLst>
        </pc:spChg>
        <pc:spChg chg="mod">
          <ac:chgData name="FABRIZIO APUZZO" userId="S::fab.apuzzo@studenti.unina.it::d2e4b4f4-4f4c-4d22-be90-e12d8f7aad87" providerId="AD" clId="Web-{45BAA69B-9353-1306-EC09-7B692948B43F}" dt="2026-10-05T14:21:24.087" v="507" actId="20577"/>
          <ac:spMkLst>
            <pc:docMk/>
            <pc:sldMk cId="0" sldId="263"/>
            <ac:spMk id="22" creationId="{00000000-0000-0000-0000-000000000000}"/>
          </ac:spMkLst>
        </pc:spChg>
      </pc:sldChg>
      <pc:sldChg chg="modSp">
        <pc:chgData name="FABRIZIO APUZZO" userId="S::fab.apuzzo@studenti.unina.it::d2e4b4f4-4f4c-4d22-be90-e12d8f7aad87" providerId="AD" clId="Web-{45BAA69B-9353-1306-EC09-7B692948B43F}" dt="2026-10-05T14:46:22.249" v="509" actId="20577"/>
        <pc:sldMkLst>
          <pc:docMk/>
          <pc:sldMk cId="0" sldId="265"/>
        </pc:sldMkLst>
        <pc:spChg chg="mod">
          <ac:chgData name="FABRIZIO APUZZO" userId="S::fab.apuzzo@studenti.unina.it::d2e4b4f4-4f4c-4d22-be90-e12d8f7aad87" providerId="AD" clId="Web-{45BAA69B-9353-1306-EC09-7B692948B43F}" dt="2026-10-05T14:46:22.249" v="509" actId="20577"/>
          <ac:spMkLst>
            <pc:docMk/>
            <pc:sldMk cId="0" sldId="265"/>
            <ac:spMk id="10" creationId="{00000000-0000-0000-0000-000000000000}"/>
          </ac:spMkLst>
        </pc:spChg>
      </pc:sldChg>
    </pc:docChg>
  </pc:docChgLst>
  <pc:docChgLst>
    <pc:chgData name="FABRIZIO APUZZO" userId="S::fab.apuzzo@studenti.unina.it::d2e4b4f4-4f4c-4d22-be90-e12d8f7aad87" providerId="AD" clId="Web-{DF1A3324-A0F6-E9A8-208E-9003A0BBC7A9}"/>
    <pc:docChg chg="modSld">
      <pc:chgData name="FABRIZIO APUZZO" userId="S::fab.apuzzo@studenti.unina.it::d2e4b4f4-4f4c-4d22-be90-e12d8f7aad87" providerId="AD" clId="Web-{DF1A3324-A0F6-E9A8-208E-9003A0BBC7A9}" dt="2026-10-06T15:05:51.368" v="7"/>
      <pc:docMkLst>
        <pc:docMk/>
      </pc:docMkLst>
      <pc:sldChg chg="modSp">
        <pc:chgData name="FABRIZIO APUZZO" userId="S::fab.apuzzo@studenti.unina.it::d2e4b4f4-4f4c-4d22-be90-e12d8f7aad87" providerId="AD" clId="Web-{DF1A3324-A0F6-E9A8-208E-9003A0BBC7A9}" dt="2026-10-06T15:05:51.368" v="7"/>
        <pc:sldMkLst>
          <pc:docMk/>
          <pc:sldMk cId="0" sldId="269"/>
        </pc:sldMkLst>
      </pc:sldChg>
    </pc:docChg>
  </pc:docChgLst>
  <pc:docChgLst>
    <pc:chgData name="AGOSTINO CESARANO" userId="f1514f06-2330-49e8-ade4-d671ff87257b" providerId="ADAL" clId="{0F387160-13C5-4311-9585-E20B5F99A4C6}"/>
    <pc:docChg chg="undo redo custSel mod addSld delSld modSld">
      <pc:chgData name="AGOSTINO CESARANO" userId="f1514f06-2330-49e8-ade4-d671ff87257b" providerId="ADAL" clId="{0F387160-13C5-4311-9585-E20B5F99A4C6}" dt="2026-10-08T07:52:08.092" v="1369" actId="20577"/>
      <pc:docMkLst>
        <pc:docMk/>
      </pc:docMkLst>
      <pc:sldChg chg="addSp delSp modSp mod">
        <pc:chgData name="AGOSTINO CESARANO" userId="f1514f06-2330-49e8-ade4-d671ff87257b" providerId="ADAL" clId="{0F387160-13C5-4311-9585-E20B5F99A4C6}" dt="2026-10-06T13:26:43.727" v="1324" actId="368"/>
        <pc:sldMkLst>
          <pc:docMk/>
          <pc:sldMk cId="0" sldId="256"/>
        </pc:sldMkLst>
        <pc:spChg chg="add del mod">
          <ac:chgData name="AGOSTINO CESARANO" userId="f1514f06-2330-49e8-ade4-d671ff87257b" providerId="ADAL" clId="{0F387160-13C5-4311-9585-E20B5F99A4C6}" dt="2026-10-05T13:25:00.509" v="34" actId="20577"/>
          <ac:spMkLst>
            <pc:docMk/>
            <pc:sldMk cId="0" sldId="256"/>
            <ac:spMk id="4" creationId="{00000000-0000-0000-0000-000000000000}"/>
          </ac:spMkLst>
        </pc:spChg>
        <pc:spChg chg="add del mod">
          <ac:chgData name="AGOSTINO CESARANO" userId="f1514f06-2330-49e8-ade4-d671ff87257b" providerId="ADAL" clId="{0F387160-13C5-4311-9585-E20B5F99A4C6}" dt="2026-10-06T13:26:43.727" v="1324" actId="368"/>
          <ac:spMkLst>
            <pc:docMk/>
            <pc:sldMk cId="0" sldId="256"/>
            <ac:spMk id="5" creationId="{00000000-0000-0000-0000-000000000000}"/>
          </ac:spMkLst>
        </pc:spChg>
      </pc:sldChg>
      <pc:sldChg chg="modSp mod">
        <pc:chgData name="AGOSTINO CESARANO" userId="f1514f06-2330-49e8-ade4-d671ff87257b" providerId="ADAL" clId="{0F387160-13C5-4311-9585-E20B5F99A4C6}" dt="2026-10-05T13:29:55.608" v="207" actId="20577"/>
        <pc:sldMkLst>
          <pc:docMk/>
          <pc:sldMk cId="0" sldId="257"/>
        </pc:sldMkLst>
        <pc:spChg chg="mod">
          <ac:chgData name="AGOSTINO CESARANO" userId="f1514f06-2330-49e8-ade4-d671ff87257b" providerId="ADAL" clId="{0F387160-13C5-4311-9585-E20B5F99A4C6}" dt="2026-10-05T13:27:00.663" v="104" actId="20577"/>
          <ac:spMkLst>
            <pc:docMk/>
            <pc:sldMk cId="0" sldId="257"/>
            <ac:spMk id="3" creationId="{00000000-0000-0000-0000-000000000000}"/>
          </ac:spMkLst>
        </pc:spChg>
        <pc:spChg chg="mod">
          <ac:chgData name="AGOSTINO CESARANO" userId="f1514f06-2330-49e8-ade4-d671ff87257b" providerId="ADAL" clId="{0F387160-13C5-4311-9585-E20B5F99A4C6}" dt="2026-10-05T13:27:36.083" v="108" actId="20577"/>
          <ac:spMkLst>
            <pc:docMk/>
            <pc:sldMk cId="0" sldId="257"/>
            <ac:spMk id="6" creationId="{00000000-0000-0000-0000-000000000000}"/>
          </ac:spMkLst>
        </pc:spChg>
        <pc:spChg chg="mod">
          <ac:chgData name="AGOSTINO CESARANO" userId="f1514f06-2330-49e8-ade4-d671ff87257b" providerId="ADAL" clId="{0F387160-13C5-4311-9585-E20B5F99A4C6}" dt="2026-10-05T13:25:41.142" v="58" actId="20577"/>
          <ac:spMkLst>
            <pc:docMk/>
            <pc:sldMk cId="0" sldId="257"/>
            <ac:spMk id="7" creationId="{00000000-0000-0000-0000-000000000000}"/>
          </ac:spMkLst>
        </pc:spChg>
        <pc:spChg chg="mod">
          <ac:chgData name="AGOSTINO CESARANO" userId="f1514f06-2330-49e8-ade4-d671ff87257b" providerId="ADAL" clId="{0F387160-13C5-4311-9585-E20B5F99A4C6}" dt="2026-10-05T13:28:48.053" v="194" actId="20577"/>
          <ac:spMkLst>
            <pc:docMk/>
            <pc:sldMk cId="0" sldId="257"/>
            <ac:spMk id="10" creationId="{00000000-0000-0000-0000-000000000000}"/>
          </ac:spMkLst>
        </pc:spChg>
        <pc:spChg chg="mod">
          <ac:chgData name="AGOSTINO CESARANO" userId="f1514f06-2330-49e8-ade4-d671ff87257b" providerId="ADAL" clId="{0F387160-13C5-4311-9585-E20B5F99A4C6}" dt="2026-10-05T13:29:05.348" v="202" actId="20577"/>
          <ac:spMkLst>
            <pc:docMk/>
            <pc:sldMk cId="0" sldId="257"/>
            <ac:spMk id="15" creationId="{00000000-0000-0000-0000-000000000000}"/>
          </ac:spMkLst>
        </pc:spChg>
        <pc:spChg chg="mod">
          <ac:chgData name="AGOSTINO CESARANO" userId="f1514f06-2330-49e8-ade4-d671ff87257b" providerId="ADAL" clId="{0F387160-13C5-4311-9585-E20B5F99A4C6}" dt="2026-10-05T13:29:55.608" v="207" actId="20577"/>
          <ac:spMkLst>
            <pc:docMk/>
            <pc:sldMk cId="0" sldId="257"/>
            <ac:spMk id="18" creationId="{00000000-0000-0000-0000-000000000000}"/>
          </ac:spMkLst>
        </pc:spChg>
      </pc:sldChg>
      <pc:sldChg chg="modSp mod">
        <pc:chgData name="AGOSTINO CESARANO" userId="f1514f06-2330-49e8-ade4-d671ff87257b" providerId="ADAL" clId="{0F387160-13C5-4311-9585-E20B5F99A4C6}" dt="2026-10-05T13:35:38.605" v="229" actId="313"/>
        <pc:sldMkLst>
          <pc:docMk/>
          <pc:sldMk cId="0" sldId="258"/>
        </pc:sldMkLst>
        <pc:spChg chg="mod">
          <ac:chgData name="AGOSTINO CESARANO" userId="f1514f06-2330-49e8-ade4-d671ff87257b" providerId="ADAL" clId="{0F387160-13C5-4311-9585-E20B5F99A4C6}" dt="2026-10-05T13:33:37.784" v="218" actId="20577"/>
          <ac:spMkLst>
            <pc:docMk/>
            <pc:sldMk cId="0" sldId="258"/>
            <ac:spMk id="27" creationId="{00000000-0000-0000-0000-000000000000}"/>
          </ac:spMkLst>
        </pc:spChg>
        <pc:spChg chg="mod">
          <ac:chgData name="AGOSTINO CESARANO" userId="f1514f06-2330-49e8-ade4-d671ff87257b" providerId="ADAL" clId="{0F387160-13C5-4311-9585-E20B5F99A4C6}" dt="2026-10-05T13:35:38.605" v="229" actId="313"/>
          <ac:spMkLst>
            <pc:docMk/>
            <pc:sldMk cId="0" sldId="258"/>
            <ac:spMk id="42" creationId="{00000000-0000-0000-0000-000000000000}"/>
          </ac:spMkLst>
        </pc:spChg>
      </pc:sldChg>
      <pc:sldChg chg="modSp mod">
        <pc:chgData name="AGOSTINO CESARANO" userId="f1514f06-2330-49e8-ade4-d671ff87257b" providerId="ADAL" clId="{0F387160-13C5-4311-9585-E20B5F99A4C6}" dt="2026-10-05T13:42:47.116" v="235" actId="20577"/>
        <pc:sldMkLst>
          <pc:docMk/>
          <pc:sldMk cId="0" sldId="259"/>
        </pc:sldMkLst>
        <pc:spChg chg="mod">
          <ac:chgData name="AGOSTINO CESARANO" userId="f1514f06-2330-49e8-ade4-d671ff87257b" providerId="ADAL" clId="{0F387160-13C5-4311-9585-E20B5F99A4C6}" dt="2026-10-05T13:42:47.116" v="235" actId="20577"/>
          <ac:spMkLst>
            <pc:docMk/>
            <pc:sldMk cId="0" sldId="259"/>
            <ac:spMk id="9" creationId="{00000000-0000-0000-0000-000000000000}"/>
          </ac:spMkLst>
        </pc:spChg>
      </pc:sldChg>
      <pc:sldChg chg="modSp mod">
        <pc:chgData name="AGOSTINO CESARANO" userId="f1514f06-2330-49e8-ade4-d671ff87257b" providerId="ADAL" clId="{0F387160-13C5-4311-9585-E20B5F99A4C6}" dt="2026-10-05T13:48:41.467" v="330" actId="20577"/>
        <pc:sldMkLst>
          <pc:docMk/>
          <pc:sldMk cId="0" sldId="260"/>
        </pc:sldMkLst>
        <pc:spChg chg="mod">
          <ac:chgData name="AGOSTINO CESARANO" userId="f1514f06-2330-49e8-ade4-d671ff87257b" providerId="ADAL" clId="{0F387160-13C5-4311-9585-E20B5F99A4C6}" dt="2026-10-05T13:48:41.467" v="330" actId="20577"/>
          <ac:spMkLst>
            <pc:docMk/>
            <pc:sldMk cId="0" sldId="260"/>
            <ac:spMk id="11" creationId="{00000000-0000-0000-0000-000000000000}"/>
          </ac:spMkLst>
        </pc:spChg>
      </pc:sldChg>
      <pc:sldChg chg="modSp mod">
        <pc:chgData name="AGOSTINO CESARANO" userId="f1514f06-2330-49e8-ade4-d671ff87257b" providerId="ADAL" clId="{0F387160-13C5-4311-9585-E20B5F99A4C6}" dt="2026-10-05T13:55:21.887" v="435" actId="20577"/>
        <pc:sldMkLst>
          <pc:docMk/>
          <pc:sldMk cId="0" sldId="261"/>
        </pc:sldMkLst>
        <pc:spChg chg="mod">
          <ac:chgData name="AGOSTINO CESARANO" userId="f1514f06-2330-49e8-ade4-d671ff87257b" providerId="ADAL" clId="{0F387160-13C5-4311-9585-E20B5F99A4C6}" dt="2026-10-05T13:55:21.887" v="435" actId="20577"/>
          <ac:spMkLst>
            <pc:docMk/>
            <pc:sldMk cId="0" sldId="261"/>
            <ac:spMk id="7" creationId="{00000000-0000-0000-0000-000000000000}"/>
          </ac:spMkLst>
        </pc:spChg>
        <pc:spChg chg="mod">
          <ac:chgData name="AGOSTINO CESARANO" userId="f1514f06-2330-49e8-ade4-d671ff87257b" providerId="ADAL" clId="{0F387160-13C5-4311-9585-E20B5F99A4C6}" dt="2026-10-05T13:53:18.826" v="422" actId="20577"/>
          <ac:spMkLst>
            <pc:docMk/>
            <pc:sldMk cId="0" sldId="261"/>
            <ac:spMk id="14" creationId="{00000000-0000-0000-0000-000000000000}"/>
          </ac:spMkLst>
        </pc:spChg>
      </pc:sldChg>
      <pc:sldChg chg="modSp mod">
        <pc:chgData name="AGOSTINO CESARANO" userId="f1514f06-2330-49e8-ade4-d671ff87257b" providerId="ADAL" clId="{0F387160-13C5-4311-9585-E20B5F99A4C6}" dt="2026-10-05T14:02:09.590" v="479" actId="20577"/>
        <pc:sldMkLst>
          <pc:docMk/>
          <pc:sldMk cId="0" sldId="262"/>
        </pc:sldMkLst>
        <pc:spChg chg="mod">
          <ac:chgData name="AGOSTINO CESARANO" userId="f1514f06-2330-49e8-ade4-d671ff87257b" providerId="ADAL" clId="{0F387160-13C5-4311-9585-E20B5F99A4C6}" dt="2026-10-05T14:01:58.887" v="466" actId="20577"/>
          <ac:spMkLst>
            <pc:docMk/>
            <pc:sldMk cId="0" sldId="262"/>
            <ac:spMk id="27" creationId="{00000000-0000-0000-0000-000000000000}"/>
          </ac:spMkLst>
        </pc:spChg>
        <pc:spChg chg="mod">
          <ac:chgData name="AGOSTINO CESARANO" userId="f1514f06-2330-49e8-ade4-d671ff87257b" providerId="ADAL" clId="{0F387160-13C5-4311-9585-E20B5F99A4C6}" dt="2026-10-05T14:01:41.293" v="462" actId="20577"/>
          <ac:spMkLst>
            <pc:docMk/>
            <pc:sldMk cId="0" sldId="262"/>
            <ac:spMk id="28" creationId="{00000000-0000-0000-0000-000000000000}"/>
          </ac:spMkLst>
        </pc:spChg>
        <pc:spChg chg="mod">
          <ac:chgData name="AGOSTINO CESARANO" userId="f1514f06-2330-49e8-ade4-d671ff87257b" providerId="ADAL" clId="{0F387160-13C5-4311-9585-E20B5F99A4C6}" dt="2026-10-05T14:02:09.590" v="479" actId="20577"/>
          <ac:spMkLst>
            <pc:docMk/>
            <pc:sldMk cId="0" sldId="262"/>
            <ac:spMk id="29" creationId="{00000000-0000-0000-0000-000000000000}"/>
          </ac:spMkLst>
        </pc:spChg>
      </pc:sldChg>
      <pc:sldChg chg="addSp delSp modSp mod">
        <pc:chgData name="AGOSTINO CESARANO" userId="f1514f06-2330-49e8-ade4-d671ff87257b" providerId="ADAL" clId="{0F387160-13C5-4311-9585-E20B5F99A4C6}" dt="2026-10-05T15:10:41.061" v="835" actId="20577"/>
        <pc:sldMkLst>
          <pc:docMk/>
          <pc:sldMk cId="0" sldId="263"/>
        </pc:sldMkLst>
        <pc:spChg chg="mod">
          <ac:chgData name="AGOSTINO CESARANO" userId="f1514f06-2330-49e8-ade4-d671ff87257b" providerId="ADAL" clId="{0F387160-13C5-4311-9585-E20B5F99A4C6}" dt="2026-10-05T14:03:51.603" v="522" actId="1036"/>
          <ac:spMkLst>
            <pc:docMk/>
            <pc:sldMk cId="0" sldId="263"/>
            <ac:spMk id="7" creationId="{00000000-0000-0000-0000-000000000000}"/>
          </ac:spMkLst>
        </pc:spChg>
        <pc:spChg chg="mod">
          <ac:chgData name="AGOSTINO CESARANO" userId="f1514f06-2330-49e8-ade4-d671ff87257b" providerId="ADAL" clId="{0F387160-13C5-4311-9585-E20B5F99A4C6}" dt="2026-10-05T14:07:00.146" v="537" actId="20577"/>
          <ac:spMkLst>
            <pc:docMk/>
            <pc:sldMk cId="0" sldId="263"/>
            <ac:spMk id="8" creationId="{00000000-0000-0000-0000-000000000000}"/>
          </ac:spMkLst>
        </pc:spChg>
        <pc:spChg chg="mod">
          <ac:chgData name="AGOSTINO CESARANO" userId="f1514f06-2330-49e8-ade4-d671ff87257b" providerId="ADAL" clId="{0F387160-13C5-4311-9585-E20B5F99A4C6}" dt="2026-10-05T14:03:51.603" v="522" actId="1036"/>
          <ac:spMkLst>
            <pc:docMk/>
            <pc:sldMk cId="0" sldId="263"/>
            <ac:spMk id="9" creationId="{00000000-0000-0000-0000-000000000000}"/>
          </ac:spMkLst>
        </pc:spChg>
        <pc:spChg chg="mod">
          <ac:chgData name="AGOSTINO CESARANO" userId="f1514f06-2330-49e8-ade4-d671ff87257b" providerId="ADAL" clId="{0F387160-13C5-4311-9585-E20B5F99A4C6}" dt="2026-10-05T14:03:51.603" v="522" actId="1036"/>
          <ac:spMkLst>
            <pc:docMk/>
            <pc:sldMk cId="0" sldId="263"/>
            <ac:spMk id="11" creationId="{00000000-0000-0000-0000-000000000000}"/>
          </ac:spMkLst>
        </pc:spChg>
        <pc:spChg chg="mod">
          <ac:chgData name="AGOSTINO CESARANO" userId="f1514f06-2330-49e8-ade4-d671ff87257b" providerId="ADAL" clId="{0F387160-13C5-4311-9585-E20B5F99A4C6}" dt="2026-10-05T14:07:09.231" v="553" actId="20577"/>
          <ac:spMkLst>
            <pc:docMk/>
            <pc:sldMk cId="0" sldId="263"/>
            <ac:spMk id="12" creationId="{00000000-0000-0000-0000-000000000000}"/>
          </ac:spMkLst>
        </pc:spChg>
        <pc:spChg chg="mod">
          <ac:chgData name="AGOSTINO CESARANO" userId="f1514f06-2330-49e8-ade4-d671ff87257b" providerId="ADAL" clId="{0F387160-13C5-4311-9585-E20B5F99A4C6}" dt="2026-10-05T14:03:51.603" v="522" actId="1036"/>
          <ac:spMkLst>
            <pc:docMk/>
            <pc:sldMk cId="0" sldId="263"/>
            <ac:spMk id="13" creationId="{00000000-0000-0000-0000-000000000000}"/>
          </ac:spMkLst>
        </pc:spChg>
        <pc:spChg chg="mod">
          <ac:chgData name="AGOSTINO CESARANO" userId="f1514f06-2330-49e8-ade4-d671ff87257b" providerId="ADAL" clId="{0F387160-13C5-4311-9585-E20B5F99A4C6}" dt="2026-10-05T14:23:25.127" v="718" actId="1035"/>
          <ac:spMkLst>
            <pc:docMk/>
            <pc:sldMk cId="0" sldId="263"/>
            <ac:spMk id="15" creationId="{00000000-0000-0000-0000-000000000000}"/>
          </ac:spMkLst>
        </pc:spChg>
        <pc:spChg chg="mod">
          <ac:chgData name="AGOSTINO CESARANO" userId="f1514f06-2330-49e8-ade4-d671ff87257b" providerId="ADAL" clId="{0F387160-13C5-4311-9585-E20B5F99A4C6}" dt="2026-10-05T14:23:25.127" v="718" actId="1035"/>
          <ac:spMkLst>
            <pc:docMk/>
            <pc:sldMk cId="0" sldId="263"/>
            <ac:spMk id="16" creationId="{00000000-0000-0000-0000-000000000000}"/>
          </ac:spMkLst>
        </pc:spChg>
        <pc:spChg chg="mod">
          <ac:chgData name="AGOSTINO CESARANO" userId="f1514f06-2330-49e8-ade4-d671ff87257b" providerId="ADAL" clId="{0F387160-13C5-4311-9585-E20B5F99A4C6}" dt="2026-10-05T14:23:25.127" v="718" actId="1035"/>
          <ac:spMkLst>
            <pc:docMk/>
            <pc:sldMk cId="0" sldId="263"/>
            <ac:spMk id="17" creationId="{00000000-0000-0000-0000-000000000000}"/>
          </ac:spMkLst>
        </pc:spChg>
        <pc:spChg chg="mod">
          <ac:chgData name="AGOSTINO CESARANO" userId="f1514f06-2330-49e8-ade4-d671ff87257b" providerId="ADAL" clId="{0F387160-13C5-4311-9585-E20B5F99A4C6}" dt="2026-10-05T14:23:25.127" v="718" actId="1035"/>
          <ac:spMkLst>
            <pc:docMk/>
            <pc:sldMk cId="0" sldId="263"/>
            <ac:spMk id="18" creationId="{00000000-0000-0000-0000-000000000000}"/>
          </ac:spMkLst>
        </pc:spChg>
        <pc:spChg chg="mod">
          <ac:chgData name="AGOSTINO CESARANO" userId="f1514f06-2330-49e8-ade4-d671ff87257b" providerId="ADAL" clId="{0F387160-13C5-4311-9585-E20B5F99A4C6}" dt="2026-10-05T14:23:25.127" v="718" actId="1035"/>
          <ac:spMkLst>
            <pc:docMk/>
            <pc:sldMk cId="0" sldId="263"/>
            <ac:spMk id="19" creationId="{00000000-0000-0000-0000-000000000000}"/>
          </ac:spMkLst>
        </pc:spChg>
        <pc:spChg chg="mod">
          <ac:chgData name="AGOSTINO CESARANO" userId="f1514f06-2330-49e8-ade4-d671ff87257b" providerId="ADAL" clId="{0F387160-13C5-4311-9585-E20B5F99A4C6}" dt="2026-10-05T14:23:25.127" v="718" actId="1035"/>
          <ac:spMkLst>
            <pc:docMk/>
            <pc:sldMk cId="0" sldId="263"/>
            <ac:spMk id="20" creationId="{00000000-0000-0000-0000-000000000000}"/>
          </ac:spMkLst>
        </pc:spChg>
        <pc:spChg chg="mod">
          <ac:chgData name="AGOSTINO CESARANO" userId="f1514f06-2330-49e8-ade4-d671ff87257b" providerId="ADAL" clId="{0F387160-13C5-4311-9585-E20B5F99A4C6}" dt="2026-10-05T14:23:25.127" v="718" actId="1035"/>
          <ac:spMkLst>
            <pc:docMk/>
            <pc:sldMk cId="0" sldId="263"/>
            <ac:spMk id="21" creationId="{00000000-0000-0000-0000-000000000000}"/>
          </ac:spMkLst>
        </pc:spChg>
        <pc:spChg chg="mod">
          <ac:chgData name="AGOSTINO CESARANO" userId="f1514f06-2330-49e8-ade4-d671ff87257b" providerId="ADAL" clId="{0F387160-13C5-4311-9585-E20B5F99A4C6}" dt="2026-10-05T15:10:41.061" v="835" actId="20577"/>
          <ac:spMkLst>
            <pc:docMk/>
            <pc:sldMk cId="0" sldId="263"/>
            <ac:spMk id="22" creationId="{00000000-0000-0000-0000-000000000000}"/>
          </ac:spMkLst>
        </pc:spChg>
      </pc:sldChg>
      <pc:sldChg chg="modSp add del mod setBg">
        <pc:chgData name="AGOSTINO CESARANO" userId="f1514f06-2330-49e8-ade4-d671ff87257b" providerId="ADAL" clId="{0F387160-13C5-4311-9585-E20B5F99A4C6}" dt="2026-10-06T06:38:06.979" v="1154" actId="1035"/>
        <pc:sldMkLst>
          <pc:docMk/>
          <pc:sldMk cId="0" sldId="264"/>
        </pc:sldMkLst>
        <pc:spChg chg="mod">
          <ac:chgData name="AGOSTINO CESARANO" userId="f1514f06-2330-49e8-ade4-d671ff87257b" providerId="ADAL" clId="{0F387160-13C5-4311-9585-E20B5F99A4C6}" dt="2026-10-05T14:23:08.260" v="680" actId="20577"/>
          <ac:spMkLst>
            <pc:docMk/>
            <pc:sldMk cId="0" sldId="264"/>
            <ac:spMk id="7" creationId="{00000000-0000-0000-0000-000000000000}"/>
          </ac:spMkLst>
        </pc:spChg>
        <pc:spChg chg="mod">
          <ac:chgData name="AGOSTINO CESARANO" userId="f1514f06-2330-49e8-ade4-d671ff87257b" providerId="ADAL" clId="{0F387160-13C5-4311-9585-E20B5F99A4C6}" dt="2026-10-05T15:38:47.953" v="1078" actId="1076"/>
          <ac:spMkLst>
            <pc:docMk/>
            <pc:sldMk cId="0" sldId="264"/>
            <ac:spMk id="9" creationId="{00000000-0000-0000-0000-000000000000}"/>
          </ac:spMkLst>
        </pc:spChg>
        <pc:spChg chg="mod">
          <ac:chgData name="AGOSTINO CESARANO" userId="f1514f06-2330-49e8-ade4-d671ff87257b" providerId="ADAL" clId="{0F387160-13C5-4311-9585-E20B5F99A4C6}" dt="2026-10-06T06:23:38.601" v="1089" actId="1076"/>
          <ac:spMkLst>
            <pc:docMk/>
            <pc:sldMk cId="0" sldId="264"/>
            <ac:spMk id="10" creationId="{00000000-0000-0000-0000-000000000000}"/>
          </ac:spMkLst>
        </pc:spChg>
        <pc:spChg chg="mod">
          <ac:chgData name="AGOSTINO CESARANO" userId="f1514f06-2330-49e8-ade4-d671ff87257b" providerId="ADAL" clId="{0F387160-13C5-4311-9585-E20B5F99A4C6}" dt="2026-10-06T06:37:54.692" v="1146" actId="1035"/>
          <ac:spMkLst>
            <pc:docMk/>
            <pc:sldMk cId="0" sldId="264"/>
            <ac:spMk id="12" creationId="{00000000-0000-0000-0000-000000000000}"/>
          </ac:spMkLst>
        </pc:spChg>
        <pc:spChg chg="mod">
          <ac:chgData name="AGOSTINO CESARANO" userId="f1514f06-2330-49e8-ade4-d671ff87257b" providerId="ADAL" clId="{0F387160-13C5-4311-9585-E20B5F99A4C6}" dt="2026-10-06T06:37:58.858" v="1152" actId="1035"/>
          <ac:spMkLst>
            <pc:docMk/>
            <pc:sldMk cId="0" sldId="264"/>
            <ac:spMk id="13" creationId="{00000000-0000-0000-0000-000000000000}"/>
          </ac:spMkLst>
        </pc:spChg>
        <pc:spChg chg="mod">
          <ac:chgData name="AGOSTINO CESARANO" userId="f1514f06-2330-49e8-ade4-d671ff87257b" providerId="ADAL" clId="{0F387160-13C5-4311-9585-E20B5F99A4C6}" dt="2026-10-06T06:38:06.979" v="1154" actId="1035"/>
          <ac:spMkLst>
            <pc:docMk/>
            <pc:sldMk cId="0" sldId="264"/>
            <ac:spMk id="14" creationId="{00000000-0000-0000-0000-000000000000}"/>
          </ac:spMkLst>
        </pc:spChg>
        <pc:graphicFrameChg chg="mod">
          <ac:chgData name="AGOSTINO CESARANO" userId="f1514f06-2330-49e8-ade4-d671ff87257b" providerId="ADAL" clId="{0F387160-13C5-4311-9585-E20B5F99A4C6}" dt="2026-10-06T06:37:37.107" v="1138" actId="1036"/>
          <ac:graphicFrameMkLst>
            <pc:docMk/>
            <pc:sldMk cId="0" sldId="264"/>
            <ac:graphicFrameMk id="11" creationId="{00000000-0000-0000-0000-000000000000}"/>
          </ac:graphicFrameMkLst>
        </pc:graphicFrameChg>
      </pc:sldChg>
      <pc:sldChg chg="modSp mod">
        <pc:chgData name="AGOSTINO CESARANO" userId="f1514f06-2330-49e8-ade4-d671ff87257b" providerId="ADAL" clId="{0F387160-13C5-4311-9585-E20B5F99A4C6}" dt="2026-10-06T06:42:02.874" v="1266" actId="20577"/>
        <pc:sldMkLst>
          <pc:docMk/>
          <pc:sldMk cId="0" sldId="265"/>
        </pc:sldMkLst>
        <pc:spChg chg="mod">
          <ac:chgData name="AGOSTINO CESARANO" userId="f1514f06-2330-49e8-ade4-d671ff87257b" providerId="ADAL" clId="{0F387160-13C5-4311-9585-E20B5F99A4C6}" dt="2026-10-06T06:42:02.874" v="1266" actId="20577"/>
          <ac:spMkLst>
            <pc:docMk/>
            <pc:sldMk cId="0" sldId="265"/>
            <ac:spMk id="3" creationId="{00000000-0000-0000-0000-000000000000}"/>
          </ac:spMkLst>
        </pc:spChg>
        <pc:spChg chg="mod">
          <ac:chgData name="AGOSTINO CESARANO" userId="f1514f06-2330-49e8-ade4-d671ff87257b" providerId="ADAL" clId="{0F387160-13C5-4311-9585-E20B5F99A4C6}" dt="2026-10-05T15:28:58.159" v="940" actId="20577"/>
          <ac:spMkLst>
            <pc:docMk/>
            <pc:sldMk cId="0" sldId="265"/>
            <ac:spMk id="6" creationId="{00000000-0000-0000-0000-000000000000}"/>
          </ac:spMkLst>
        </pc:spChg>
        <pc:spChg chg="mod">
          <ac:chgData name="AGOSTINO CESARANO" userId="f1514f06-2330-49e8-ade4-d671ff87257b" providerId="ADAL" clId="{0F387160-13C5-4311-9585-E20B5F99A4C6}" dt="2026-10-05T15:30:34.981" v="1066" actId="20577"/>
          <ac:spMkLst>
            <pc:docMk/>
            <pc:sldMk cId="0" sldId="265"/>
            <ac:spMk id="7" creationId="{00000000-0000-0000-0000-000000000000}"/>
          </ac:spMkLst>
        </pc:spChg>
        <pc:spChg chg="mod">
          <ac:chgData name="AGOSTINO CESARANO" userId="f1514f06-2330-49e8-ade4-d671ff87257b" providerId="ADAL" clId="{0F387160-13C5-4311-9585-E20B5F99A4C6}" dt="2026-10-05T14:49:37.449" v="781" actId="20577"/>
          <ac:spMkLst>
            <pc:docMk/>
            <pc:sldMk cId="0" sldId="265"/>
            <ac:spMk id="13" creationId="{00000000-0000-0000-0000-000000000000}"/>
          </ac:spMkLst>
        </pc:spChg>
        <pc:graphicFrameChg chg="mod">
          <ac:chgData name="AGOSTINO CESARANO" userId="f1514f06-2330-49e8-ade4-d671ff87257b" providerId="ADAL" clId="{0F387160-13C5-4311-9585-E20B5F99A4C6}" dt="2026-10-05T15:30:49.387" v="1069" actId="1036"/>
          <ac:graphicFrameMkLst>
            <pc:docMk/>
            <pc:sldMk cId="0" sldId="265"/>
            <ac:graphicFrameMk id="8" creationId="{00000000-0000-0000-0000-000000000000}"/>
          </ac:graphicFrameMkLst>
        </pc:graphicFrameChg>
      </pc:sldChg>
      <pc:sldChg chg="modSp mod">
        <pc:chgData name="AGOSTINO CESARANO" userId="f1514f06-2330-49e8-ade4-d671ff87257b" providerId="ADAL" clId="{0F387160-13C5-4311-9585-E20B5F99A4C6}" dt="2026-10-08T07:52:08.092" v="1369" actId="20577"/>
        <pc:sldMkLst>
          <pc:docMk/>
          <pc:sldMk cId="0" sldId="269"/>
        </pc:sldMkLst>
        <pc:spChg chg="mod">
          <ac:chgData name="AGOSTINO CESARANO" userId="f1514f06-2330-49e8-ade4-d671ff87257b" providerId="ADAL" clId="{0F387160-13C5-4311-9585-E20B5F99A4C6}" dt="2026-10-06T16:41:12.177" v="1337" actId="1035"/>
          <ac:spMkLst>
            <pc:docMk/>
            <pc:sldMk cId="0" sldId="269"/>
            <ac:spMk id="7" creationId="{00000000-0000-0000-0000-000000000000}"/>
          </ac:spMkLst>
        </pc:spChg>
        <pc:spChg chg="mod">
          <ac:chgData name="AGOSTINO CESARANO" userId="f1514f06-2330-49e8-ade4-d671ff87257b" providerId="ADAL" clId="{0F387160-13C5-4311-9585-E20B5F99A4C6}" dt="2026-10-06T16:40:34.090" v="1327" actId="14100"/>
          <ac:spMkLst>
            <pc:docMk/>
            <pc:sldMk cId="0" sldId="269"/>
            <ac:spMk id="9" creationId="{00000000-0000-0000-0000-000000000000}"/>
          </ac:spMkLst>
        </pc:spChg>
        <pc:spChg chg="mod">
          <ac:chgData name="AGOSTINO CESARANO" userId="f1514f06-2330-49e8-ade4-d671ff87257b" providerId="ADAL" clId="{0F387160-13C5-4311-9585-E20B5F99A4C6}" dt="2026-10-06T16:41:18.516" v="1342" actId="1035"/>
          <ac:spMkLst>
            <pc:docMk/>
            <pc:sldMk cId="0" sldId="269"/>
            <ac:spMk id="17" creationId="{00000000-0000-0000-0000-000000000000}"/>
          </ac:spMkLst>
        </pc:spChg>
        <pc:spChg chg="mod">
          <ac:chgData name="AGOSTINO CESARANO" userId="f1514f06-2330-49e8-ade4-d671ff87257b" providerId="ADAL" clId="{0F387160-13C5-4311-9585-E20B5F99A4C6}" dt="2026-10-06T16:40:49.064" v="1328" actId="14100"/>
          <ac:spMkLst>
            <pc:docMk/>
            <pc:sldMk cId="0" sldId="269"/>
            <ac:spMk id="19" creationId="{00000000-0000-0000-0000-000000000000}"/>
          </ac:spMkLst>
        </pc:spChg>
        <pc:spChg chg="mod">
          <ac:chgData name="AGOSTINO CESARANO" userId="f1514f06-2330-49e8-ade4-d671ff87257b" providerId="ADAL" clId="{0F387160-13C5-4311-9585-E20B5F99A4C6}" dt="2026-10-06T16:41:25.276" v="1346" actId="1035"/>
          <ac:spMkLst>
            <pc:docMk/>
            <pc:sldMk cId="0" sldId="269"/>
            <ac:spMk id="25" creationId="{00000000-0000-0000-0000-000000000000}"/>
          </ac:spMkLst>
        </pc:spChg>
        <pc:spChg chg="mod">
          <ac:chgData name="AGOSTINO CESARANO" userId="f1514f06-2330-49e8-ade4-d671ff87257b" providerId="ADAL" clId="{0F387160-13C5-4311-9585-E20B5F99A4C6}" dt="2026-10-08T07:52:08.092" v="1369" actId="20577"/>
          <ac:spMkLst>
            <pc:docMk/>
            <pc:sldMk cId="0" sldId="269"/>
            <ac:spMk id="28" creationId="{00000000-0000-0000-0000-000000000000}"/>
          </ac:spMkLst>
        </pc:spChg>
        <pc:spChg chg="mod">
          <ac:chgData name="AGOSTINO CESARANO" userId="f1514f06-2330-49e8-ade4-d671ff87257b" providerId="ADAL" clId="{0F387160-13C5-4311-9585-E20B5F99A4C6}" dt="2026-10-06T16:41:30.557" v="1352" actId="1035"/>
          <ac:spMkLst>
            <pc:docMk/>
            <pc:sldMk cId="0" sldId="269"/>
            <ac:spMk id="46" creationId="{00000000-0000-0000-0000-000000000000}"/>
          </ac:spMkLst>
        </pc:spChg>
      </pc:sldChg>
      <pc:sldChg chg="modSp mod">
        <pc:chgData name="AGOSTINO CESARANO" userId="f1514f06-2330-49e8-ade4-d671ff87257b" providerId="ADAL" clId="{0F387160-13C5-4311-9585-E20B5F99A4C6}" dt="2026-10-06T06:49:21.059" v="1313" actId="20577"/>
        <pc:sldMkLst>
          <pc:docMk/>
          <pc:sldMk cId="0" sldId="270"/>
        </pc:sldMkLst>
        <pc:spChg chg="mod">
          <ac:chgData name="AGOSTINO CESARANO" userId="f1514f06-2330-49e8-ade4-d671ff87257b" providerId="ADAL" clId="{0F387160-13C5-4311-9585-E20B5F99A4C6}" dt="2026-10-06T06:49:21.059" v="1313" actId="20577"/>
          <ac:spMkLst>
            <pc:docMk/>
            <pc:sldMk cId="0" sldId="270"/>
            <ac:spMk id="13" creationId="{00000000-0000-0000-0000-000000000000}"/>
          </ac:spMkLst>
        </pc:spChg>
      </pc:sldChg>
      <pc:sldChg chg="modSp add mod setBg">
        <pc:chgData name="AGOSTINO CESARANO" userId="f1514f06-2330-49e8-ade4-d671ff87257b" providerId="ADAL" clId="{0F387160-13C5-4311-9585-E20B5F99A4C6}" dt="2026-10-06T13:39:34.633" v="1325" actId="20577"/>
        <pc:sldMkLst>
          <pc:docMk/>
          <pc:sldMk cId="0" sldId="274"/>
        </pc:sldMkLst>
        <pc:graphicFrameChg chg="modGraphic">
          <ac:chgData name="AGOSTINO CESARANO" userId="f1514f06-2330-49e8-ade4-d671ff87257b" providerId="ADAL" clId="{0F387160-13C5-4311-9585-E20B5F99A4C6}" dt="2026-10-06T13:39:34.633" v="1325" actId="20577"/>
          <ac:graphicFrameMkLst>
            <pc:docMk/>
            <pc:sldMk cId="0" sldId="274"/>
            <ac:graphicFrameMk id="13"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850" b="0" i="0" u="none" strike="noStrike">
                <a:solidFill>
                  <a:srgbClr val="0F2744"/>
                </a:solidFill>
                <a:latin typeface="Arial"/>
              </a:defRPr>
            </a:pPr>
            <a:r>
              <a:rPr lang="it-IT" sz="850" b="0" i="0" u="none" strike="noStrike">
                <a:solidFill>
                  <a:srgbClr val="0F2744"/>
                </a:solidFill>
                <a:latin typeface="Arial"/>
              </a:rPr>
              <a:t>MedAE su China per Variante di Output (ore)</a:t>
            </a:r>
          </a:p>
        </c:rich>
      </c:tx>
      <c:overlay val="0"/>
    </c:title>
    <c:autoTitleDeleted val="0"/>
    <c:plotArea>
      <c:layout/>
      <c:barChart>
        <c:barDir val="col"/>
        <c:grouping val="clustered"/>
        <c:varyColors val="0"/>
        <c:ser>
          <c:idx val="0"/>
          <c:order val="0"/>
          <c:tx>
            <c:strRef>
              <c:f>Sheet1!$B$1</c:f>
              <c:strCache>
                <c:ptCount val="1"/>
                <c:pt idx="0">
                  <c:v>MedAE (ore)</c:v>
                </c:pt>
              </c:strCache>
            </c:strRef>
          </c:tx>
          <c:spPr>
            <a:solidFill>
              <a:srgbClr val="2563EB"/>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ReLU (Paper)</c:v>
                </c:pt>
                <c:pt idx="1">
                  <c:v>Softplus</c:v>
                </c:pt>
                <c:pt idx="2">
                  <c:v>Linear+Clip</c:v>
                </c:pt>
                <c:pt idx="3">
                  <c:v>LeakyReLU</c:v>
                </c:pt>
                <c:pt idx="4">
                  <c:v>ELU</c:v>
                </c:pt>
              </c:strCache>
            </c:strRef>
          </c:cat>
          <c:val>
            <c:numRef>
              <c:f>Sheet1!$B$2:$B$6</c:f>
              <c:numCache>
                <c:formatCode>General</c:formatCode>
                <c:ptCount val="5"/>
                <c:pt idx="0">
                  <c:v>571.67999999999995</c:v>
                </c:pt>
                <c:pt idx="1">
                  <c:v>1165.05</c:v>
                </c:pt>
                <c:pt idx="2">
                  <c:v>547.63</c:v>
                </c:pt>
                <c:pt idx="3">
                  <c:v>587.54999999999995</c:v>
                </c:pt>
                <c:pt idx="4">
                  <c:v>1086.1099999999999</c:v>
                </c:pt>
              </c:numCache>
            </c:numRef>
          </c:val>
          <c:extLst>
            <c:ext xmlns:c16="http://schemas.microsoft.com/office/drawing/2014/chart" uri="{C3380CC4-5D6E-409C-BE32-E72D297353CC}">
              <c16:uniqueId val="{00000000-1EA6-47C3-9E79-6CF3DAA7AD3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baseline="0">
                <a:solidFill>
                  <a:srgbClr val="0F27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title>
      <c:tx>
        <c:rich>
          <a:bodyPr/>
          <a:lstStyle/>
          <a:p>
            <a:pPr>
              <a:defRPr sz="950" b="0" i="0" u="none" strike="noStrike">
                <a:solidFill>
                  <a:srgbClr val="0F2744"/>
                </a:solidFill>
                <a:latin typeface="Arial"/>
              </a:defRPr>
            </a:pPr>
            <a:r>
              <a:rPr lang="it-IT" sz="950" b="0" i="0" u="none" strike="noStrike">
                <a:solidFill>
                  <a:srgbClr val="0F2744"/>
                </a:solidFill>
                <a:latin typeface="Arial"/>
              </a:rPr>
              <a:t>Confronto MAE vs MedAE: La Distorsione da Outlier</a:t>
            </a:r>
          </a:p>
        </c:rich>
      </c:tx>
      <c:overlay val="0"/>
    </c:title>
    <c:autoTitleDeleted val="0"/>
    <c:plotArea>
      <c:layout/>
      <c:barChart>
        <c:barDir val="col"/>
        <c:grouping val="clustered"/>
        <c:varyColors val="0"/>
        <c:ser>
          <c:idx val="0"/>
          <c:order val="0"/>
          <c:tx>
            <c:strRef>
              <c:f>Sheet1!$B$1</c:f>
              <c:strCache>
                <c:ptCount val="1"/>
                <c:pt idx="0">
                  <c:v>MAE (Media distorta da outlier)</c:v>
                </c:pt>
              </c:strCache>
            </c:strRef>
          </c:tx>
          <c:spPr>
            <a:solidFill>
              <a:srgbClr val="D97706"/>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China (ore)</c:v>
                </c:pt>
                <c:pt idx="1">
                  <c:v>COCOMO-81 (mesi)</c:v>
                </c:pt>
                <c:pt idx="2">
                  <c:v>Maxwell (ore)</c:v>
                </c:pt>
              </c:strCache>
            </c:strRef>
          </c:cat>
          <c:val>
            <c:numRef>
              <c:f>Sheet1!$B$2:$B$4</c:f>
              <c:numCache>
                <c:formatCode>General</c:formatCode>
                <c:ptCount val="3"/>
                <c:pt idx="0">
                  <c:v>817.22</c:v>
                </c:pt>
                <c:pt idx="1">
                  <c:v>588.66999999999996</c:v>
                </c:pt>
                <c:pt idx="2">
                  <c:v>3823.85</c:v>
                </c:pt>
              </c:numCache>
            </c:numRef>
          </c:val>
          <c:extLst>
            <c:ext xmlns:c16="http://schemas.microsoft.com/office/drawing/2014/chart" uri="{C3380CC4-5D6E-409C-BE32-E72D297353CC}">
              <c16:uniqueId val="{00000000-303A-490F-91F1-82326E75D3E5}"/>
            </c:ext>
          </c:extLst>
        </c:ser>
        <c:ser>
          <c:idx val="1"/>
          <c:order val="1"/>
          <c:tx>
            <c:strRef>
              <c:f>Sheet1!$C$1</c:f>
              <c:strCache>
                <c:ptCount val="1"/>
                <c:pt idx="0">
                  <c:v>MedAE (Mediana robusta reale)</c:v>
                </c:pt>
              </c:strCache>
            </c:strRef>
          </c:tx>
          <c:spPr>
            <a:solidFill>
              <a:srgbClr val="2563EB"/>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China (ore)</c:v>
                </c:pt>
                <c:pt idx="1">
                  <c:v>COCOMO-81 (mesi)</c:v>
                </c:pt>
                <c:pt idx="2">
                  <c:v>Maxwell (ore)</c:v>
                </c:pt>
              </c:strCache>
            </c:strRef>
          </c:cat>
          <c:val>
            <c:numRef>
              <c:f>Sheet1!$C$2:$C$4</c:f>
              <c:numCache>
                <c:formatCode>General</c:formatCode>
                <c:ptCount val="3"/>
                <c:pt idx="0">
                  <c:v>117.09</c:v>
                </c:pt>
                <c:pt idx="1">
                  <c:v>78.790000000000006</c:v>
                </c:pt>
                <c:pt idx="2">
                  <c:v>2183.86</c:v>
                </c:pt>
              </c:numCache>
            </c:numRef>
          </c:val>
          <c:extLst>
            <c:ext xmlns:c16="http://schemas.microsoft.com/office/drawing/2014/chart" uri="{C3380CC4-5D6E-409C-BE32-E72D297353CC}">
              <c16:uniqueId val="{00000001-303A-490F-91F1-82326E75D3E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baseline="0">
                <a:solidFill>
                  <a:srgbClr val="0F27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4918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Buongiorno professori. Oggi vi presentiamo il lavoro svolto per il progetto di Software Project Management and Evolution. Il nostro percorso è nato da una domanda concreta: come possiamo fornire a un project manager uno strumento affidabile per stimare lo sforzo di sviluppo partendo dai requisiti funzionali? Oggi vi racconteremo questo viaggio dall'idea iniziale, ai primi test falliti, alla scoperta e riparazione del modello Fuzzy-DCNN con un'approfondita gestione dei cluster, fino alla realizzazione del prototipo web.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 </a:t>
            </a:r>
            <a:r>
              <a:rPr lang="en-US" dirty="0" err="1"/>
              <a:t>genesi</a:t>
            </a:r>
            <a:r>
              <a:rPr lang="en-US" dirty="0"/>
              <a:t> del </a:t>
            </a:r>
            <a:r>
              <a:rPr lang="en-US" dirty="0" err="1"/>
              <a:t>progetto</a:t>
            </a:r>
            <a:r>
              <a:rPr lang="en-US" dirty="0"/>
              <a:t> è </a:t>
            </a:r>
            <a:r>
              <a:rPr lang="en-US" dirty="0" err="1"/>
              <a:t>stata</a:t>
            </a:r>
            <a:r>
              <a:rPr lang="en-US" dirty="0"/>
              <a:t> </a:t>
            </a:r>
            <a:r>
              <a:rPr lang="en-US" dirty="0" err="1"/>
              <a:t>guidata</a:t>
            </a:r>
            <a:r>
              <a:rPr lang="en-US" dirty="0"/>
              <a:t> da </a:t>
            </a:r>
            <a:r>
              <a:rPr lang="en-US" dirty="0" err="1"/>
              <a:t>una</a:t>
            </a:r>
            <a:r>
              <a:rPr lang="en-US" dirty="0"/>
              <a:t> </a:t>
            </a:r>
            <a:r>
              <a:rPr lang="en-US" dirty="0" err="1"/>
              <a:t>necessità</a:t>
            </a:r>
            <a:r>
              <a:rPr lang="en-US" dirty="0"/>
              <a:t> </a:t>
            </a:r>
            <a:r>
              <a:rPr lang="en-US" dirty="0" err="1"/>
              <a:t>pragmatica</a:t>
            </a:r>
            <a:r>
              <a:rPr lang="en-US" dirty="0"/>
              <a:t>: dare a chi </a:t>
            </a:r>
            <a:r>
              <a:rPr lang="en-US" dirty="0" err="1"/>
              <a:t>gestisce</a:t>
            </a:r>
            <a:r>
              <a:rPr lang="en-US" dirty="0"/>
              <a:t> </a:t>
            </a:r>
            <a:r>
              <a:rPr lang="en-US" dirty="0" err="1"/>
              <a:t>progetti</a:t>
            </a:r>
            <a:r>
              <a:rPr lang="en-US" dirty="0"/>
              <a:t> software uno </a:t>
            </a:r>
            <a:r>
              <a:rPr lang="en-US" dirty="0" err="1"/>
              <a:t>strumento</a:t>
            </a:r>
            <a:r>
              <a:rPr lang="en-US" dirty="0"/>
              <a:t> </a:t>
            </a:r>
            <a:r>
              <a:rPr lang="en-US" dirty="0" err="1"/>
              <a:t>capace</a:t>
            </a:r>
            <a:r>
              <a:rPr lang="en-US" dirty="0"/>
              <a:t> di </a:t>
            </a:r>
            <a:r>
              <a:rPr lang="en-US" dirty="0" err="1"/>
              <a:t>calcolare</a:t>
            </a:r>
            <a:r>
              <a:rPr lang="en-US" dirty="0"/>
              <a:t> effort e </a:t>
            </a:r>
            <a:r>
              <a:rPr lang="en-US" dirty="0" err="1"/>
              <a:t>costi</a:t>
            </a:r>
            <a:r>
              <a:rPr lang="en-US" dirty="0"/>
              <a:t> prima di </a:t>
            </a:r>
            <a:r>
              <a:rPr lang="en-US" dirty="0" err="1"/>
              <a:t>scrivere</a:t>
            </a:r>
            <a:r>
              <a:rPr lang="en-US" dirty="0"/>
              <a:t> il </a:t>
            </a:r>
            <a:r>
              <a:rPr lang="en-US" dirty="0" err="1"/>
              <a:t>codice</a:t>
            </a:r>
            <a:r>
              <a:rPr lang="en-US" dirty="0"/>
              <a:t>. </a:t>
            </a:r>
            <a:r>
              <a:rPr lang="en-US" dirty="0" err="1"/>
              <a:t>Sappiamo</a:t>
            </a:r>
            <a:r>
              <a:rPr lang="en-US" dirty="0"/>
              <a:t> </a:t>
            </a:r>
            <a:r>
              <a:rPr lang="en-US" dirty="0" err="1"/>
              <a:t>che</a:t>
            </a:r>
            <a:r>
              <a:rPr lang="en-US" dirty="0"/>
              <a:t> </a:t>
            </a:r>
            <a:r>
              <a:rPr lang="en-US" dirty="0" err="1"/>
              <a:t>sbagliare</a:t>
            </a:r>
            <a:r>
              <a:rPr lang="en-US" dirty="0"/>
              <a:t> la </a:t>
            </a:r>
            <a:r>
              <a:rPr lang="en-US" dirty="0" err="1"/>
              <a:t>stima</a:t>
            </a:r>
            <a:r>
              <a:rPr lang="en-US" dirty="0"/>
              <a:t> </a:t>
            </a:r>
            <a:r>
              <a:rPr lang="en-US" dirty="0" err="1"/>
              <a:t>iniziale</a:t>
            </a:r>
            <a:r>
              <a:rPr lang="en-US" dirty="0"/>
              <a:t> è la prima causa di </a:t>
            </a:r>
            <a:r>
              <a:rPr lang="en-US" dirty="0" err="1"/>
              <a:t>fallimento</a:t>
            </a:r>
            <a:r>
              <a:rPr lang="en-US" dirty="0"/>
              <a:t> </a:t>
            </a:r>
            <a:r>
              <a:rPr lang="en-US" dirty="0" err="1"/>
              <a:t>dei</a:t>
            </a:r>
            <a:r>
              <a:rPr lang="en-US" dirty="0"/>
              <a:t> </a:t>
            </a:r>
            <a:r>
              <a:rPr lang="en-US" dirty="0" err="1"/>
              <a:t>progetti</a:t>
            </a:r>
            <a:r>
              <a:rPr lang="en-US" dirty="0"/>
              <a:t>. La nostra idea è </a:t>
            </a:r>
            <a:r>
              <a:rPr lang="en-US" dirty="0" err="1"/>
              <a:t>stata</a:t>
            </a:r>
            <a:r>
              <a:rPr lang="en-US" dirty="0"/>
              <a:t> </a:t>
            </a:r>
            <a:r>
              <a:rPr lang="en-US" dirty="0" err="1"/>
              <a:t>quella</a:t>
            </a:r>
            <a:r>
              <a:rPr lang="en-US" dirty="0"/>
              <a:t> di non </a:t>
            </a:r>
            <a:r>
              <a:rPr lang="en-US" dirty="0" err="1"/>
              <a:t>limitarci</a:t>
            </a:r>
            <a:r>
              <a:rPr lang="en-US" dirty="0"/>
              <a:t> alle </a:t>
            </a:r>
            <a:r>
              <a:rPr lang="en-US" dirty="0" err="1"/>
              <a:t>formule</a:t>
            </a:r>
            <a:r>
              <a:rPr lang="en-US" dirty="0"/>
              <a:t> </a:t>
            </a:r>
            <a:r>
              <a:rPr lang="en-US" dirty="0" err="1"/>
              <a:t>statiche</a:t>
            </a:r>
            <a:r>
              <a:rPr lang="en-US" dirty="0"/>
              <a:t> del </a:t>
            </a:r>
            <a:r>
              <a:rPr lang="en-US" dirty="0" err="1"/>
              <a:t>passato</a:t>
            </a:r>
            <a:r>
              <a:rPr lang="en-US" dirty="0"/>
              <a:t>, ma di </a:t>
            </a:r>
            <a:r>
              <a:rPr lang="en-US" dirty="0" err="1"/>
              <a:t>sfruttare</a:t>
            </a:r>
            <a:r>
              <a:rPr lang="en-US" dirty="0"/>
              <a:t> il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Prima di scrivere qualsiasi riga di codice abbiamo studiato la teoria del corso. Barry Boehm ci insegna che nelle fasi iniziali di fattibilità l'incertezza spazia da un quarto a quattro volte la realtà. Ma il manager deve formulare un budget proprio in quel momento. Perché non usare le righe di codice? Perché all'inizio le righe sono zero, e comunque dipendono fortemente dal linguaggio usato.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 risposta scientifica al problema delle LOC sono i Function Points (standard IFPUG). Si analizza il software dal punto di vista dell'utente, classificando le componenti in funzioni dati e funzioni transazionali. Assegnando i pesi standard, otteniamo un vettore numerico a 5 dimensioni. Questo vettore è l'input ideale per alimentare il nostro modello di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Avere la teoria non basta: per addestrare un'IA servono dati storici veri. Trovarli è stata un'impresa, perché le software house tengono i dati di costo sotto segreto industriale. Abbiamo individuato nel repository accademico PROMISE il dataset "China", composto da 499 progetti reali con tutti i conteggi IFPUG e l'effort effettivo in ore. La correlazione tra Function Points aggiustati e non aggiustati è pari a 0.99, ma i dati presentano una fortissima asimmetria con progetti enormi oltre 50.000 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questo punto abbiamo avviato i primi esperimenti. Abbiamo implementato l'approccio del paper del Prof. Di Martino con regressioni lineari, ma i risultati erano limitati dalla rigidità della retta. Abbiamo allora provato con il Machine Learning classico: Random Forest e Support Vector Machines. È stato un fallimento: la presenza di pochi mega-progetti da 50.000 ore distorceva l'apprendimento, provocando errori enormi sui progetti normali. Ci siamo resi conto che serviva un'architettura diversa, capace di gestire l'incertezza e smorzare gli outlier.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 svolta è arrivata studiando la letteratura recente: il paper di Azzeh del 2024 proponeva una rete Fuzzy-DCNN. Perché questa idea ci ha convinto? Perché offre il trade-off perfetto. La logica Fuzzy "sfoca" i conteggi dei requisiti, assorbendo l'incertezza iniziale. La rete convoluzionale, tipica delle immagini, scansiona questa mappa di appartenenza 2D e scova interazioni non lineari nascoste. Inoltre, la rete è compattissima e risponde in meno di 5 millisecondi.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 ecco lo scoglio: quando abbiamo programmato la rete seguendo fedelmente il paper, ci siamo scontrati con un vicolo cieco. Il paper non era riproducibile. L'uso di ReLU sull'output azzerava i neuroni facendo predire zero al 67% dei progetti di COCOMO-81; la loss MSE faceva esplodere i gradienti oltre 10.000 a causa degli outlier; l'indice per raggruppare i dati andava in divisione per zero e mancavano persino iperparametri fondamentali. A questo punto il nostro lavoro si è trasformato in una vera opera di diagnosi e re-ingegnerizzazione.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a:t>
            </a:r>
            <a:r>
              <a:rPr lang="en-US" err="1"/>
              <a:t>questa</a:t>
            </a:r>
            <a:r>
              <a:rPr lang="en-US"/>
              <a:t> slide </a:t>
            </a:r>
            <a:r>
              <a:rPr lang="en-US" err="1"/>
              <a:t>confrontiamo</a:t>
            </a:r>
            <a:r>
              <a:rPr lang="en-US"/>
              <a:t> le </a:t>
            </a:r>
            <a:r>
              <a:rPr lang="en-US" err="1"/>
              <a:t>scelte</a:t>
            </a:r>
            <a:r>
              <a:rPr lang="en-US"/>
              <a:t> operate </a:t>
            </a:r>
            <a:r>
              <a:rPr lang="en-US" err="1"/>
              <a:t>dai</a:t>
            </a:r>
            <a:r>
              <a:rPr lang="en-US"/>
              <a:t> </a:t>
            </a:r>
            <a:r>
              <a:rPr lang="en-US" err="1"/>
              <a:t>singoli</a:t>
            </a:r>
            <a:r>
              <a:rPr lang="en-US"/>
              <a:t> </a:t>
            </a:r>
            <a:r>
              <a:rPr lang="en-US" err="1"/>
              <a:t>indici</a:t>
            </a:r>
            <a:r>
              <a:rPr lang="en-US"/>
              <a:t>. A sinistra </a:t>
            </a:r>
            <a:r>
              <a:rPr lang="en-US" err="1"/>
              <a:t>vediamo</a:t>
            </a:r>
            <a:r>
              <a:rPr lang="en-US"/>
              <a:t> </a:t>
            </a:r>
            <a:r>
              <a:rPr lang="en-US" err="1"/>
              <a:t>perché</a:t>
            </a:r>
            <a:r>
              <a:rPr lang="en-US"/>
              <a:t> Xie-Beni </a:t>
            </a:r>
            <a:r>
              <a:rPr lang="en-US" err="1"/>
              <a:t>fallisce</a:t>
            </a:r>
            <a:r>
              <a:rPr lang="en-US"/>
              <a:t> a causa del </a:t>
            </a:r>
            <a:r>
              <a:rPr lang="en-US" err="1"/>
              <a:t>denominatore</a:t>
            </a:r>
            <a:r>
              <a:rPr lang="en-US"/>
              <a:t> </a:t>
            </a:r>
            <a:r>
              <a:rPr lang="en-US" err="1"/>
              <a:t>che</a:t>
            </a:r>
            <a:r>
              <a:rPr lang="en-US"/>
              <a:t> </a:t>
            </a:r>
            <a:r>
              <a:rPr lang="en-US" err="1"/>
              <a:t>va</a:t>
            </a:r>
            <a:r>
              <a:rPr lang="en-US"/>
              <a:t> a zero sui </a:t>
            </a:r>
            <a:r>
              <a:rPr lang="en-US" err="1"/>
              <a:t>dati</a:t>
            </a:r>
            <a:r>
              <a:rPr lang="en-US"/>
              <a:t> </a:t>
            </a:r>
            <a:r>
              <a:rPr lang="en-US" err="1"/>
              <a:t>normalizzati</a:t>
            </a:r>
            <a:r>
              <a:rPr lang="en-US"/>
              <a:t>, e le </a:t>
            </a:r>
            <a:r>
              <a:rPr lang="en-US" err="1"/>
              <a:t>caratteristiche</a:t>
            </a:r>
            <a:r>
              <a:rPr lang="en-US"/>
              <a:t> </a:t>
            </a:r>
            <a:r>
              <a:rPr lang="en-US" err="1"/>
              <a:t>dei</a:t>
            </a:r>
            <a:r>
              <a:rPr lang="en-US"/>
              <a:t> </a:t>
            </a:r>
            <a:r>
              <a:rPr lang="en-US" err="1"/>
              <a:t>tre</a:t>
            </a:r>
            <a:r>
              <a:rPr lang="en-US"/>
              <a:t> </a:t>
            </a:r>
            <a:r>
              <a:rPr lang="en-US" err="1"/>
              <a:t>indici</a:t>
            </a:r>
            <a:r>
              <a:rPr lang="en-US"/>
              <a:t> </a:t>
            </a:r>
            <a:r>
              <a:rPr lang="en-US" err="1"/>
              <a:t>alternativi</a:t>
            </a:r>
            <a:r>
              <a:rPr lang="en-US"/>
              <a:t>. A </a:t>
            </a:r>
            <a:r>
              <a:rPr lang="en-US" err="1"/>
              <a:t>destra</a:t>
            </a:r>
            <a:r>
              <a:rPr lang="en-US"/>
              <a:t>, la </a:t>
            </a:r>
            <a:r>
              <a:rPr lang="en-US" err="1"/>
              <a:t>tabella</a:t>
            </a:r>
            <a:r>
              <a:rPr lang="en-US"/>
              <a:t> </a:t>
            </a:r>
            <a:r>
              <a:rPr lang="en-US" err="1"/>
              <a:t>mette</a:t>
            </a:r>
            <a:r>
              <a:rPr lang="en-US"/>
              <a:t> in </a:t>
            </a:r>
            <a:r>
              <a:rPr lang="en-US" err="1"/>
              <a:t>relazione</a:t>
            </a:r>
            <a:r>
              <a:rPr lang="en-US"/>
              <a:t> </a:t>
            </a:r>
            <a:r>
              <a:rPr lang="en-US" err="1"/>
              <a:t>diretta</a:t>
            </a:r>
            <a:r>
              <a:rPr lang="en-US"/>
              <a:t> il k </a:t>
            </a:r>
            <a:r>
              <a:rPr lang="en-US" err="1"/>
              <a:t>scelto</a:t>
            </a:r>
            <a:r>
              <a:rPr lang="en-US"/>
              <a:t> da </a:t>
            </a:r>
            <a:r>
              <a:rPr lang="en-US" err="1"/>
              <a:t>ciascun</a:t>
            </a:r>
            <a:r>
              <a:rPr lang="en-US"/>
              <a:t> </a:t>
            </a:r>
            <a:r>
              <a:rPr lang="en-US" err="1"/>
              <a:t>indice</a:t>
            </a:r>
            <a:r>
              <a:rPr lang="en-US"/>
              <a:t> con </a:t>
            </a:r>
            <a:r>
              <a:rPr lang="en-US" err="1"/>
              <a:t>l'errore</a:t>
            </a:r>
            <a:r>
              <a:rPr lang="en-US"/>
              <a:t> </a:t>
            </a:r>
            <a:r>
              <a:rPr lang="en-US" err="1"/>
              <a:t>reale</a:t>
            </a:r>
            <a:r>
              <a:rPr lang="en-US"/>
              <a:t> </a:t>
            </a:r>
            <a:r>
              <a:rPr lang="en-US" err="1"/>
              <a:t>MedAE</a:t>
            </a:r>
            <a:r>
              <a:rPr lang="en-US"/>
              <a:t>: le </a:t>
            </a:r>
            <a:r>
              <a:rPr lang="en-US" err="1"/>
              <a:t>celle</a:t>
            </a:r>
            <a:r>
              <a:rPr lang="en-US"/>
              <a:t> in </a:t>
            </a:r>
            <a:r>
              <a:rPr lang="en-US" err="1"/>
              <a:t>verde</a:t>
            </a:r>
            <a:r>
              <a:rPr lang="en-US"/>
              <a:t> </a:t>
            </a:r>
            <a:r>
              <a:rPr lang="en-US" err="1"/>
              <a:t>indicano</a:t>
            </a:r>
            <a:r>
              <a:rPr lang="en-US"/>
              <a:t> </a:t>
            </a:r>
            <a:r>
              <a:rPr lang="en-US" err="1"/>
              <a:t>l'indice</a:t>
            </a:r>
            <a:r>
              <a:rPr lang="en-US"/>
              <a:t> </a:t>
            </a:r>
            <a:r>
              <a:rPr lang="en-US" err="1"/>
              <a:t>geometrico</a:t>
            </a:r>
            <a:r>
              <a:rPr lang="en-US"/>
              <a:t> </a:t>
            </a:r>
            <a:r>
              <a:rPr lang="en-US" err="1"/>
              <a:t>che</a:t>
            </a:r>
            <a:r>
              <a:rPr lang="en-US"/>
              <a:t> ha </a:t>
            </a:r>
            <a:r>
              <a:rPr lang="en-US" err="1"/>
              <a:t>azzeccato</a:t>
            </a:r>
            <a:r>
              <a:rPr lang="en-US"/>
              <a:t> </a:t>
            </a:r>
            <a:r>
              <a:rPr lang="en-US" err="1"/>
              <a:t>esattamente</a:t>
            </a:r>
            <a:r>
              <a:rPr lang="en-US"/>
              <a:t> la </a:t>
            </a:r>
            <a:r>
              <a:rPr lang="en-US" err="1"/>
              <a:t>configurazione</a:t>
            </a:r>
            <a:r>
              <a:rPr lang="en-US"/>
              <a:t> a </a:t>
            </a:r>
            <a:r>
              <a:rPr lang="en-US" err="1"/>
              <a:t>minimo</a:t>
            </a:r>
            <a:r>
              <a:rPr lang="en-US"/>
              <a:t> </a:t>
            </a:r>
            <a:r>
              <a:rPr lang="en-US" err="1"/>
              <a:t>errore</a:t>
            </a:r>
            <a:r>
              <a:rPr lang="en-US"/>
              <a:t> (come </a:t>
            </a:r>
            <a:r>
              <a:rPr lang="en-US" err="1"/>
              <a:t>Calinski-Harabasz</a:t>
            </a:r>
            <a:r>
              <a:rPr lang="en-US"/>
              <a:t> </a:t>
            </a:r>
            <a:r>
              <a:rPr lang="en-US" err="1"/>
              <a:t>su</a:t>
            </a:r>
            <a:r>
              <a:rPr lang="en-US"/>
              <a:t> Albrecht </a:t>
            </a:r>
            <a:r>
              <a:rPr lang="en-US" err="1"/>
              <a:t>che</a:t>
            </a:r>
            <a:r>
              <a:rPr lang="en-US"/>
              <a:t> trova k=3, o la Silhouette </a:t>
            </a:r>
            <a:r>
              <a:rPr lang="en-US" err="1"/>
              <a:t>su</a:t>
            </a:r>
            <a:r>
              <a:rPr lang="en-US"/>
              <a:t> COCOMO con k=2). Nei dataset </a:t>
            </a:r>
            <a:r>
              <a:rPr lang="en-US" err="1"/>
              <a:t>ampi</a:t>
            </a:r>
            <a:r>
              <a:rPr lang="en-US"/>
              <a:t> come China e Maxwell la </a:t>
            </a:r>
            <a:r>
              <a:rPr lang="en-US" err="1"/>
              <a:t>geometria</a:t>
            </a:r>
            <a:r>
              <a:rPr lang="en-US"/>
              <a:t> pura </a:t>
            </a:r>
            <a:r>
              <a:rPr lang="en-US" err="1"/>
              <a:t>tenderebbe</a:t>
            </a:r>
            <a:r>
              <a:rPr lang="en-US"/>
              <a:t> a </a:t>
            </a:r>
            <a:r>
              <a:rPr lang="en-US" err="1"/>
              <a:t>scegliere</a:t>
            </a:r>
            <a:r>
              <a:rPr lang="en-US"/>
              <a:t> k=2, ma la </a:t>
            </a:r>
            <a:r>
              <a:rPr lang="en-US" err="1"/>
              <a:t>regressione</a:t>
            </a:r>
            <a:r>
              <a:rPr lang="en-US"/>
              <a:t> della Conv2D beneficia di </a:t>
            </a:r>
            <a:r>
              <a:rPr lang="en-US" err="1"/>
              <a:t>una</a:t>
            </a:r>
            <a:r>
              <a:rPr lang="en-US"/>
              <a:t> </a:t>
            </a:r>
            <a:r>
              <a:rPr lang="en-US" err="1"/>
              <a:t>matrice</a:t>
            </a:r>
            <a:r>
              <a:rPr lang="en-US"/>
              <a:t> </a:t>
            </a:r>
            <a:r>
              <a:rPr lang="en-US" err="1"/>
              <a:t>più</a:t>
            </a:r>
            <a:r>
              <a:rPr lang="en-US"/>
              <a:t> </a:t>
            </a:r>
            <a:r>
              <a:rPr lang="en-US" err="1"/>
              <a:t>larga</a:t>
            </a:r>
            <a:r>
              <a:rPr lang="en-US"/>
              <a:t> con k=4 o 5, </a:t>
            </a:r>
            <a:r>
              <a:rPr lang="en-US" err="1"/>
              <a:t>dimezzando</a:t>
            </a:r>
            <a:r>
              <a:rPr lang="en-US"/>
              <a:t> </a:t>
            </a:r>
            <a:r>
              <a:rPr lang="en-US" err="1"/>
              <a:t>l'errore</a:t>
            </a:r>
            <a:r>
              <a:rPr lang="en-US"/>
              <a:t> </a:t>
            </a:r>
            <a:r>
              <a:rPr lang="en-US" err="1"/>
              <a:t>effettivo</a:t>
            </a:r>
            <a:r>
              <a:rPr lang="en-US"/>
              <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questa slide affrontiamo l'ingegneria della rete. Sul fronte dell'attivazione di output, abbiamo dimostrato che la nostra soluzione Linear+Clip elimina completamente i neuroni morti senza aggiungere il bias positivo artificiale introdotto da Softplus o ELU. Sul fronte degli iperparametri, abbiamo disaccoppiato l'ottimizzazione in due stadi risparmiando l'85% del tempo di calcolo, scoprendo che dataset piccoli esigono reti piccolissime a 8 filtri per evitare di imparare a memoria i dati.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Questa slide fornisce la prova empirica definitiva che la commissione apprezzerà maggiormente. Abbiamo implementato e lanciato sotto identici protocolli di cross-validation sia il modello lineare di Di Martino, sia Random Forest, sia Support Vector Regression su tutti e 5 i dataset. Come si vede chiaramente dai numeri, il nostro Fuzzy-DCNN ottimizzato ottiene il minor errore mediano su China (117 ore contro 1758 di Di Martino e 528 di Random Forest), su COCOMO-81 (71 mesi contro oltre 180 delle baseline), su Albrecht (3.11 mesi) e su Desharnais, confermando la superiorità sistematica della nostra architettura.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Questo è uno dei contributi concettuali più importanti del nostro lavoro. Analizzando i dati fold per fold abbiamo scoperto che fidarsi solo del MAE inganna: su COCOMO-81 ben due terzi dell'errore complessivo dipendono da 5 soli progetti su 63! La Mediana dell'Errore (MedAE) è l'unica metrica che racconta l'onesta realtà per oltre il 90% dei progetti ordinari.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Alla fine del percorso, il cerchio si chiude tornando all'obiettivo iniziale. Nel repository abbiamo ingegnerizzato un'applicazione web Model-View-Controller in Flask e PyTorch: il Project Manager inserisce i conteggi dei Function Points e, in meno di 5 millisecondi, la dashboard restituisce sia la stima delle formule di Di Martino sia la stima della nostra rete convoluzionale fuzzy ottimizzata.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 gli sviluppi futuri vediamo tre direzioni promettenti. Primo: allargare l'applicazione web inserendo altri modelli concorrenti come TabNet o gli Stacking Ensembles. Secondo: la vera frontiera è una pipeline ibrida in cui un modello di linguaggio analizza le specifiche dei requisiti ed estrae autonomamente i Function Points, passandoli poi alla nostra rete per la stima immediata. Terzo: lanciamo un messaggio metodologico, c'è un urgente bisogno accademico di nuovi dataset pubblici basati sullo sviluppo moderno Cloud e Agile.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 ringraziamo sinceramente per l'attenzione prestata e siamo a completa disposizione per rispondere a qualsiasi domanda tecnica sul codice, sulla teoria dei cluster o sui risultati sperimentali.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4"/>
        </a:solidFill>
        <a:effectLst/>
      </p:bgPr>
    </p:bg>
    <p:spTree>
      <p:nvGrpSpPr>
        <p:cNvPr id="1" name=""/>
        <p:cNvGrpSpPr/>
        <p:nvPr/>
      </p:nvGrpSpPr>
      <p:grpSpPr>
        <a:xfrm>
          <a:off x="0" y="0"/>
          <a:ext cx="0" cy="0"/>
          <a:chOff x="0" y="0"/>
          <a:chExt cx="0" cy="0"/>
        </a:xfrm>
      </p:grpSpPr>
      <p:sp>
        <p:nvSpPr>
          <p:cNvPr id="2" name="Text 0"/>
          <p:cNvSpPr txBox="1"/>
          <p:nvPr/>
        </p:nvSpPr>
        <p:spPr>
          <a:xfrm>
            <a:off x="731520" y="685800"/>
            <a:ext cx="7680960" cy="256032"/>
          </a:xfrm>
          <a:prstGeom prst="rect">
            <a:avLst/>
          </a:prstGeom>
          <a:noFill/>
          <a:ln/>
        </p:spPr>
        <p:txBody>
          <a:bodyPr wrap="square" lIns="0" tIns="0" rIns="0" bIns="0" rtlCol="0" anchor="ctr"/>
          <a:lstStyle/>
          <a:p>
            <a:pPr marL="0" indent="0">
              <a:buNone/>
            </a:pPr>
            <a:r>
              <a:rPr lang="en-US" sz="950" b="1">
                <a:solidFill>
                  <a:srgbClr val="38BDF8"/>
                </a:solidFill>
                <a:latin typeface="Arial" pitchFamily="34" charset="0"/>
                <a:ea typeface="Arial" pitchFamily="34" charset="-122"/>
                <a:cs typeface="Arial" pitchFamily="34" charset="-120"/>
              </a:rPr>
              <a:t>UNIVERSITÀ DEGLI STUDI · CORSO DI SOFTWARE PROJECT MANAGEMENT AND EVOLUTION</a:t>
            </a:r>
            <a:endParaRPr lang="en-US" sz="950"/>
          </a:p>
        </p:txBody>
      </p:sp>
      <p:sp>
        <p:nvSpPr>
          <p:cNvPr id="3" name="Text 1"/>
          <p:cNvSpPr txBox="1"/>
          <p:nvPr/>
        </p:nvSpPr>
        <p:spPr>
          <a:xfrm>
            <a:off x="731520" y="1051560"/>
            <a:ext cx="7680960" cy="1188720"/>
          </a:xfrm>
          <a:prstGeom prst="rect">
            <a:avLst/>
          </a:prstGeom>
          <a:noFill/>
          <a:ln/>
        </p:spPr>
        <p:txBody>
          <a:bodyPr wrap="square" lIns="0" tIns="0" rIns="0" bIns="0" rtlCol="0" anchor="ctr"/>
          <a:lstStyle/>
          <a:p>
            <a:pPr marL="0" indent="0">
              <a:lnSpc>
                <a:spcPts val="3400"/>
              </a:lnSpc>
              <a:buNone/>
            </a:pPr>
            <a:r>
              <a:rPr lang="en-US" sz="2700" b="1">
                <a:solidFill>
                  <a:srgbClr val="FFFFFF"/>
                </a:solidFill>
                <a:latin typeface="Arial" pitchFamily="34" charset="0"/>
                <a:ea typeface="Arial" pitchFamily="34" charset="-122"/>
                <a:cs typeface="Arial" pitchFamily="34" charset="-120"/>
              </a:rPr>
              <a:t>Stima dello Sforzo Software basata su</a:t>
            </a:r>
            <a:endParaRPr lang="en-US" sz="2700"/>
          </a:p>
          <a:p>
            <a:pPr marL="0" indent="0">
              <a:lnSpc>
                <a:spcPts val="3400"/>
              </a:lnSpc>
              <a:buNone/>
            </a:pPr>
            <a:r>
              <a:rPr lang="en-US" sz="2700" b="1">
                <a:solidFill>
                  <a:srgbClr val="FFFFFF"/>
                </a:solidFill>
                <a:latin typeface="Arial" pitchFamily="34" charset="0"/>
                <a:ea typeface="Arial" pitchFamily="34" charset="-122"/>
                <a:cs typeface="Arial" pitchFamily="34" charset="-120"/>
              </a:rPr>
              <a:t>Metriche Funzionali e Reti Convoluzionali Fuzzy</a:t>
            </a:r>
            <a:endParaRPr lang="en-US" sz="2700"/>
          </a:p>
        </p:txBody>
      </p:sp>
      <p:sp>
        <p:nvSpPr>
          <p:cNvPr id="4" name="Text 2"/>
          <p:cNvSpPr txBox="1"/>
          <p:nvPr/>
        </p:nvSpPr>
        <p:spPr>
          <a:xfrm>
            <a:off x="731520" y="2395728"/>
            <a:ext cx="7680960" cy="502920"/>
          </a:xfrm>
          <a:prstGeom prst="rect">
            <a:avLst/>
          </a:prstGeom>
          <a:noFill/>
          <a:ln/>
        </p:spPr>
        <p:txBody>
          <a:bodyPr wrap="square" lIns="0" tIns="0" rIns="0" bIns="0" rtlCol="0" anchor="ctr"/>
          <a:lstStyle/>
          <a:p>
            <a:pPr marL="0" indent="0">
              <a:lnSpc>
                <a:spcPts val="1700"/>
              </a:lnSpc>
              <a:buNone/>
            </a:pPr>
            <a:r>
              <a:rPr lang="en-US" sz="1200" err="1">
                <a:solidFill>
                  <a:srgbClr val="94A3B8"/>
                </a:solidFill>
                <a:latin typeface="Arial"/>
                <a:ea typeface="Arial" pitchFamily="34" charset="-122"/>
                <a:cs typeface="Arial"/>
              </a:rPr>
              <a:t>Diagnosi</a:t>
            </a:r>
            <a:r>
              <a:rPr lang="en-US" sz="1200">
                <a:solidFill>
                  <a:srgbClr val="94A3B8"/>
                </a:solidFill>
                <a:latin typeface="Arial"/>
                <a:ea typeface="Arial" pitchFamily="34" charset="-122"/>
                <a:cs typeface="Arial"/>
              </a:rPr>
              <a:t> </a:t>
            </a:r>
            <a:r>
              <a:rPr lang="en-US" sz="1200" err="1">
                <a:solidFill>
                  <a:srgbClr val="94A3B8"/>
                </a:solidFill>
                <a:latin typeface="Arial"/>
                <a:ea typeface="Arial" pitchFamily="34" charset="-122"/>
                <a:cs typeface="Arial"/>
              </a:rPr>
              <a:t>empirica</a:t>
            </a:r>
            <a:r>
              <a:rPr lang="en-US" sz="1200">
                <a:solidFill>
                  <a:srgbClr val="94A3B8"/>
                </a:solidFill>
                <a:latin typeface="Arial"/>
                <a:ea typeface="Arial" pitchFamily="34" charset="-122"/>
                <a:cs typeface="Arial"/>
              </a:rPr>
              <a:t> del </a:t>
            </a:r>
            <a:r>
              <a:rPr lang="en-US" sz="1200" err="1">
                <a:solidFill>
                  <a:srgbClr val="94A3B8"/>
                </a:solidFill>
                <a:latin typeface="Arial"/>
                <a:ea typeface="Arial" pitchFamily="34" charset="-122"/>
                <a:cs typeface="Arial"/>
              </a:rPr>
              <a:t>modello</a:t>
            </a:r>
            <a:r>
              <a:rPr lang="en-US" sz="1200">
                <a:solidFill>
                  <a:srgbClr val="94A3B8"/>
                </a:solidFill>
                <a:latin typeface="Arial"/>
                <a:ea typeface="Arial" pitchFamily="34" charset="-122"/>
                <a:cs typeface="Arial"/>
              </a:rPr>
              <a:t> F-DCNN: </a:t>
            </a:r>
            <a:r>
              <a:rPr lang="en-US" sz="1200" err="1">
                <a:solidFill>
                  <a:srgbClr val="94A3B8"/>
                </a:solidFill>
                <a:latin typeface="Arial"/>
                <a:ea typeface="Arial" pitchFamily="34" charset="-122"/>
                <a:cs typeface="Arial"/>
              </a:rPr>
              <a:t>validazione</a:t>
            </a:r>
            <a:r>
              <a:rPr lang="en-US" sz="1200">
                <a:solidFill>
                  <a:srgbClr val="94A3B8"/>
                </a:solidFill>
                <a:latin typeface="Arial"/>
                <a:ea typeface="Arial" pitchFamily="34" charset="-122"/>
                <a:cs typeface="Arial"/>
              </a:rPr>
              <a:t> degli </a:t>
            </a:r>
            <a:r>
              <a:rPr lang="en-US" sz="1200" err="1">
                <a:solidFill>
                  <a:srgbClr val="94A3B8"/>
                </a:solidFill>
                <a:latin typeface="Arial"/>
                <a:ea typeface="Arial" pitchFamily="34" charset="-122"/>
                <a:cs typeface="Arial"/>
              </a:rPr>
              <a:t>iperparametri</a:t>
            </a:r>
            <a:r>
              <a:rPr lang="en-US" sz="1200">
                <a:solidFill>
                  <a:srgbClr val="94A3B8"/>
                </a:solidFill>
                <a:latin typeface="Arial"/>
                <a:ea typeface="Arial" pitchFamily="34" charset="-122"/>
                <a:cs typeface="Arial"/>
              </a:rPr>
              <a:t> e </a:t>
            </a:r>
            <a:r>
              <a:rPr lang="en-US" sz="1200" err="1">
                <a:solidFill>
                  <a:srgbClr val="94A3B8"/>
                </a:solidFill>
                <a:latin typeface="Arial"/>
                <a:ea typeface="Arial" pitchFamily="34" charset="-122"/>
                <a:cs typeface="Arial"/>
              </a:rPr>
              <a:t>prototipo</a:t>
            </a:r>
            <a:r>
              <a:rPr lang="en-US" sz="1200">
                <a:solidFill>
                  <a:srgbClr val="94A3B8"/>
                </a:solidFill>
                <a:latin typeface="Arial"/>
                <a:ea typeface="Arial" pitchFamily="34" charset="-122"/>
                <a:cs typeface="Arial"/>
              </a:rPr>
              <a:t> web</a:t>
            </a:r>
            <a:endParaRPr lang="en-US" sz="1200">
              <a:latin typeface="Arial"/>
              <a:cs typeface="Arial"/>
            </a:endParaRPr>
          </a:p>
        </p:txBody>
      </p:sp>
      <p:sp>
        <p:nvSpPr>
          <p:cNvPr id="5" name="Shape 3"/>
          <p:cNvSpPr/>
          <p:nvPr/>
        </p:nvSpPr>
        <p:spPr>
          <a:xfrm>
            <a:off x="731520" y="3246120"/>
            <a:ext cx="3657600" cy="1325880"/>
          </a:xfrm>
          <a:prstGeom prst="roundRect">
            <a:avLst>
              <a:gd name="adj" fmla="val 5517"/>
            </a:avLst>
          </a:prstGeom>
          <a:solidFill>
            <a:srgbClr val="1E293B"/>
          </a:solidFill>
          <a:ln w="12700">
            <a:solidFill>
              <a:srgbClr val="334155"/>
            </a:solidFill>
            <a:prstDash val="solid"/>
          </a:ln>
        </p:spPr>
        <p:txBody>
          <a:bodyPr/>
          <a:lstStyle/>
          <a:p>
            <a:endParaRPr lang="it-IT"/>
          </a:p>
        </p:txBody>
      </p:sp>
      <p:sp>
        <p:nvSpPr>
          <p:cNvPr id="6" name="Text 4"/>
          <p:cNvSpPr txBox="1"/>
          <p:nvPr/>
        </p:nvSpPr>
        <p:spPr>
          <a:xfrm>
            <a:off x="960120" y="3401568"/>
            <a:ext cx="3200400" cy="201168"/>
          </a:xfrm>
          <a:prstGeom prst="rect">
            <a:avLst/>
          </a:prstGeom>
          <a:noFill/>
          <a:ln/>
        </p:spPr>
        <p:txBody>
          <a:bodyPr wrap="square" lIns="0" tIns="0" rIns="0" bIns="0" rtlCol="0" anchor="ctr"/>
          <a:lstStyle/>
          <a:p>
            <a:pPr marL="0" indent="0">
              <a:buNone/>
            </a:pPr>
            <a:r>
              <a:rPr lang="en-US" sz="850" b="1">
                <a:solidFill>
                  <a:srgbClr val="38BDF8"/>
                </a:solidFill>
                <a:latin typeface="Arial" pitchFamily="34" charset="0"/>
                <a:ea typeface="Arial" pitchFamily="34" charset="-122"/>
                <a:cs typeface="Arial" pitchFamily="34" charset="-120"/>
              </a:rPr>
              <a:t>RELATORI DEL PROGETTO</a:t>
            </a:r>
            <a:endParaRPr lang="en-US" sz="850"/>
          </a:p>
        </p:txBody>
      </p:sp>
      <p:sp>
        <p:nvSpPr>
          <p:cNvPr id="7" name="Text 5"/>
          <p:cNvSpPr txBox="1"/>
          <p:nvPr/>
        </p:nvSpPr>
        <p:spPr>
          <a:xfrm>
            <a:off x="960120" y="3675888"/>
            <a:ext cx="3200400" cy="685800"/>
          </a:xfrm>
          <a:prstGeom prst="rect">
            <a:avLst/>
          </a:prstGeom>
          <a:noFill/>
          <a:ln/>
        </p:spPr>
        <p:txBody>
          <a:bodyPr wrap="square" lIns="0" tIns="0" rIns="0" bIns="0" rtlCol="0" anchor="ctr"/>
          <a:lstStyle/>
          <a:p>
            <a:pPr marL="0" indent="0">
              <a:lnSpc>
                <a:spcPts val="2100"/>
              </a:lnSpc>
              <a:buNone/>
            </a:pPr>
            <a:r>
              <a:rPr lang="en-US" sz="1500" b="1">
                <a:solidFill>
                  <a:srgbClr val="FFFFFF"/>
                </a:solidFill>
                <a:latin typeface="Arial" pitchFamily="34" charset="0"/>
                <a:ea typeface="Arial" pitchFamily="34" charset="-122"/>
                <a:cs typeface="Arial" pitchFamily="34" charset="-120"/>
              </a:rPr>
              <a:t>Fabrizio Apuzzo</a:t>
            </a:r>
            <a:endParaRPr lang="en-US" sz="1500"/>
          </a:p>
          <a:p>
            <a:pPr marL="0" indent="0">
              <a:lnSpc>
                <a:spcPts val="2100"/>
              </a:lnSpc>
              <a:buNone/>
            </a:pPr>
            <a:r>
              <a:rPr lang="en-US" sz="1500" b="1">
                <a:solidFill>
                  <a:srgbClr val="FFFFFF"/>
                </a:solidFill>
                <a:latin typeface="Arial" pitchFamily="34" charset="0"/>
                <a:ea typeface="Arial" pitchFamily="34" charset="-122"/>
                <a:cs typeface="Arial" pitchFamily="34" charset="-120"/>
              </a:rPr>
              <a:t>Agostino Cesarano</a:t>
            </a:r>
            <a:endParaRPr lang="en-US" sz="15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a:ea typeface="Arial" pitchFamily="34" charset="-122"/>
                <a:cs typeface="Arial"/>
              </a:rPr>
              <a:t>GENESI DEL PROGETTO</a:t>
            </a:r>
            <a:endParaRPr lang="en-US" sz="850">
              <a:latin typeface="Arial"/>
              <a:cs typeface="Arial"/>
            </a:endParaRPr>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err="1">
                <a:solidFill>
                  <a:srgbClr val="0F2744"/>
                </a:solidFill>
                <a:latin typeface="Arial"/>
                <a:ea typeface="Arial" pitchFamily="34" charset="-122"/>
                <a:cs typeface="Arial"/>
              </a:rPr>
              <a:t>L'Idea</a:t>
            </a:r>
            <a:r>
              <a:rPr lang="en-US" sz="1850" b="1">
                <a:solidFill>
                  <a:srgbClr val="0F2744"/>
                </a:solidFill>
                <a:latin typeface="Arial"/>
                <a:ea typeface="Arial" pitchFamily="34" charset="-122"/>
                <a:cs typeface="Arial"/>
              </a:rPr>
              <a:t> </a:t>
            </a:r>
            <a:r>
              <a:rPr lang="en-US" sz="1850" b="1" err="1">
                <a:solidFill>
                  <a:srgbClr val="0F2744"/>
                </a:solidFill>
                <a:latin typeface="Arial"/>
                <a:ea typeface="Arial" pitchFamily="34" charset="-122"/>
                <a:cs typeface="Arial"/>
              </a:rPr>
              <a:t>Iniziale</a:t>
            </a:r>
            <a:r>
              <a:rPr lang="en-US" sz="1850" b="1">
                <a:solidFill>
                  <a:srgbClr val="0F2744"/>
                </a:solidFill>
                <a:latin typeface="Arial"/>
                <a:ea typeface="Arial" pitchFamily="34" charset="-122"/>
                <a:cs typeface="Arial"/>
              </a:rPr>
              <a:t>: </a:t>
            </a:r>
            <a:r>
              <a:rPr lang="en-US" sz="1850" b="1" err="1">
                <a:solidFill>
                  <a:srgbClr val="0F2744"/>
                </a:solidFill>
                <a:latin typeface="Arial"/>
                <a:ea typeface="Arial" pitchFamily="34" charset="-122"/>
                <a:cs typeface="Arial"/>
              </a:rPr>
              <a:t>Stimare</a:t>
            </a:r>
            <a:r>
              <a:rPr lang="en-US" sz="1850" b="1">
                <a:solidFill>
                  <a:srgbClr val="0F2744"/>
                </a:solidFill>
                <a:latin typeface="Arial"/>
                <a:ea typeface="Arial" pitchFamily="34" charset="-122"/>
                <a:cs typeface="Arial"/>
              </a:rPr>
              <a:t> </a:t>
            </a:r>
            <a:r>
              <a:rPr lang="en-US" sz="1850" b="1" err="1">
                <a:solidFill>
                  <a:srgbClr val="0F2744"/>
                </a:solidFill>
                <a:latin typeface="Arial"/>
                <a:ea typeface="Arial" pitchFamily="34" charset="-122"/>
                <a:cs typeface="Arial"/>
              </a:rPr>
              <a:t>l’Effort</a:t>
            </a:r>
            <a:r>
              <a:rPr lang="en-US" sz="1850" b="1">
                <a:solidFill>
                  <a:srgbClr val="0F2744"/>
                </a:solidFill>
                <a:latin typeface="Arial"/>
                <a:ea typeface="Arial" pitchFamily="34" charset="-122"/>
                <a:cs typeface="Arial"/>
              </a:rPr>
              <a:t> e Costi</a:t>
            </a:r>
            <a:endParaRPr lang="en-US" sz="1850">
              <a:latin typeface="Arial"/>
              <a:cs typeface="Arial"/>
            </a:endParaRPr>
          </a:p>
        </p:txBody>
      </p:sp>
      <p:sp>
        <p:nvSpPr>
          <p:cNvPr id="4" name="Shape 2"/>
          <p:cNvSpPr/>
          <p:nvPr/>
        </p:nvSpPr>
        <p:spPr>
          <a:xfrm>
            <a:off x="731520" y="1051560"/>
            <a:ext cx="2423160" cy="2240280"/>
          </a:xfrm>
          <a:prstGeom prst="roundRect">
            <a:avLst>
              <a:gd name="adj" fmla="val 3265"/>
            </a:avLst>
          </a:prstGeom>
          <a:solidFill>
            <a:srgbClr val="EFF6FF"/>
          </a:solidFill>
          <a:ln w="15240">
            <a:solidFill>
              <a:srgbClr val="2563EB"/>
            </a:solidFill>
            <a:prstDash val="solid"/>
          </a:ln>
        </p:spPr>
        <p:txBody>
          <a:bodyPr/>
          <a:lstStyle/>
          <a:p>
            <a:endParaRPr lang="it-IT"/>
          </a:p>
        </p:txBody>
      </p:sp>
      <p:sp>
        <p:nvSpPr>
          <p:cNvPr id="5" name="Text 3"/>
          <p:cNvSpPr txBox="1"/>
          <p:nvPr/>
        </p:nvSpPr>
        <p:spPr>
          <a:xfrm>
            <a:off x="914400" y="1188720"/>
            <a:ext cx="2057400" cy="182880"/>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1. L'ESIGENZA OPERATIVA</a:t>
            </a:r>
            <a:endParaRPr lang="en-US" sz="850"/>
          </a:p>
        </p:txBody>
      </p:sp>
      <p:sp>
        <p:nvSpPr>
          <p:cNvPr id="6" name="Text 4"/>
          <p:cNvSpPr txBox="1"/>
          <p:nvPr/>
        </p:nvSpPr>
        <p:spPr>
          <a:xfrm>
            <a:off x="914400" y="1389888"/>
            <a:ext cx="205740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Uno </a:t>
            </a:r>
            <a:r>
              <a:rPr lang="en-US" sz="1300" b="1" err="1">
                <a:solidFill>
                  <a:srgbClr val="0F2744"/>
                </a:solidFill>
                <a:latin typeface="Arial" pitchFamily="34" charset="0"/>
                <a:ea typeface="Arial" pitchFamily="34" charset="-122"/>
                <a:cs typeface="Arial" pitchFamily="34" charset="-120"/>
              </a:rPr>
              <a:t>Strumento</a:t>
            </a:r>
            <a:r>
              <a:rPr lang="en-US" sz="1300" b="1">
                <a:solidFill>
                  <a:srgbClr val="0F2744"/>
                </a:solidFill>
                <a:latin typeface="Arial" pitchFamily="34" charset="0"/>
                <a:ea typeface="Arial" pitchFamily="34" charset="-122"/>
                <a:cs typeface="Arial" pitchFamily="34" charset="-120"/>
              </a:rPr>
              <a:t> per il PM</a:t>
            </a:r>
            <a:endParaRPr lang="en-US" sz="1300"/>
          </a:p>
        </p:txBody>
      </p:sp>
      <p:sp>
        <p:nvSpPr>
          <p:cNvPr id="7" name="Text 5"/>
          <p:cNvSpPr txBox="1"/>
          <p:nvPr/>
        </p:nvSpPr>
        <p:spPr>
          <a:xfrm>
            <a:off x="914400" y="1737360"/>
            <a:ext cx="2057400" cy="1417320"/>
          </a:xfrm>
          <a:prstGeom prst="rect">
            <a:avLst/>
          </a:prstGeom>
          <a:noFill/>
          <a:ln/>
        </p:spPr>
        <p:txBody>
          <a:bodyPr wrap="square" lIns="0" tIns="0" rIns="0" bIns="0" rtlCol="0" anchor="t"/>
          <a:lstStyle/>
          <a:p>
            <a:pPr marL="0" indent="0">
              <a:lnSpc>
                <a:spcPts val="1250"/>
              </a:lnSpc>
              <a:buNone/>
            </a:pPr>
            <a:r>
              <a:rPr lang="en-US" sz="900">
                <a:solidFill>
                  <a:srgbClr val="334155"/>
                </a:solidFill>
                <a:latin typeface="Arial" pitchFamily="34" charset="0"/>
                <a:ea typeface="Arial" pitchFamily="34" charset="-122"/>
                <a:cs typeface="Arial" pitchFamily="34" charset="-120"/>
              </a:rPr>
              <a:t>L'obiettivo iniziale del nostro progetto era molto pratico: realizzare un applicativo software che permetta al Project Manager di inserire i parametri descrittivi di un nuovo progetto e ottenere all'istante una stima dei costi e dele ore di Lavoro </a:t>
            </a:r>
            <a:r>
              <a:rPr lang="en-US" sz="900" err="1">
                <a:solidFill>
                  <a:srgbClr val="334155"/>
                </a:solidFill>
                <a:latin typeface="Arial" pitchFamily="34" charset="0"/>
                <a:ea typeface="Arial" pitchFamily="34" charset="-122"/>
                <a:cs typeface="Arial" pitchFamily="34" charset="-120"/>
              </a:rPr>
              <a:t>necessarie</a:t>
            </a:r>
            <a:r>
              <a:rPr lang="en-US" sz="900">
                <a:solidFill>
                  <a:srgbClr val="334155"/>
                </a:solidFill>
                <a:latin typeface="Arial" pitchFamily="34" charset="0"/>
                <a:ea typeface="Arial" pitchFamily="34" charset="-122"/>
                <a:cs typeface="Arial" pitchFamily="34" charset="-120"/>
              </a:rPr>
              <a:t> prima di scrivere il codice.</a:t>
            </a:r>
            <a:endParaRPr lang="en-US" sz="900"/>
          </a:p>
        </p:txBody>
      </p:sp>
      <p:sp>
        <p:nvSpPr>
          <p:cNvPr id="8" name="Shape 6"/>
          <p:cNvSpPr/>
          <p:nvPr/>
        </p:nvSpPr>
        <p:spPr>
          <a:xfrm>
            <a:off x="3355848" y="1051560"/>
            <a:ext cx="2423160" cy="2240280"/>
          </a:xfrm>
          <a:prstGeom prst="roundRect">
            <a:avLst>
              <a:gd name="adj" fmla="val 3265"/>
            </a:avLst>
          </a:prstGeom>
          <a:solidFill>
            <a:srgbClr val="FFFBEB"/>
          </a:solidFill>
          <a:ln w="15240">
            <a:solidFill>
              <a:srgbClr val="FDE68A"/>
            </a:solidFill>
            <a:prstDash val="solid"/>
          </a:ln>
        </p:spPr>
        <p:txBody>
          <a:bodyPr/>
          <a:lstStyle/>
          <a:p>
            <a:endParaRPr lang="it-IT"/>
          </a:p>
        </p:txBody>
      </p:sp>
      <p:sp>
        <p:nvSpPr>
          <p:cNvPr id="9" name="Text 7"/>
          <p:cNvSpPr txBox="1"/>
          <p:nvPr/>
        </p:nvSpPr>
        <p:spPr>
          <a:xfrm>
            <a:off x="3538728" y="1188720"/>
            <a:ext cx="2057400" cy="182880"/>
          </a:xfrm>
          <a:prstGeom prst="rect">
            <a:avLst/>
          </a:prstGeom>
          <a:noFill/>
          <a:ln/>
        </p:spPr>
        <p:txBody>
          <a:bodyPr wrap="square" lIns="0" tIns="0" rIns="0" bIns="0" rtlCol="0" anchor="ctr"/>
          <a:lstStyle/>
          <a:p>
            <a:pPr marL="0" indent="0">
              <a:buNone/>
            </a:pPr>
            <a:r>
              <a:rPr lang="en-US" sz="850" b="1">
                <a:solidFill>
                  <a:srgbClr val="D97706"/>
                </a:solidFill>
                <a:latin typeface="Arial" pitchFamily="34" charset="0"/>
                <a:ea typeface="Arial" pitchFamily="34" charset="-122"/>
                <a:cs typeface="Arial" pitchFamily="34" charset="-120"/>
              </a:rPr>
              <a:t>2. IL RISCHIO INDUSTRIALE</a:t>
            </a:r>
            <a:endParaRPr lang="en-US" sz="850"/>
          </a:p>
        </p:txBody>
      </p:sp>
      <p:sp>
        <p:nvSpPr>
          <p:cNvPr id="10" name="Text 8"/>
          <p:cNvSpPr txBox="1"/>
          <p:nvPr/>
        </p:nvSpPr>
        <p:spPr>
          <a:xfrm>
            <a:off x="3538728" y="1389888"/>
            <a:ext cx="205740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cs typeface="Arial" pitchFamily="34" charset="-120"/>
              </a:rPr>
              <a:t>Costo delle </a:t>
            </a:r>
            <a:r>
              <a:rPr lang="en-US" sz="1300" b="1" err="1">
                <a:solidFill>
                  <a:srgbClr val="0F2744"/>
                </a:solidFill>
                <a:latin typeface="Arial" pitchFamily="34" charset="0"/>
                <a:cs typeface="Arial" pitchFamily="34" charset="-120"/>
              </a:rPr>
              <a:t>stime</a:t>
            </a:r>
            <a:r>
              <a:rPr lang="en-US" sz="1300" b="1">
                <a:solidFill>
                  <a:srgbClr val="0F2744"/>
                </a:solidFill>
                <a:latin typeface="Arial" pitchFamily="34" charset="0"/>
                <a:cs typeface="Arial" pitchFamily="34" charset="-120"/>
              </a:rPr>
              <a:t> </a:t>
            </a:r>
            <a:r>
              <a:rPr lang="en-US" sz="1300" b="1" err="1">
                <a:solidFill>
                  <a:srgbClr val="0F2744"/>
                </a:solidFill>
                <a:latin typeface="Arial" pitchFamily="34" charset="0"/>
                <a:cs typeface="Arial" pitchFamily="34" charset="-120"/>
              </a:rPr>
              <a:t>errate</a:t>
            </a:r>
            <a:endParaRPr lang="en-US" sz="1300"/>
          </a:p>
        </p:txBody>
      </p:sp>
      <p:sp>
        <p:nvSpPr>
          <p:cNvPr id="11" name="Text 9"/>
          <p:cNvSpPr txBox="1"/>
          <p:nvPr/>
        </p:nvSpPr>
        <p:spPr>
          <a:xfrm>
            <a:off x="3538728" y="1737360"/>
            <a:ext cx="2057400" cy="1417320"/>
          </a:xfrm>
          <a:prstGeom prst="rect">
            <a:avLst/>
          </a:prstGeom>
          <a:noFill/>
          <a:ln/>
        </p:spPr>
        <p:txBody>
          <a:bodyPr wrap="square" lIns="0" tIns="0" rIns="0" bIns="0" rtlCol="0" anchor="t"/>
          <a:lstStyle/>
          <a:p>
            <a:pPr>
              <a:lnSpc>
                <a:spcPts val="1250"/>
              </a:lnSpc>
            </a:pPr>
            <a:r>
              <a:rPr lang="en-US" sz="900" err="1">
                <a:solidFill>
                  <a:srgbClr val="334155"/>
                </a:solidFill>
                <a:latin typeface="Arial"/>
                <a:ea typeface="Arial" pitchFamily="34" charset="-122"/>
                <a:cs typeface="Arial"/>
              </a:rPr>
              <a:t>Oltre</a:t>
            </a:r>
            <a:r>
              <a:rPr lang="en-US" sz="900">
                <a:solidFill>
                  <a:srgbClr val="334155"/>
                </a:solidFill>
                <a:latin typeface="Arial"/>
                <a:ea typeface="Arial" pitchFamily="34" charset="-122"/>
                <a:cs typeface="Arial"/>
              </a:rPr>
              <a:t> il 60% </a:t>
            </a:r>
            <a:r>
              <a:rPr lang="en-US" sz="900" err="1">
                <a:solidFill>
                  <a:srgbClr val="334155"/>
                </a:solidFill>
                <a:latin typeface="Arial"/>
                <a:ea typeface="Arial" pitchFamily="34" charset="-122"/>
                <a:cs typeface="Arial"/>
              </a:rPr>
              <a:t>dei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fallimenti</a:t>
            </a:r>
            <a:r>
              <a:rPr lang="en-US" sz="900">
                <a:solidFill>
                  <a:srgbClr val="334155"/>
                </a:solidFill>
                <a:latin typeface="Arial"/>
                <a:ea typeface="Arial" pitchFamily="34" charset="-122"/>
                <a:cs typeface="Arial"/>
              </a:rPr>
              <a:t> di </a:t>
            </a:r>
            <a:r>
              <a:rPr lang="en-US" sz="900" err="1">
                <a:solidFill>
                  <a:srgbClr val="334155"/>
                </a:solidFill>
                <a:latin typeface="Arial"/>
                <a:ea typeface="Arial" pitchFamily="34" charset="-122"/>
                <a:cs typeface="Arial"/>
              </a:rPr>
              <a:t>progetti</a:t>
            </a:r>
            <a:r>
              <a:rPr lang="en-US" sz="900">
                <a:solidFill>
                  <a:srgbClr val="334155"/>
                </a:solidFill>
                <a:latin typeface="Arial"/>
                <a:ea typeface="Arial" pitchFamily="34" charset="-122"/>
                <a:cs typeface="Arial"/>
              </a:rPr>
              <a:t> software </a:t>
            </a:r>
            <a:r>
              <a:rPr lang="en-US" sz="900" err="1">
                <a:solidFill>
                  <a:srgbClr val="334155"/>
                </a:solidFill>
                <a:latin typeface="Arial"/>
                <a:ea typeface="Arial" pitchFamily="34" charset="-122"/>
                <a:cs typeface="Arial"/>
              </a:rPr>
              <a:t>nasce</a:t>
            </a:r>
            <a:r>
              <a:rPr lang="en-US" sz="900">
                <a:solidFill>
                  <a:srgbClr val="334155"/>
                </a:solidFill>
                <a:latin typeface="Arial"/>
                <a:ea typeface="Arial" pitchFamily="34" charset="-122"/>
                <a:cs typeface="Arial"/>
              </a:rPr>
              <a:t> da </a:t>
            </a:r>
            <a:r>
              <a:rPr lang="en-US" sz="900" err="1">
                <a:solidFill>
                  <a:srgbClr val="334155"/>
                </a:solidFill>
                <a:latin typeface="Arial"/>
                <a:ea typeface="Arial" pitchFamily="34" charset="-122"/>
                <a:cs typeface="Arial"/>
              </a:rPr>
              <a:t>stime</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errate</a:t>
            </a:r>
            <a:r>
              <a:rPr lang="en-US" sz="900">
                <a:solidFill>
                  <a:srgbClr val="334155"/>
                </a:solidFill>
                <a:latin typeface="Arial"/>
                <a:ea typeface="Arial" pitchFamily="34" charset="-122"/>
                <a:cs typeface="Arial"/>
              </a:rPr>
              <a:t> o </a:t>
            </a:r>
            <a:r>
              <a:rPr lang="en-US" sz="900" err="1">
                <a:solidFill>
                  <a:srgbClr val="334155"/>
                </a:solidFill>
                <a:latin typeface="Arial"/>
                <a:ea typeface="Arial" pitchFamily="34" charset="-122"/>
                <a:cs typeface="Arial"/>
              </a:rPr>
              <a:t>basate</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sull'esperienza</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soggettiva</a:t>
            </a:r>
            <a:r>
              <a:rPr lang="en-US" sz="900">
                <a:solidFill>
                  <a:srgbClr val="334155"/>
                </a:solidFill>
                <a:latin typeface="Arial"/>
                <a:ea typeface="Arial" pitchFamily="34" charset="-122"/>
                <a:cs typeface="Arial"/>
              </a:rPr>
              <a:t> ("expert judgment"). </a:t>
            </a:r>
            <a:r>
              <a:rPr lang="en-US" sz="900" err="1">
                <a:solidFill>
                  <a:srgbClr val="334155"/>
                </a:solidFill>
                <a:latin typeface="Arial"/>
                <a:ea typeface="Arial" pitchFamily="34" charset="-122"/>
                <a:cs typeface="Arial"/>
              </a:rPr>
              <a:t>Preventivi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sbagliati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creano</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contratti</a:t>
            </a:r>
            <a:r>
              <a:rPr lang="en-US" sz="900">
                <a:solidFill>
                  <a:srgbClr val="334155"/>
                </a:solidFill>
                <a:latin typeface="Arial"/>
                <a:ea typeface="Arial" pitchFamily="34" charset="-122"/>
                <a:cs typeface="Arial"/>
              </a:rPr>
              <a:t> a </a:t>
            </a:r>
            <a:r>
              <a:rPr lang="en-US" sz="900" err="1">
                <a:solidFill>
                  <a:srgbClr val="334155"/>
                </a:solidFill>
                <a:latin typeface="Arial"/>
                <a:ea typeface="Arial" pitchFamily="34" charset="-122"/>
                <a:cs typeface="Arial"/>
              </a:rPr>
              <a:t>corpo</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insostenibili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scadenze</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irrealistiche</a:t>
            </a:r>
            <a:r>
              <a:rPr lang="en-US" sz="900">
                <a:solidFill>
                  <a:srgbClr val="334155"/>
                </a:solidFill>
                <a:latin typeface="Arial"/>
                <a:ea typeface="Arial" pitchFamily="34" charset="-122"/>
                <a:cs typeface="Arial"/>
              </a:rPr>
              <a:t> e </a:t>
            </a:r>
            <a:r>
              <a:rPr lang="en-US" sz="900" err="1">
                <a:solidFill>
                  <a:srgbClr val="334155"/>
                </a:solidFill>
                <a:latin typeface="Arial"/>
                <a:ea typeface="Arial" pitchFamily="34" charset="-122"/>
                <a:cs typeface="Arial"/>
              </a:rPr>
              <a:t>perdita</a:t>
            </a:r>
            <a:r>
              <a:rPr lang="en-US" sz="900">
                <a:solidFill>
                  <a:srgbClr val="334155"/>
                </a:solidFill>
                <a:latin typeface="Arial"/>
                <a:ea typeface="Arial" pitchFamily="34" charset="-122"/>
                <a:cs typeface="Arial"/>
              </a:rPr>
              <a:t> di </a:t>
            </a:r>
            <a:r>
              <a:rPr lang="en-US" sz="900" err="1">
                <a:solidFill>
                  <a:srgbClr val="334155"/>
                </a:solidFill>
                <a:latin typeface="Arial"/>
                <a:ea typeface="Arial" pitchFamily="34" charset="-122"/>
                <a:cs typeface="Arial"/>
              </a:rPr>
              <a:t>marginalità</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aziendale</a:t>
            </a:r>
            <a:r>
              <a:rPr lang="en-US" sz="900">
                <a:solidFill>
                  <a:srgbClr val="334155"/>
                </a:solidFill>
                <a:latin typeface="Arial"/>
                <a:ea typeface="Arial" pitchFamily="34" charset="-122"/>
                <a:cs typeface="Arial"/>
              </a:rPr>
              <a:t>.</a:t>
            </a:r>
            <a:endParaRPr lang="en-US" sz="900">
              <a:latin typeface="Arial"/>
              <a:cs typeface="Arial"/>
            </a:endParaRPr>
          </a:p>
        </p:txBody>
      </p:sp>
      <p:sp>
        <p:nvSpPr>
          <p:cNvPr id="12" name="Shape 10"/>
          <p:cNvSpPr/>
          <p:nvPr/>
        </p:nvSpPr>
        <p:spPr>
          <a:xfrm>
            <a:off x="5989320" y="1051560"/>
            <a:ext cx="2423160" cy="2240280"/>
          </a:xfrm>
          <a:prstGeom prst="roundRect">
            <a:avLst>
              <a:gd name="adj" fmla="val 3265"/>
            </a:avLst>
          </a:prstGeom>
          <a:solidFill>
            <a:srgbClr val="F0FDF4"/>
          </a:solidFill>
          <a:ln w="15240">
            <a:solidFill>
              <a:srgbClr val="BBF7D0"/>
            </a:solidFill>
            <a:prstDash val="solid"/>
          </a:ln>
        </p:spPr>
        <p:txBody>
          <a:bodyPr/>
          <a:lstStyle/>
          <a:p>
            <a:endParaRPr lang="it-IT"/>
          </a:p>
        </p:txBody>
      </p:sp>
      <p:sp>
        <p:nvSpPr>
          <p:cNvPr id="13" name="Text 11"/>
          <p:cNvSpPr txBox="1"/>
          <p:nvPr/>
        </p:nvSpPr>
        <p:spPr>
          <a:xfrm>
            <a:off x="6172200" y="1188720"/>
            <a:ext cx="2057400" cy="182880"/>
          </a:xfrm>
          <a:prstGeom prst="rect">
            <a:avLst/>
          </a:prstGeom>
          <a:noFill/>
          <a:ln/>
        </p:spPr>
        <p:txBody>
          <a:bodyPr wrap="square" lIns="0" tIns="0" rIns="0" bIns="0" rtlCol="0" anchor="ctr"/>
          <a:lstStyle/>
          <a:p>
            <a:pPr marL="0" indent="0">
              <a:buNone/>
            </a:pPr>
            <a:r>
              <a:rPr lang="en-US" sz="850" b="1">
                <a:solidFill>
                  <a:srgbClr val="059669"/>
                </a:solidFill>
                <a:latin typeface="Arial" pitchFamily="34" charset="0"/>
                <a:ea typeface="Arial" pitchFamily="34" charset="-122"/>
                <a:cs typeface="Arial" pitchFamily="34" charset="-120"/>
              </a:rPr>
              <a:t>3. L'INTUIZIONE TECNOLOGICA</a:t>
            </a:r>
            <a:endParaRPr lang="en-US" sz="850"/>
          </a:p>
        </p:txBody>
      </p:sp>
      <p:sp>
        <p:nvSpPr>
          <p:cNvPr id="14" name="Text 12"/>
          <p:cNvSpPr txBox="1"/>
          <p:nvPr/>
        </p:nvSpPr>
        <p:spPr>
          <a:xfrm>
            <a:off x="6172200" y="1389888"/>
            <a:ext cx="205740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Modelli Data-Driven</a:t>
            </a:r>
            <a:endParaRPr lang="en-US" sz="1300"/>
          </a:p>
        </p:txBody>
      </p:sp>
      <p:sp>
        <p:nvSpPr>
          <p:cNvPr id="15" name="Text 13"/>
          <p:cNvSpPr txBox="1"/>
          <p:nvPr/>
        </p:nvSpPr>
        <p:spPr>
          <a:xfrm>
            <a:off x="6172200" y="1737360"/>
            <a:ext cx="2057400" cy="1417320"/>
          </a:xfrm>
          <a:prstGeom prst="rect">
            <a:avLst/>
          </a:prstGeom>
          <a:noFill/>
          <a:ln/>
        </p:spPr>
        <p:txBody>
          <a:bodyPr wrap="square" lIns="0" tIns="0" rIns="0" bIns="0" rtlCol="0" anchor="t"/>
          <a:lstStyle/>
          <a:p>
            <a:pPr>
              <a:lnSpc>
                <a:spcPts val="1250"/>
              </a:lnSpc>
            </a:pPr>
            <a:r>
              <a:rPr lang="en-US" sz="900" err="1">
                <a:solidFill>
                  <a:srgbClr val="334155"/>
                </a:solidFill>
                <a:latin typeface="Arial"/>
                <a:ea typeface="Arial" pitchFamily="34" charset="-122"/>
                <a:cs typeface="Arial"/>
              </a:rPr>
              <a:t>Invece</a:t>
            </a:r>
            <a:r>
              <a:rPr lang="en-US" sz="900">
                <a:solidFill>
                  <a:srgbClr val="334155"/>
                </a:solidFill>
                <a:latin typeface="Arial"/>
                <a:ea typeface="Arial" pitchFamily="34" charset="-122"/>
                <a:cs typeface="Arial"/>
              </a:rPr>
              <a:t> di </a:t>
            </a:r>
            <a:r>
              <a:rPr lang="en-US" sz="900" err="1">
                <a:solidFill>
                  <a:srgbClr val="334155"/>
                </a:solidFill>
                <a:latin typeface="Arial"/>
                <a:ea typeface="Arial" pitchFamily="34" charset="-122"/>
                <a:cs typeface="Arial"/>
              </a:rPr>
              <a:t>affidarsi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unicamente</a:t>
            </a:r>
            <a:r>
              <a:rPr lang="en-US" sz="900">
                <a:solidFill>
                  <a:srgbClr val="334155"/>
                </a:solidFill>
                <a:latin typeface="Arial"/>
                <a:ea typeface="Arial" pitchFamily="34" charset="-122"/>
                <a:cs typeface="Arial"/>
              </a:rPr>
              <a:t> a </a:t>
            </a:r>
            <a:r>
              <a:rPr lang="en-US" sz="900" err="1">
                <a:solidFill>
                  <a:srgbClr val="334155"/>
                </a:solidFill>
                <a:latin typeface="Arial"/>
                <a:ea typeface="Arial" pitchFamily="34" charset="-122"/>
                <a:cs typeface="Arial"/>
              </a:rPr>
              <a:t>formule</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precalcolate</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che</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diventano</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facilmente</a:t>
            </a:r>
            <a:r>
              <a:rPr lang="en-US" sz="900">
                <a:solidFill>
                  <a:srgbClr val="334155"/>
                </a:solidFill>
                <a:latin typeface="Arial"/>
                <a:ea typeface="Arial" pitchFamily="34" charset="-122"/>
                <a:cs typeface="Arial"/>
              </a:rPr>
              <a:t> obsolete, </a:t>
            </a:r>
            <a:r>
              <a:rPr lang="en-US" sz="900" err="1">
                <a:solidFill>
                  <a:srgbClr val="334155"/>
                </a:solidFill>
                <a:latin typeface="Arial"/>
                <a:ea typeface="Arial" pitchFamily="34" charset="-122"/>
                <a:cs typeface="Arial"/>
              </a:rPr>
              <a:t>si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può</a:t>
            </a:r>
            <a:r>
              <a:rPr lang="en-US" sz="900">
                <a:solidFill>
                  <a:srgbClr val="334155"/>
                </a:solidFill>
                <a:latin typeface="Arial"/>
                <a:ea typeface="Arial" pitchFamily="34" charset="-122"/>
                <a:cs typeface="Arial"/>
              </a:rPr>
              <a:t> fare </a:t>
            </a:r>
            <a:r>
              <a:rPr lang="en-US" sz="900" err="1">
                <a:solidFill>
                  <a:srgbClr val="334155"/>
                </a:solidFill>
                <a:latin typeface="Arial"/>
                <a:ea typeface="Arial" pitchFamily="34" charset="-122"/>
                <a:cs typeface="Arial"/>
              </a:rPr>
              <a:t>riferimento</a:t>
            </a:r>
            <a:r>
              <a:rPr lang="en-US" sz="900">
                <a:solidFill>
                  <a:srgbClr val="334155"/>
                </a:solidFill>
                <a:latin typeface="Arial"/>
                <a:ea typeface="Arial" pitchFamily="34" charset="-122"/>
                <a:cs typeface="Arial"/>
              </a:rPr>
              <a:t> ai </a:t>
            </a:r>
            <a:r>
              <a:rPr lang="en-US" sz="900" err="1">
                <a:solidFill>
                  <a:srgbClr val="334155"/>
                </a:solidFill>
                <a:latin typeface="Arial"/>
                <a:ea typeface="Arial" pitchFamily="34" charset="-122"/>
                <a:cs typeface="Arial"/>
              </a:rPr>
              <a:t>modelli</a:t>
            </a:r>
            <a:r>
              <a:rPr lang="en-US" sz="900">
                <a:solidFill>
                  <a:srgbClr val="334155"/>
                </a:solidFill>
                <a:latin typeface="Arial"/>
                <a:ea typeface="Arial" pitchFamily="34" charset="-122"/>
                <a:cs typeface="Arial"/>
              </a:rPr>
              <a:t> di Machine Learning, </a:t>
            </a:r>
            <a:r>
              <a:rPr lang="en-US" sz="900" err="1">
                <a:solidFill>
                  <a:srgbClr val="334155"/>
                </a:solidFill>
                <a:latin typeface="Arial"/>
                <a:ea typeface="Arial" pitchFamily="34" charset="-122"/>
                <a:cs typeface="Arial"/>
              </a:rPr>
              <a:t>che</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sono</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capaci</a:t>
            </a:r>
            <a:r>
              <a:rPr lang="en-US" sz="900">
                <a:solidFill>
                  <a:srgbClr val="334155"/>
                </a:solidFill>
                <a:latin typeface="Arial"/>
                <a:ea typeface="Arial" pitchFamily="34" charset="-122"/>
                <a:cs typeface="Arial"/>
              </a:rPr>
              <a:t> di "</a:t>
            </a:r>
            <a:r>
              <a:rPr lang="en-US" sz="900" err="1">
                <a:solidFill>
                  <a:srgbClr val="334155"/>
                </a:solidFill>
                <a:latin typeface="Arial"/>
                <a:ea typeface="Arial" pitchFamily="34" charset="-122"/>
                <a:cs typeface="Arial"/>
              </a:rPr>
              <a:t>apprendere</a:t>
            </a:r>
            <a:r>
              <a:rPr lang="en-US" sz="900">
                <a:solidFill>
                  <a:srgbClr val="334155"/>
                </a:solidFill>
                <a:latin typeface="Arial"/>
                <a:ea typeface="Arial" pitchFamily="34" charset="-122"/>
                <a:cs typeface="Arial"/>
              </a:rPr>
              <a:t>" le </a:t>
            </a:r>
            <a:r>
              <a:rPr lang="en-US" sz="900" err="1">
                <a:solidFill>
                  <a:srgbClr val="334155"/>
                </a:solidFill>
                <a:latin typeface="Arial"/>
                <a:ea typeface="Arial" pitchFamily="34" charset="-122"/>
                <a:cs typeface="Arial"/>
              </a:rPr>
              <a:t>correlazioni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nascoste</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dai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dati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storici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dei</a:t>
            </a:r>
            <a:r>
              <a:rPr lang="en-US" sz="900">
                <a:solidFill>
                  <a:srgbClr val="334155"/>
                </a:solidFill>
                <a:latin typeface="Arial"/>
                <a:ea typeface="Arial" pitchFamily="34" charset="-122"/>
                <a:cs typeface="Arial"/>
              </a:rPr>
              <a:t> </a:t>
            </a:r>
            <a:r>
              <a:rPr lang="en-US" sz="900" err="1">
                <a:solidFill>
                  <a:srgbClr val="334155"/>
                </a:solidFill>
                <a:latin typeface="Arial"/>
                <a:ea typeface="Arial" pitchFamily="34" charset="-122"/>
                <a:cs typeface="Arial"/>
              </a:rPr>
              <a:t>progetti</a:t>
            </a:r>
            <a:r>
              <a:rPr lang="en-US" sz="900">
                <a:solidFill>
                  <a:srgbClr val="334155"/>
                </a:solidFill>
                <a:latin typeface="Arial"/>
                <a:ea typeface="Arial" pitchFamily="34" charset="-122"/>
                <a:cs typeface="Arial"/>
              </a:rPr>
              <a:t> software </a:t>
            </a:r>
            <a:r>
              <a:rPr lang="en-US" sz="900" err="1">
                <a:solidFill>
                  <a:srgbClr val="334155"/>
                </a:solidFill>
                <a:latin typeface="Arial"/>
                <a:ea typeface="Arial" pitchFamily="34" charset="-122"/>
                <a:cs typeface="Arial"/>
              </a:rPr>
              <a:t>reali</a:t>
            </a:r>
            <a:r>
              <a:rPr lang="en-US" sz="900">
                <a:solidFill>
                  <a:srgbClr val="334155"/>
                </a:solidFill>
                <a:latin typeface="Arial"/>
                <a:ea typeface="Arial" pitchFamily="34" charset="-122"/>
                <a:cs typeface="Arial"/>
              </a:rPr>
              <a:t>.</a:t>
            </a:r>
            <a:endParaRPr lang="en-US" sz="900">
              <a:latin typeface="Arial"/>
              <a:cs typeface="Arial"/>
            </a:endParaRPr>
          </a:p>
        </p:txBody>
      </p:sp>
      <p:sp>
        <p:nvSpPr>
          <p:cNvPr id="16" name="Shape 14"/>
          <p:cNvSpPr/>
          <p:nvPr/>
        </p:nvSpPr>
        <p:spPr>
          <a:xfrm>
            <a:off x="731520" y="3474720"/>
            <a:ext cx="7680960" cy="1188720"/>
          </a:xfrm>
          <a:prstGeom prst="roundRect">
            <a:avLst>
              <a:gd name="adj" fmla="val 6154"/>
            </a:avLst>
          </a:prstGeom>
          <a:solidFill>
            <a:srgbClr val="FFFFFF"/>
          </a:solidFill>
          <a:ln w="19050">
            <a:solidFill>
              <a:srgbClr val="2563EB"/>
            </a:solidFill>
            <a:prstDash val="solid"/>
          </a:ln>
        </p:spPr>
        <p:txBody>
          <a:bodyPr/>
          <a:lstStyle/>
          <a:p>
            <a:endParaRPr lang="it-IT"/>
          </a:p>
        </p:txBody>
      </p:sp>
      <p:sp>
        <p:nvSpPr>
          <p:cNvPr id="17" name="Text 15"/>
          <p:cNvSpPr txBox="1"/>
          <p:nvPr/>
        </p:nvSpPr>
        <p:spPr>
          <a:xfrm>
            <a:off x="960120" y="3611880"/>
            <a:ext cx="7223760" cy="201168"/>
          </a:xfrm>
          <a:prstGeom prst="rect">
            <a:avLst/>
          </a:prstGeom>
          <a:noFill/>
          <a:ln/>
        </p:spPr>
        <p:txBody>
          <a:bodyPr wrap="square" lIns="0" tIns="0" rIns="0" bIns="0" rtlCol="0" anchor="ctr"/>
          <a:lstStyle/>
          <a:p>
            <a:pPr marL="0" indent="0">
              <a:buNone/>
            </a:pPr>
            <a:r>
              <a:rPr lang="en-US" sz="850" b="1">
                <a:solidFill>
                  <a:srgbClr val="2563EB"/>
                </a:solidFill>
                <a:latin typeface="Arial"/>
                <a:ea typeface="Arial" pitchFamily="34" charset="-122"/>
                <a:cs typeface="Arial"/>
              </a:rPr>
              <a:t>DOMANDA GUIDA</a:t>
            </a:r>
            <a:endParaRPr lang="en-US" sz="850">
              <a:latin typeface="Arial"/>
              <a:cs typeface="Arial"/>
            </a:endParaRPr>
          </a:p>
        </p:txBody>
      </p:sp>
      <p:sp>
        <p:nvSpPr>
          <p:cNvPr id="18" name="Text 16"/>
          <p:cNvSpPr txBox="1"/>
          <p:nvPr/>
        </p:nvSpPr>
        <p:spPr>
          <a:xfrm>
            <a:off x="960120" y="3858768"/>
            <a:ext cx="7223760" cy="685800"/>
          </a:xfrm>
          <a:prstGeom prst="rect">
            <a:avLst/>
          </a:prstGeom>
          <a:noFill/>
          <a:ln/>
        </p:spPr>
        <p:txBody>
          <a:bodyPr wrap="square" lIns="0" tIns="0" rIns="0" bIns="0" rtlCol="0" anchor="ctr"/>
          <a:lstStyle/>
          <a:p>
            <a:pPr marL="0" indent="0">
              <a:lnSpc>
                <a:spcPts val="1600"/>
              </a:lnSpc>
              <a:buNone/>
            </a:pPr>
            <a:r>
              <a:rPr lang="en-US" sz="1100" b="1">
                <a:solidFill>
                  <a:srgbClr val="0F2744"/>
                </a:solidFill>
                <a:latin typeface="Arial"/>
                <a:ea typeface="Arial" pitchFamily="34" charset="-122"/>
                <a:cs typeface="Arial"/>
              </a:rPr>
              <a:t>Come selezionare, riparare e validare un modello di Machine Learning per garantire una stima robusta contro gli outlier storici, priva di bias e con </a:t>
            </a:r>
            <a:r>
              <a:rPr lang="en-US" sz="1100" b="1" err="1">
                <a:solidFill>
                  <a:srgbClr val="0F2744"/>
                </a:solidFill>
                <a:latin typeface="Arial"/>
                <a:ea typeface="Arial" pitchFamily="34" charset="-122"/>
                <a:cs typeface="Arial"/>
              </a:rPr>
              <a:t>un'inferenza</a:t>
            </a:r>
            <a:r>
              <a:rPr lang="en-US" sz="1100" b="1">
                <a:solidFill>
                  <a:srgbClr val="0F2744"/>
                </a:solidFill>
                <a:latin typeface="Arial"/>
                <a:ea typeface="Arial" pitchFamily="34" charset="-122"/>
                <a:cs typeface="Arial"/>
              </a:rPr>
              <a:t> </a:t>
            </a:r>
            <a:r>
              <a:rPr lang="en-US" sz="1100" b="1" err="1">
                <a:solidFill>
                  <a:srgbClr val="0F2744"/>
                </a:solidFill>
                <a:latin typeface="Arial"/>
                <a:ea typeface="Arial" pitchFamily="34" charset="-122"/>
                <a:cs typeface="Arial"/>
              </a:rPr>
              <a:t>integrata</a:t>
            </a:r>
            <a:r>
              <a:rPr lang="en-US" sz="1100" b="1">
                <a:solidFill>
                  <a:srgbClr val="0F2744"/>
                </a:solidFill>
                <a:latin typeface="Arial"/>
                <a:ea typeface="Arial" pitchFamily="34" charset="-122"/>
                <a:cs typeface="Arial"/>
              </a:rPr>
              <a:t> in un </a:t>
            </a:r>
            <a:r>
              <a:rPr lang="en-US" sz="1100" b="1" err="1">
                <a:solidFill>
                  <a:srgbClr val="0F2744"/>
                </a:solidFill>
                <a:latin typeface="Arial"/>
                <a:ea typeface="Arial" pitchFamily="34" charset="-122"/>
                <a:cs typeface="Arial"/>
              </a:rPr>
              <a:t>applicativo</a:t>
            </a:r>
            <a:r>
              <a:rPr lang="en-US" sz="1100" b="1">
                <a:solidFill>
                  <a:srgbClr val="0F2744"/>
                </a:solidFill>
                <a:latin typeface="Arial"/>
                <a:ea typeface="Arial" pitchFamily="34" charset="-122"/>
                <a:cs typeface="Arial"/>
              </a:rPr>
              <a:t> web?</a:t>
            </a:r>
            <a:endParaRPr lang="en-US" sz="11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FONDAMENTI TEORICI DI INGEGNERIA DEL SOFTWARE</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a:solidFill>
                  <a:srgbClr val="0F2744"/>
                </a:solidFill>
                <a:latin typeface="Arial" pitchFamily="34" charset="0"/>
                <a:ea typeface="Arial" pitchFamily="34" charset="-122"/>
                <a:cs typeface="Arial" pitchFamily="34" charset="-120"/>
              </a:rPr>
              <a:t>Lo Studio Teorico: Perché le Linee di Codice Non Bastano</a:t>
            </a:r>
            <a:endParaRPr lang="en-US" sz="1850"/>
          </a:p>
        </p:txBody>
      </p:sp>
      <p:sp>
        <p:nvSpPr>
          <p:cNvPr id="4" name="Shape 2"/>
          <p:cNvSpPr/>
          <p:nvPr/>
        </p:nvSpPr>
        <p:spPr>
          <a:xfrm>
            <a:off x="731520" y="1051560"/>
            <a:ext cx="3703320" cy="3566160"/>
          </a:xfrm>
          <a:prstGeom prst="roundRect">
            <a:avLst>
              <a:gd name="adj" fmla="val 2051"/>
            </a:avLst>
          </a:prstGeom>
          <a:solidFill>
            <a:srgbClr val="FFFFFF"/>
          </a:solidFill>
          <a:ln w="12700">
            <a:solidFill>
              <a:srgbClr val="CBD5E1"/>
            </a:solidFill>
            <a:prstDash val="solid"/>
          </a:ln>
        </p:spPr>
        <p:txBody>
          <a:bodyPr/>
          <a:lstStyle/>
          <a:p>
            <a:endParaRPr lang="it-IT"/>
          </a:p>
        </p:txBody>
      </p:sp>
      <p:sp>
        <p:nvSpPr>
          <p:cNvPr id="5" name="Text 3"/>
          <p:cNvSpPr txBox="1"/>
          <p:nvPr/>
        </p:nvSpPr>
        <p:spPr>
          <a:xfrm>
            <a:off x="914400" y="1234440"/>
            <a:ext cx="3337560" cy="182880"/>
          </a:xfrm>
          <a:prstGeom prst="rect">
            <a:avLst/>
          </a:prstGeom>
          <a:noFill/>
          <a:ln/>
        </p:spPr>
        <p:txBody>
          <a:bodyPr wrap="square" lIns="0" tIns="0" rIns="0" bIns="0" rtlCol="0" anchor="ctr"/>
          <a:lstStyle/>
          <a:p>
            <a:pPr marL="0" indent="0">
              <a:buNone/>
            </a:pPr>
            <a:r>
              <a:rPr lang="en-US" sz="850" b="1">
                <a:solidFill>
                  <a:srgbClr val="D97706"/>
                </a:solidFill>
                <a:latin typeface="Arial" pitchFamily="34" charset="0"/>
                <a:ea typeface="Arial" pitchFamily="34" charset="-122"/>
                <a:cs typeface="Arial" pitchFamily="34" charset="-120"/>
              </a:rPr>
              <a:t>IL CONO D'INCERTEZZA (BARRY BOEHM)</a:t>
            </a:r>
            <a:endParaRPr lang="en-US" sz="850"/>
          </a:p>
        </p:txBody>
      </p:sp>
      <p:sp>
        <p:nvSpPr>
          <p:cNvPr id="6" name="Text 4"/>
          <p:cNvSpPr txBox="1"/>
          <p:nvPr/>
        </p:nvSpPr>
        <p:spPr>
          <a:xfrm>
            <a:off x="914400" y="1444752"/>
            <a:ext cx="333756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L'Incertezza Decresce nel Ciclo di Vita</a:t>
            </a:r>
            <a:endParaRPr lang="en-US" sz="1300"/>
          </a:p>
        </p:txBody>
      </p:sp>
      <p:sp>
        <p:nvSpPr>
          <p:cNvPr id="7" name="Text 5"/>
          <p:cNvSpPr txBox="1"/>
          <p:nvPr/>
        </p:nvSpPr>
        <p:spPr>
          <a:xfrm>
            <a:off x="914400" y="1783080"/>
            <a:ext cx="3337560" cy="502920"/>
          </a:xfrm>
          <a:prstGeom prst="rect">
            <a:avLst/>
          </a:prstGeom>
          <a:noFill/>
          <a:ln/>
        </p:spPr>
        <p:txBody>
          <a:bodyPr wrap="square" lIns="0" tIns="0" rIns="0" bIns="0" rtlCol="0" anchor="ctr"/>
          <a:lstStyle/>
          <a:p>
            <a:pPr marL="0" indent="0">
              <a:lnSpc>
                <a:spcPts val="1200"/>
              </a:lnSpc>
              <a:buNone/>
            </a:pPr>
            <a:r>
              <a:rPr lang="en-US" sz="860">
                <a:solidFill>
                  <a:srgbClr val="334155"/>
                </a:solidFill>
                <a:latin typeface="Arial" pitchFamily="34" charset="0"/>
                <a:ea typeface="Arial" pitchFamily="34" charset="-122"/>
                <a:cs typeface="Arial" pitchFamily="34" charset="-120"/>
              </a:rPr>
              <a:t>Il software è un prodotto logico e immateriale, privo di limiti fisici tangibili. Barry Boehm ha formalizzato il "Cone of Uncertainty":</a:t>
            </a:r>
            <a:endParaRPr lang="en-US" sz="860"/>
          </a:p>
        </p:txBody>
      </p:sp>
      <p:sp>
        <p:nvSpPr>
          <p:cNvPr id="8" name="Shape 6"/>
          <p:cNvSpPr/>
          <p:nvPr/>
        </p:nvSpPr>
        <p:spPr>
          <a:xfrm>
            <a:off x="914400" y="2331720"/>
            <a:ext cx="3337560" cy="384048"/>
          </a:xfrm>
          <a:prstGeom prst="roundRect">
            <a:avLst>
              <a:gd name="adj" fmla="val 9524"/>
            </a:avLst>
          </a:prstGeom>
          <a:solidFill>
            <a:srgbClr val="F8FAFC"/>
          </a:solidFill>
          <a:ln w="6350">
            <a:solidFill>
              <a:srgbClr val="CBD5E1"/>
            </a:solidFill>
            <a:prstDash val="solid"/>
          </a:ln>
        </p:spPr>
        <p:txBody>
          <a:bodyPr/>
          <a:lstStyle/>
          <a:p>
            <a:endParaRPr lang="it-IT"/>
          </a:p>
        </p:txBody>
      </p:sp>
      <p:sp>
        <p:nvSpPr>
          <p:cNvPr id="9" name="Text 7"/>
          <p:cNvSpPr txBox="1"/>
          <p:nvPr/>
        </p:nvSpPr>
        <p:spPr>
          <a:xfrm>
            <a:off x="1005840" y="2404872"/>
            <a:ext cx="1554480" cy="228600"/>
          </a:xfrm>
          <a:prstGeom prst="rect">
            <a:avLst/>
          </a:prstGeom>
          <a:noFill/>
          <a:ln/>
        </p:spPr>
        <p:txBody>
          <a:bodyPr wrap="square" lIns="0" tIns="0" rIns="0" bIns="0" rtlCol="0" anchor="ctr"/>
          <a:lstStyle/>
          <a:p>
            <a:pPr marL="0" indent="0">
              <a:buNone/>
            </a:pPr>
            <a:r>
              <a:rPr lang="en-US" sz="780" b="1">
                <a:solidFill>
                  <a:srgbClr val="0F2744"/>
                </a:solidFill>
                <a:latin typeface="Arial" pitchFamily="34" charset="0"/>
                <a:ea typeface="Arial" pitchFamily="34" charset="-122"/>
                <a:cs typeface="Arial" pitchFamily="34" charset="-120"/>
              </a:rPr>
              <a:t>1. Concept / Fattibilità:</a:t>
            </a:r>
            <a:endParaRPr lang="en-US" sz="780"/>
          </a:p>
        </p:txBody>
      </p:sp>
      <p:sp>
        <p:nvSpPr>
          <p:cNvPr id="10" name="Text 8"/>
          <p:cNvSpPr txBox="1"/>
          <p:nvPr/>
        </p:nvSpPr>
        <p:spPr>
          <a:xfrm>
            <a:off x="2560320" y="2404872"/>
            <a:ext cx="868680" cy="228600"/>
          </a:xfrm>
          <a:prstGeom prst="rect">
            <a:avLst/>
          </a:prstGeom>
          <a:noFill/>
          <a:ln/>
        </p:spPr>
        <p:txBody>
          <a:bodyPr wrap="square" lIns="0" tIns="0" rIns="0" bIns="0" rtlCol="0" anchor="ctr"/>
          <a:lstStyle/>
          <a:p>
            <a:pPr marL="0" indent="0" algn="r">
              <a:buNone/>
            </a:pPr>
            <a:r>
              <a:rPr lang="en-US" sz="780" b="1">
                <a:solidFill>
                  <a:srgbClr val="2563EB"/>
                </a:solidFill>
                <a:latin typeface="Arial" pitchFamily="34" charset="0"/>
                <a:ea typeface="Arial" pitchFamily="34" charset="-122"/>
                <a:cs typeface="Arial" pitchFamily="34" charset="-120"/>
              </a:rPr>
              <a:t>0.25x - 4.0x</a:t>
            </a:r>
            <a:endParaRPr lang="en-US" sz="780"/>
          </a:p>
        </p:txBody>
      </p:sp>
      <p:sp>
        <p:nvSpPr>
          <p:cNvPr id="11" name="Text 9"/>
          <p:cNvSpPr txBox="1"/>
          <p:nvPr/>
        </p:nvSpPr>
        <p:spPr>
          <a:xfrm>
            <a:off x="1005840" y="2532888"/>
            <a:ext cx="2423160" cy="164592"/>
          </a:xfrm>
          <a:prstGeom prst="rect">
            <a:avLst/>
          </a:prstGeom>
          <a:noFill/>
          <a:ln/>
        </p:spPr>
        <p:txBody>
          <a:bodyPr wrap="square" lIns="0" tIns="0" rIns="0" bIns="0" rtlCol="0" anchor="ctr"/>
          <a:lstStyle/>
          <a:p>
            <a:pPr marL="0" indent="0">
              <a:buNone/>
            </a:pPr>
            <a:r>
              <a:rPr lang="en-US" sz="680">
                <a:solidFill>
                  <a:srgbClr val="64748B"/>
                </a:solidFill>
                <a:latin typeface="Arial" pitchFamily="34" charset="0"/>
                <a:ea typeface="Arial" pitchFamily="34" charset="-122"/>
                <a:cs typeface="Arial" pitchFamily="34" charset="-120"/>
              </a:rPr>
              <a:t>Incertezza fino a 16x rispetto alla realtà!</a:t>
            </a:r>
            <a:endParaRPr lang="en-US" sz="680"/>
          </a:p>
        </p:txBody>
      </p:sp>
      <p:sp>
        <p:nvSpPr>
          <p:cNvPr id="12" name="Shape 10"/>
          <p:cNvSpPr/>
          <p:nvPr/>
        </p:nvSpPr>
        <p:spPr>
          <a:xfrm>
            <a:off x="914400" y="2770632"/>
            <a:ext cx="3337560" cy="384048"/>
          </a:xfrm>
          <a:prstGeom prst="roundRect">
            <a:avLst>
              <a:gd name="adj" fmla="val 9524"/>
            </a:avLst>
          </a:prstGeom>
          <a:solidFill>
            <a:srgbClr val="F8FAFC"/>
          </a:solidFill>
          <a:ln w="6350">
            <a:solidFill>
              <a:srgbClr val="CBD5E1"/>
            </a:solidFill>
            <a:prstDash val="solid"/>
          </a:ln>
        </p:spPr>
        <p:txBody>
          <a:bodyPr/>
          <a:lstStyle/>
          <a:p>
            <a:endParaRPr lang="it-IT"/>
          </a:p>
        </p:txBody>
      </p:sp>
      <p:sp>
        <p:nvSpPr>
          <p:cNvPr id="13" name="Text 11"/>
          <p:cNvSpPr txBox="1"/>
          <p:nvPr/>
        </p:nvSpPr>
        <p:spPr>
          <a:xfrm>
            <a:off x="1005840" y="2843784"/>
            <a:ext cx="1554480" cy="228600"/>
          </a:xfrm>
          <a:prstGeom prst="rect">
            <a:avLst/>
          </a:prstGeom>
          <a:noFill/>
          <a:ln/>
        </p:spPr>
        <p:txBody>
          <a:bodyPr wrap="square" lIns="0" tIns="0" rIns="0" bIns="0" rtlCol="0" anchor="ctr"/>
          <a:lstStyle/>
          <a:p>
            <a:pPr marL="0" indent="0">
              <a:buNone/>
            </a:pPr>
            <a:r>
              <a:rPr lang="en-US" sz="780" b="1">
                <a:solidFill>
                  <a:srgbClr val="0F2744"/>
                </a:solidFill>
                <a:latin typeface="Arial" pitchFamily="34" charset="0"/>
                <a:ea typeface="Arial" pitchFamily="34" charset="-122"/>
                <a:cs typeface="Arial" pitchFamily="34" charset="-120"/>
              </a:rPr>
              <a:t>2. Specifica Requisiti:</a:t>
            </a:r>
            <a:endParaRPr lang="en-US" sz="780"/>
          </a:p>
        </p:txBody>
      </p:sp>
      <p:sp>
        <p:nvSpPr>
          <p:cNvPr id="14" name="Text 12"/>
          <p:cNvSpPr txBox="1"/>
          <p:nvPr/>
        </p:nvSpPr>
        <p:spPr>
          <a:xfrm>
            <a:off x="2560320" y="2843784"/>
            <a:ext cx="868680" cy="228600"/>
          </a:xfrm>
          <a:prstGeom prst="rect">
            <a:avLst/>
          </a:prstGeom>
          <a:noFill/>
          <a:ln/>
        </p:spPr>
        <p:txBody>
          <a:bodyPr wrap="square" lIns="0" tIns="0" rIns="0" bIns="0" rtlCol="0" anchor="ctr"/>
          <a:lstStyle/>
          <a:p>
            <a:pPr marL="0" indent="0" algn="r">
              <a:buNone/>
            </a:pPr>
            <a:r>
              <a:rPr lang="en-US" sz="780" b="1">
                <a:solidFill>
                  <a:srgbClr val="2563EB"/>
                </a:solidFill>
                <a:latin typeface="Arial" pitchFamily="34" charset="0"/>
                <a:ea typeface="Arial" pitchFamily="34" charset="-122"/>
                <a:cs typeface="Arial" pitchFamily="34" charset="-120"/>
              </a:rPr>
              <a:t>0.5x - 2.0x</a:t>
            </a:r>
            <a:endParaRPr lang="en-US" sz="780"/>
          </a:p>
        </p:txBody>
      </p:sp>
      <p:sp>
        <p:nvSpPr>
          <p:cNvPr id="15" name="Text 13"/>
          <p:cNvSpPr txBox="1"/>
          <p:nvPr/>
        </p:nvSpPr>
        <p:spPr>
          <a:xfrm>
            <a:off x="1005840" y="2971800"/>
            <a:ext cx="2423160" cy="164592"/>
          </a:xfrm>
          <a:prstGeom prst="rect">
            <a:avLst/>
          </a:prstGeom>
          <a:noFill/>
          <a:ln/>
        </p:spPr>
        <p:txBody>
          <a:bodyPr wrap="square" lIns="0" tIns="0" rIns="0" bIns="0" rtlCol="0" anchor="ctr"/>
          <a:lstStyle/>
          <a:p>
            <a:pPr marL="0" indent="0">
              <a:buNone/>
            </a:pPr>
            <a:r>
              <a:rPr lang="en-US" sz="680">
                <a:solidFill>
                  <a:srgbClr val="64748B"/>
                </a:solidFill>
                <a:latin typeface="Arial" pitchFamily="34" charset="0"/>
                <a:ea typeface="Arial" pitchFamily="34" charset="-122"/>
                <a:cs typeface="Arial" pitchFamily="34" charset="-120"/>
              </a:rPr>
              <a:t>Definendo interfacce e flussi si contrae.</a:t>
            </a:r>
            <a:endParaRPr lang="en-US" sz="680"/>
          </a:p>
        </p:txBody>
      </p:sp>
      <p:sp>
        <p:nvSpPr>
          <p:cNvPr id="16" name="Shape 14"/>
          <p:cNvSpPr/>
          <p:nvPr/>
        </p:nvSpPr>
        <p:spPr>
          <a:xfrm>
            <a:off x="914400" y="3209544"/>
            <a:ext cx="3337560" cy="384048"/>
          </a:xfrm>
          <a:prstGeom prst="roundRect">
            <a:avLst>
              <a:gd name="adj" fmla="val 9524"/>
            </a:avLst>
          </a:prstGeom>
          <a:solidFill>
            <a:srgbClr val="F8FAFC"/>
          </a:solidFill>
          <a:ln w="6350">
            <a:solidFill>
              <a:srgbClr val="CBD5E1"/>
            </a:solidFill>
            <a:prstDash val="solid"/>
          </a:ln>
        </p:spPr>
        <p:txBody>
          <a:bodyPr/>
          <a:lstStyle/>
          <a:p>
            <a:endParaRPr lang="it-IT"/>
          </a:p>
        </p:txBody>
      </p:sp>
      <p:sp>
        <p:nvSpPr>
          <p:cNvPr id="17" name="Text 15"/>
          <p:cNvSpPr txBox="1"/>
          <p:nvPr/>
        </p:nvSpPr>
        <p:spPr>
          <a:xfrm>
            <a:off x="1005840" y="3282696"/>
            <a:ext cx="1554480" cy="228600"/>
          </a:xfrm>
          <a:prstGeom prst="rect">
            <a:avLst/>
          </a:prstGeom>
          <a:noFill/>
          <a:ln/>
        </p:spPr>
        <p:txBody>
          <a:bodyPr wrap="square" lIns="0" tIns="0" rIns="0" bIns="0" rtlCol="0" anchor="ctr"/>
          <a:lstStyle/>
          <a:p>
            <a:pPr marL="0" indent="0">
              <a:buNone/>
            </a:pPr>
            <a:r>
              <a:rPr lang="en-US" sz="780" b="1">
                <a:solidFill>
                  <a:srgbClr val="0F2744"/>
                </a:solidFill>
                <a:latin typeface="Arial" pitchFamily="34" charset="0"/>
                <a:ea typeface="Arial" pitchFamily="34" charset="-122"/>
                <a:cs typeface="Arial" pitchFamily="34" charset="-120"/>
              </a:rPr>
              <a:t>3. Architettura &amp; Design:</a:t>
            </a:r>
            <a:endParaRPr lang="en-US" sz="780"/>
          </a:p>
        </p:txBody>
      </p:sp>
      <p:sp>
        <p:nvSpPr>
          <p:cNvPr id="18" name="Text 16"/>
          <p:cNvSpPr txBox="1"/>
          <p:nvPr/>
        </p:nvSpPr>
        <p:spPr>
          <a:xfrm>
            <a:off x="2560320" y="3282696"/>
            <a:ext cx="868680" cy="228600"/>
          </a:xfrm>
          <a:prstGeom prst="rect">
            <a:avLst/>
          </a:prstGeom>
          <a:noFill/>
          <a:ln/>
        </p:spPr>
        <p:txBody>
          <a:bodyPr wrap="square" lIns="0" tIns="0" rIns="0" bIns="0" rtlCol="0" anchor="ctr"/>
          <a:lstStyle/>
          <a:p>
            <a:pPr marL="0" indent="0" algn="r">
              <a:buNone/>
            </a:pPr>
            <a:r>
              <a:rPr lang="en-US" sz="780" b="1">
                <a:solidFill>
                  <a:srgbClr val="2563EB"/>
                </a:solidFill>
                <a:latin typeface="Arial" pitchFamily="34" charset="0"/>
                <a:ea typeface="Arial" pitchFamily="34" charset="-122"/>
                <a:cs typeface="Arial" pitchFamily="34" charset="-120"/>
              </a:rPr>
              <a:t>0.7x - 1.4x</a:t>
            </a:r>
            <a:endParaRPr lang="en-US" sz="780"/>
          </a:p>
        </p:txBody>
      </p:sp>
      <p:sp>
        <p:nvSpPr>
          <p:cNvPr id="19" name="Text 17"/>
          <p:cNvSpPr txBox="1"/>
          <p:nvPr/>
        </p:nvSpPr>
        <p:spPr>
          <a:xfrm>
            <a:off x="1005840" y="3410712"/>
            <a:ext cx="2423160" cy="164592"/>
          </a:xfrm>
          <a:prstGeom prst="rect">
            <a:avLst/>
          </a:prstGeom>
          <a:noFill/>
          <a:ln/>
        </p:spPr>
        <p:txBody>
          <a:bodyPr wrap="square" lIns="0" tIns="0" rIns="0" bIns="0" rtlCol="0" anchor="ctr"/>
          <a:lstStyle/>
          <a:p>
            <a:pPr marL="0" indent="0">
              <a:buNone/>
            </a:pPr>
            <a:r>
              <a:rPr lang="en-US" sz="680">
                <a:solidFill>
                  <a:srgbClr val="64748B"/>
                </a:solidFill>
                <a:latin typeface="Arial" pitchFamily="34" charset="0"/>
                <a:ea typeface="Arial" pitchFamily="34" charset="-122"/>
                <a:cs typeface="Arial" pitchFamily="34" charset="-120"/>
              </a:rPr>
              <a:t>Componenti logici e strutture dati stabili.</a:t>
            </a:r>
            <a:endParaRPr lang="en-US" sz="680"/>
          </a:p>
        </p:txBody>
      </p:sp>
      <p:sp>
        <p:nvSpPr>
          <p:cNvPr id="20" name="Shape 18"/>
          <p:cNvSpPr/>
          <p:nvPr/>
        </p:nvSpPr>
        <p:spPr>
          <a:xfrm>
            <a:off x="914400" y="3648456"/>
            <a:ext cx="3337560" cy="384048"/>
          </a:xfrm>
          <a:prstGeom prst="roundRect">
            <a:avLst>
              <a:gd name="adj" fmla="val 9524"/>
            </a:avLst>
          </a:prstGeom>
          <a:solidFill>
            <a:srgbClr val="F8FAFC"/>
          </a:solidFill>
          <a:ln w="6350">
            <a:solidFill>
              <a:srgbClr val="CBD5E1"/>
            </a:solidFill>
            <a:prstDash val="solid"/>
          </a:ln>
        </p:spPr>
        <p:txBody>
          <a:bodyPr/>
          <a:lstStyle/>
          <a:p>
            <a:endParaRPr lang="it-IT"/>
          </a:p>
        </p:txBody>
      </p:sp>
      <p:sp>
        <p:nvSpPr>
          <p:cNvPr id="21" name="Text 19"/>
          <p:cNvSpPr txBox="1"/>
          <p:nvPr/>
        </p:nvSpPr>
        <p:spPr>
          <a:xfrm>
            <a:off x="1005840" y="3721608"/>
            <a:ext cx="1554480" cy="228600"/>
          </a:xfrm>
          <a:prstGeom prst="rect">
            <a:avLst/>
          </a:prstGeom>
          <a:noFill/>
          <a:ln/>
        </p:spPr>
        <p:txBody>
          <a:bodyPr wrap="square" lIns="0" tIns="0" rIns="0" bIns="0" rtlCol="0" anchor="ctr"/>
          <a:lstStyle/>
          <a:p>
            <a:pPr marL="0" indent="0">
              <a:buNone/>
            </a:pPr>
            <a:r>
              <a:rPr lang="en-US" sz="780" b="1">
                <a:solidFill>
                  <a:srgbClr val="0F2744"/>
                </a:solidFill>
                <a:latin typeface="Arial" pitchFamily="34" charset="0"/>
                <a:ea typeface="Arial" pitchFamily="34" charset="-122"/>
                <a:cs typeface="Arial" pitchFamily="34" charset="-120"/>
              </a:rPr>
              <a:t>4. Consegna &amp; Rilascio:</a:t>
            </a:r>
            <a:endParaRPr lang="en-US" sz="780"/>
          </a:p>
        </p:txBody>
      </p:sp>
      <p:sp>
        <p:nvSpPr>
          <p:cNvPr id="22" name="Text 20"/>
          <p:cNvSpPr txBox="1"/>
          <p:nvPr/>
        </p:nvSpPr>
        <p:spPr>
          <a:xfrm>
            <a:off x="2560320" y="3721608"/>
            <a:ext cx="868680" cy="228600"/>
          </a:xfrm>
          <a:prstGeom prst="rect">
            <a:avLst/>
          </a:prstGeom>
          <a:noFill/>
          <a:ln/>
        </p:spPr>
        <p:txBody>
          <a:bodyPr wrap="square" lIns="0" tIns="0" rIns="0" bIns="0" rtlCol="0" anchor="ctr"/>
          <a:lstStyle/>
          <a:p>
            <a:pPr marL="0" indent="0" algn="r">
              <a:buNone/>
            </a:pPr>
            <a:r>
              <a:rPr lang="en-US" sz="780" b="1">
                <a:solidFill>
                  <a:srgbClr val="2563EB"/>
                </a:solidFill>
                <a:latin typeface="Arial" pitchFamily="34" charset="0"/>
                <a:ea typeface="Arial" pitchFamily="34" charset="-122"/>
                <a:cs typeface="Arial" pitchFamily="34" charset="-120"/>
              </a:rPr>
              <a:t>1.0x (Reale)</a:t>
            </a:r>
            <a:endParaRPr lang="en-US" sz="780"/>
          </a:p>
        </p:txBody>
      </p:sp>
      <p:sp>
        <p:nvSpPr>
          <p:cNvPr id="23" name="Text 21"/>
          <p:cNvSpPr txBox="1"/>
          <p:nvPr/>
        </p:nvSpPr>
        <p:spPr>
          <a:xfrm>
            <a:off x="1005840" y="3849624"/>
            <a:ext cx="2423160" cy="164592"/>
          </a:xfrm>
          <a:prstGeom prst="rect">
            <a:avLst/>
          </a:prstGeom>
          <a:noFill/>
          <a:ln/>
        </p:spPr>
        <p:txBody>
          <a:bodyPr wrap="square" lIns="0" tIns="0" rIns="0" bIns="0" rtlCol="0" anchor="ctr"/>
          <a:lstStyle/>
          <a:p>
            <a:pPr marL="0" indent="0">
              <a:buNone/>
            </a:pPr>
            <a:r>
              <a:rPr lang="en-US" sz="680">
                <a:solidFill>
                  <a:srgbClr val="64748B"/>
                </a:solidFill>
                <a:latin typeface="Arial" pitchFamily="34" charset="0"/>
                <a:ea typeface="Arial" pitchFamily="34" charset="-122"/>
                <a:cs typeface="Arial" pitchFamily="34" charset="-120"/>
              </a:rPr>
              <a:t>L'incertezza converge al valore effettivo.</a:t>
            </a:r>
            <a:endParaRPr lang="en-US" sz="680"/>
          </a:p>
        </p:txBody>
      </p:sp>
      <p:sp>
        <p:nvSpPr>
          <p:cNvPr id="24" name="Shape 22"/>
          <p:cNvSpPr/>
          <p:nvPr/>
        </p:nvSpPr>
        <p:spPr>
          <a:xfrm>
            <a:off x="914400" y="4133088"/>
            <a:ext cx="3337560" cy="384048"/>
          </a:xfrm>
          <a:prstGeom prst="roundRect">
            <a:avLst>
              <a:gd name="adj" fmla="val 9524"/>
            </a:avLst>
          </a:prstGeom>
          <a:solidFill>
            <a:srgbClr val="EFF6FF"/>
          </a:solidFill>
          <a:ln/>
        </p:spPr>
        <p:txBody>
          <a:bodyPr/>
          <a:lstStyle/>
          <a:p>
            <a:endParaRPr lang="it-IT"/>
          </a:p>
        </p:txBody>
      </p:sp>
      <p:sp>
        <p:nvSpPr>
          <p:cNvPr id="25" name="Text 23"/>
          <p:cNvSpPr txBox="1"/>
          <p:nvPr/>
        </p:nvSpPr>
        <p:spPr>
          <a:xfrm>
            <a:off x="1005840" y="4206240"/>
            <a:ext cx="3154680" cy="237744"/>
          </a:xfrm>
          <a:prstGeom prst="rect">
            <a:avLst/>
          </a:prstGeom>
          <a:noFill/>
          <a:ln/>
        </p:spPr>
        <p:txBody>
          <a:bodyPr wrap="square" lIns="0" tIns="0" rIns="0" bIns="0" rtlCol="0" anchor="ctr"/>
          <a:lstStyle/>
          <a:p>
            <a:pPr marL="0" indent="0">
              <a:buNone/>
            </a:pPr>
            <a:r>
              <a:rPr lang="en-US" sz="750" b="1">
                <a:solidFill>
                  <a:srgbClr val="0F2744"/>
                </a:solidFill>
                <a:latin typeface="Arial" pitchFamily="34" charset="0"/>
                <a:ea typeface="Arial" pitchFamily="34" charset="-122"/>
                <a:cs typeface="Arial" pitchFamily="34" charset="-120"/>
              </a:rPr>
              <a:t>IMPLICAZIONE: Il PM deve decidere a concept, nel punto di massima incertezza.</a:t>
            </a:r>
            <a:endParaRPr lang="en-US" sz="750"/>
          </a:p>
        </p:txBody>
      </p:sp>
      <p:sp>
        <p:nvSpPr>
          <p:cNvPr id="26" name="Shape 24"/>
          <p:cNvSpPr/>
          <p:nvPr/>
        </p:nvSpPr>
        <p:spPr>
          <a:xfrm>
            <a:off x="4709160" y="1051560"/>
            <a:ext cx="3703320" cy="3566160"/>
          </a:xfrm>
          <a:prstGeom prst="roundRect">
            <a:avLst>
              <a:gd name="adj" fmla="val 2051"/>
            </a:avLst>
          </a:prstGeom>
          <a:solidFill>
            <a:srgbClr val="FFFFFF"/>
          </a:solidFill>
          <a:ln w="12700">
            <a:solidFill>
              <a:srgbClr val="CBD5E1"/>
            </a:solidFill>
            <a:prstDash val="solid"/>
          </a:ln>
        </p:spPr>
        <p:txBody>
          <a:bodyPr/>
          <a:lstStyle/>
          <a:p>
            <a:endParaRPr lang="it-IT"/>
          </a:p>
        </p:txBody>
      </p:sp>
      <p:sp>
        <p:nvSpPr>
          <p:cNvPr id="27" name="Text 25"/>
          <p:cNvSpPr txBox="1"/>
          <p:nvPr/>
        </p:nvSpPr>
        <p:spPr>
          <a:xfrm>
            <a:off x="4892040" y="1234440"/>
            <a:ext cx="3337560" cy="182880"/>
          </a:xfrm>
          <a:prstGeom prst="rect">
            <a:avLst/>
          </a:prstGeom>
          <a:noFill/>
          <a:ln/>
        </p:spPr>
        <p:txBody>
          <a:bodyPr wrap="square" lIns="0" tIns="0" rIns="0" bIns="0" rtlCol="0" anchor="ctr"/>
          <a:lstStyle/>
          <a:p>
            <a:pPr marL="0" indent="0">
              <a:buNone/>
            </a:pPr>
            <a:r>
              <a:rPr lang="en-US" sz="850" b="1">
                <a:solidFill>
                  <a:srgbClr val="DC2626"/>
                </a:solidFill>
                <a:latin typeface="Arial" pitchFamily="34" charset="0"/>
                <a:ea typeface="Arial" pitchFamily="34" charset="-122"/>
                <a:cs typeface="Arial" pitchFamily="34" charset="-120"/>
              </a:rPr>
              <a:t>LE RIGHE DI CODICE (LOC) SONO FORVIANTI A PREVENTIVO</a:t>
            </a:r>
            <a:endParaRPr lang="en-US" sz="850"/>
          </a:p>
        </p:txBody>
      </p:sp>
      <p:sp>
        <p:nvSpPr>
          <p:cNvPr id="28" name="Text 26"/>
          <p:cNvSpPr txBox="1"/>
          <p:nvPr/>
        </p:nvSpPr>
        <p:spPr>
          <a:xfrm>
            <a:off x="4892040" y="1444752"/>
            <a:ext cx="333756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I 4 Difetti Strutturali delle LOC</a:t>
            </a:r>
            <a:endParaRPr lang="en-US" sz="1300"/>
          </a:p>
        </p:txBody>
      </p:sp>
      <p:sp>
        <p:nvSpPr>
          <p:cNvPr id="29" name="Shape 27"/>
          <p:cNvSpPr/>
          <p:nvPr/>
        </p:nvSpPr>
        <p:spPr>
          <a:xfrm>
            <a:off x="4892040" y="1874520"/>
            <a:ext cx="3337560" cy="420624"/>
          </a:xfrm>
          <a:prstGeom prst="roundRect">
            <a:avLst>
              <a:gd name="adj" fmla="val 8696"/>
            </a:avLst>
          </a:prstGeom>
          <a:solidFill>
            <a:srgbClr val="FEF2F2"/>
          </a:solidFill>
          <a:ln w="6350">
            <a:solidFill>
              <a:srgbClr val="FECACA"/>
            </a:solidFill>
            <a:prstDash val="solid"/>
          </a:ln>
        </p:spPr>
        <p:txBody>
          <a:bodyPr/>
          <a:lstStyle/>
          <a:p>
            <a:endParaRPr lang="it-IT"/>
          </a:p>
        </p:txBody>
      </p:sp>
      <p:sp>
        <p:nvSpPr>
          <p:cNvPr id="30" name="Text 28"/>
          <p:cNvSpPr txBox="1"/>
          <p:nvPr/>
        </p:nvSpPr>
        <p:spPr>
          <a:xfrm>
            <a:off x="4983480" y="1920240"/>
            <a:ext cx="3154680" cy="182880"/>
          </a:xfrm>
          <a:prstGeom prst="rect">
            <a:avLst/>
          </a:prstGeom>
          <a:noFill/>
          <a:ln/>
        </p:spPr>
        <p:txBody>
          <a:bodyPr wrap="square" lIns="0" tIns="0" rIns="0" bIns="0" rtlCol="0" anchor="ctr"/>
          <a:lstStyle/>
          <a:p>
            <a:pPr marL="0" indent="0">
              <a:buNone/>
            </a:pPr>
            <a:r>
              <a:rPr lang="en-US" sz="820" b="1">
                <a:solidFill>
                  <a:srgbClr val="DC2626"/>
                </a:solidFill>
                <a:latin typeface="Arial" pitchFamily="34" charset="0"/>
                <a:ea typeface="Arial" pitchFamily="34" charset="-122"/>
                <a:cs typeface="Arial" pitchFamily="34" charset="-120"/>
              </a:rPr>
              <a:t>1. Inapplicabilità iniziale:</a:t>
            </a:r>
            <a:endParaRPr lang="en-US" sz="820"/>
          </a:p>
        </p:txBody>
      </p:sp>
      <p:sp>
        <p:nvSpPr>
          <p:cNvPr id="31" name="Text 29"/>
          <p:cNvSpPr txBox="1"/>
          <p:nvPr/>
        </p:nvSpPr>
        <p:spPr>
          <a:xfrm>
            <a:off x="4983480" y="2075688"/>
            <a:ext cx="3154680" cy="182880"/>
          </a:xfrm>
          <a:prstGeom prst="rect">
            <a:avLst/>
          </a:prstGeom>
          <a:noFill/>
          <a:ln/>
        </p:spPr>
        <p:txBody>
          <a:bodyPr wrap="square" lIns="0" tIns="0" rIns="0" bIns="0" rtlCol="0" anchor="ctr"/>
          <a:lstStyle/>
          <a:p>
            <a:pPr marL="0" indent="0">
              <a:buNone/>
            </a:pPr>
            <a:r>
              <a:rPr lang="en-US" sz="780">
                <a:solidFill>
                  <a:srgbClr val="334155"/>
                </a:solidFill>
                <a:latin typeface="Arial" pitchFamily="34" charset="0"/>
                <a:ea typeface="Arial" pitchFamily="34" charset="-122"/>
                <a:cs typeface="Arial" pitchFamily="34" charset="-120"/>
              </a:rPr>
              <a:t>Alla stipula del preventivo il codice sorgente è pari a 0 righe.</a:t>
            </a:r>
            <a:endParaRPr lang="en-US" sz="780"/>
          </a:p>
        </p:txBody>
      </p:sp>
      <p:sp>
        <p:nvSpPr>
          <p:cNvPr id="32" name="Shape 30"/>
          <p:cNvSpPr/>
          <p:nvPr/>
        </p:nvSpPr>
        <p:spPr>
          <a:xfrm>
            <a:off x="4892040" y="2350008"/>
            <a:ext cx="3337560" cy="420624"/>
          </a:xfrm>
          <a:prstGeom prst="roundRect">
            <a:avLst>
              <a:gd name="adj" fmla="val 8696"/>
            </a:avLst>
          </a:prstGeom>
          <a:solidFill>
            <a:srgbClr val="FEF2F2"/>
          </a:solidFill>
          <a:ln w="6350">
            <a:solidFill>
              <a:srgbClr val="FECACA"/>
            </a:solidFill>
            <a:prstDash val="solid"/>
          </a:ln>
        </p:spPr>
        <p:txBody>
          <a:bodyPr/>
          <a:lstStyle/>
          <a:p>
            <a:endParaRPr lang="it-IT"/>
          </a:p>
        </p:txBody>
      </p:sp>
      <p:sp>
        <p:nvSpPr>
          <p:cNvPr id="33" name="Text 31"/>
          <p:cNvSpPr txBox="1"/>
          <p:nvPr/>
        </p:nvSpPr>
        <p:spPr>
          <a:xfrm>
            <a:off x="4983480" y="2395728"/>
            <a:ext cx="3154680" cy="182880"/>
          </a:xfrm>
          <a:prstGeom prst="rect">
            <a:avLst/>
          </a:prstGeom>
          <a:noFill/>
          <a:ln/>
        </p:spPr>
        <p:txBody>
          <a:bodyPr wrap="square" lIns="0" tIns="0" rIns="0" bIns="0" rtlCol="0" anchor="ctr"/>
          <a:lstStyle/>
          <a:p>
            <a:pPr marL="0" indent="0">
              <a:buNone/>
            </a:pPr>
            <a:r>
              <a:rPr lang="en-US" sz="820" b="1">
                <a:solidFill>
                  <a:srgbClr val="DC2626"/>
                </a:solidFill>
                <a:latin typeface="Arial" pitchFamily="34" charset="0"/>
                <a:ea typeface="Arial" pitchFamily="34" charset="-122"/>
                <a:cs typeface="Arial" pitchFamily="34" charset="-120"/>
              </a:rPr>
              <a:t>2. Dipendenza dal linguaggio:</a:t>
            </a:r>
            <a:endParaRPr lang="en-US" sz="820"/>
          </a:p>
        </p:txBody>
      </p:sp>
      <p:sp>
        <p:nvSpPr>
          <p:cNvPr id="34" name="Text 32"/>
          <p:cNvSpPr txBox="1"/>
          <p:nvPr/>
        </p:nvSpPr>
        <p:spPr>
          <a:xfrm>
            <a:off x="4983480" y="2551176"/>
            <a:ext cx="3154680" cy="182880"/>
          </a:xfrm>
          <a:prstGeom prst="rect">
            <a:avLst/>
          </a:prstGeom>
          <a:noFill/>
          <a:ln/>
        </p:spPr>
        <p:txBody>
          <a:bodyPr wrap="square" lIns="0" tIns="0" rIns="0" bIns="0" rtlCol="0" anchor="ctr"/>
          <a:lstStyle/>
          <a:p>
            <a:pPr marL="0" indent="0">
              <a:buNone/>
            </a:pPr>
            <a:r>
              <a:rPr lang="en-US" sz="780">
                <a:solidFill>
                  <a:srgbClr val="334155"/>
                </a:solidFill>
                <a:latin typeface="Arial" pitchFamily="34" charset="0"/>
                <a:ea typeface="Arial" pitchFamily="34" charset="-122"/>
                <a:cs typeface="Arial" pitchFamily="34" charset="-120"/>
              </a:rPr>
              <a:t>La stessa funzione richiede 1.000 righe in C e 50 in Python.</a:t>
            </a:r>
            <a:endParaRPr lang="en-US" sz="780"/>
          </a:p>
        </p:txBody>
      </p:sp>
      <p:sp>
        <p:nvSpPr>
          <p:cNvPr id="35" name="Shape 33"/>
          <p:cNvSpPr/>
          <p:nvPr/>
        </p:nvSpPr>
        <p:spPr>
          <a:xfrm>
            <a:off x="4892040" y="2825496"/>
            <a:ext cx="3337560" cy="420624"/>
          </a:xfrm>
          <a:prstGeom prst="roundRect">
            <a:avLst>
              <a:gd name="adj" fmla="val 8696"/>
            </a:avLst>
          </a:prstGeom>
          <a:solidFill>
            <a:srgbClr val="FEF2F2"/>
          </a:solidFill>
          <a:ln w="6350">
            <a:solidFill>
              <a:srgbClr val="FECACA"/>
            </a:solidFill>
            <a:prstDash val="solid"/>
          </a:ln>
        </p:spPr>
        <p:txBody>
          <a:bodyPr/>
          <a:lstStyle/>
          <a:p>
            <a:endParaRPr lang="it-IT"/>
          </a:p>
        </p:txBody>
      </p:sp>
      <p:sp>
        <p:nvSpPr>
          <p:cNvPr id="36" name="Text 34"/>
          <p:cNvSpPr txBox="1"/>
          <p:nvPr/>
        </p:nvSpPr>
        <p:spPr>
          <a:xfrm>
            <a:off x="4983480" y="2871216"/>
            <a:ext cx="3154680" cy="182880"/>
          </a:xfrm>
          <a:prstGeom prst="rect">
            <a:avLst/>
          </a:prstGeom>
          <a:noFill/>
          <a:ln/>
        </p:spPr>
        <p:txBody>
          <a:bodyPr wrap="square" lIns="0" tIns="0" rIns="0" bIns="0" rtlCol="0" anchor="ctr"/>
          <a:lstStyle/>
          <a:p>
            <a:pPr marL="0" indent="0">
              <a:buNone/>
            </a:pPr>
            <a:r>
              <a:rPr lang="en-US" sz="820" b="1">
                <a:solidFill>
                  <a:srgbClr val="DC2626"/>
                </a:solidFill>
                <a:latin typeface="Arial" pitchFamily="34" charset="0"/>
                <a:ea typeface="Arial" pitchFamily="34" charset="-122"/>
                <a:cs typeface="Arial" pitchFamily="34" charset="-120"/>
              </a:rPr>
              <a:t>3. Disincentivo alla qualità:</a:t>
            </a:r>
            <a:endParaRPr lang="en-US" sz="820"/>
          </a:p>
        </p:txBody>
      </p:sp>
      <p:sp>
        <p:nvSpPr>
          <p:cNvPr id="37" name="Text 35"/>
          <p:cNvSpPr txBox="1"/>
          <p:nvPr/>
        </p:nvSpPr>
        <p:spPr>
          <a:xfrm>
            <a:off x="4983480" y="3026664"/>
            <a:ext cx="3154680" cy="182880"/>
          </a:xfrm>
          <a:prstGeom prst="rect">
            <a:avLst/>
          </a:prstGeom>
          <a:noFill/>
          <a:ln/>
        </p:spPr>
        <p:txBody>
          <a:bodyPr wrap="square" lIns="0" tIns="0" rIns="0" bIns="0" rtlCol="0" anchor="ctr"/>
          <a:lstStyle/>
          <a:p>
            <a:pPr marL="0" indent="0">
              <a:buNone/>
            </a:pPr>
            <a:r>
              <a:rPr lang="en-US" sz="780">
                <a:solidFill>
                  <a:srgbClr val="334155"/>
                </a:solidFill>
                <a:latin typeface="Arial" pitchFamily="34" charset="0"/>
                <a:ea typeface="Arial" pitchFamily="34" charset="-122"/>
                <a:cs typeface="Arial" pitchFamily="34" charset="-120"/>
              </a:rPr>
              <a:t>Premia il codice prolisso e penalizza riuso e modularità.</a:t>
            </a:r>
            <a:endParaRPr lang="en-US" sz="780"/>
          </a:p>
        </p:txBody>
      </p:sp>
      <p:sp>
        <p:nvSpPr>
          <p:cNvPr id="38" name="Shape 36"/>
          <p:cNvSpPr/>
          <p:nvPr/>
        </p:nvSpPr>
        <p:spPr>
          <a:xfrm>
            <a:off x="4892040" y="3300984"/>
            <a:ext cx="3337560" cy="420624"/>
          </a:xfrm>
          <a:prstGeom prst="roundRect">
            <a:avLst>
              <a:gd name="adj" fmla="val 8696"/>
            </a:avLst>
          </a:prstGeom>
          <a:solidFill>
            <a:srgbClr val="FEF2F2"/>
          </a:solidFill>
          <a:ln w="6350">
            <a:solidFill>
              <a:srgbClr val="FECACA"/>
            </a:solidFill>
            <a:prstDash val="solid"/>
          </a:ln>
        </p:spPr>
        <p:txBody>
          <a:bodyPr/>
          <a:lstStyle/>
          <a:p>
            <a:endParaRPr lang="it-IT"/>
          </a:p>
        </p:txBody>
      </p:sp>
      <p:sp>
        <p:nvSpPr>
          <p:cNvPr id="39" name="Text 37"/>
          <p:cNvSpPr txBox="1"/>
          <p:nvPr/>
        </p:nvSpPr>
        <p:spPr>
          <a:xfrm>
            <a:off x="4983480" y="3346704"/>
            <a:ext cx="3154680" cy="182880"/>
          </a:xfrm>
          <a:prstGeom prst="rect">
            <a:avLst/>
          </a:prstGeom>
          <a:noFill/>
          <a:ln/>
        </p:spPr>
        <p:txBody>
          <a:bodyPr wrap="square" lIns="0" tIns="0" rIns="0" bIns="0" rtlCol="0" anchor="ctr"/>
          <a:lstStyle/>
          <a:p>
            <a:pPr marL="0" indent="0">
              <a:buNone/>
            </a:pPr>
            <a:r>
              <a:rPr lang="en-US" sz="820" b="1">
                <a:solidFill>
                  <a:srgbClr val="DC2626"/>
                </a:solidFill>
                <a:latin typeface="Arial" pitchFamily="34" charset="0"/>
                <a:ea typeface="Arial" pitchFamily="34" charset="-122"/>
                <a:cs typeface="Arial" pitchFamily="34" charset="-120"/>
              </a:rPr>
              <a:t>4. Ambiguità di definizione:</a:t>
            </a:r>
            <a:endParaRPr lang="en-US" sz="820"/>
          </a:p>
        </p:txBody>
      </p:sp>
      <p:sp>
        <p:nvSpPr>
          <p:cNvPr id="40" name="Text 38"/>
          <p:cNvSpPr txBox="1"/>
          <p:nvPr/>
        </p:nvSpPr>
        <p:spPr>
          <a:xfrm>
            <a:off x="4983480" y="3502152"/>
            <a:ext cx="3154680" cy="182880"/>
          </a:xfrm>
          <a:prstGeom prst="rect">
            <a:avLst/>
          </a:prstGeom>
          <a:noFill/>
          <a:ln/>
        </p:spPr>
        <p:txBody>
          <a:bodyPr wrap="square" lIns="0" tIns="0" rIns="0" bIns="0" rtlCol="0" anchor="ctr"/>
          <a:lstStyle/>
          <a:p>
            <a:pPr marL="0" indent="0">
              <a:buNone/>
            </a:pPr>
            <a:r>
              <a:rPr lang="en-US" sz="780">
                <a:solidFill>
                  <a:srgbClr val="334155"/>
                </a:solidFill>
                <a:latin typeface="Arial" pitchFamily="34" charset="0"/>
                <a:ea typeface="Arial" pitchFamily="34" charset="-122"/>
                <a:cs typeface="Arial" pitchFamily="34" charset="-120"/>
              </a:rPr>
              <a:t>Conteggio arbitrario di commenti, righe vuote e macro.</a:t>
            </a:r>
            <a:endParaRPr lang="en-US" sz="780"/>
          </a:p>
        </p:txBody>
      </p:sp>
      <p:sp>
        <p:nvSpPr>
          <p:cNvPr id="41" name="Shape 39"/>
          <p:cNvSpPr/>
          <p:nvPr/>
        </p:nvSpPr>
        <p:spPr>
          <a:xfrm>
            <a:off x="4892040" y="3886200"/>
            <a:ext cx="3337560" cy="621792"/>
          </a:xfrm>
          <a:prstGeom prst="roundRect">
            <a:avLst>
              <a:gd name="adj" fmla="val 5882"/>
            </a:avLst>
          </a:prstGeom>
          <a:solidFill>
            <a:srgbClr val="FFFFFF"/>
          </a:solidFill>
          <a:ln w="12700">
            <a:solidFill>
              <a:srgbClr val="CBD5E1"/>
            </a:solidFill>
            <a:prstDash val="solid"/>
          </a:ln>
        </p:spPr>
        <p:txBody>
          <a:bodyPr/>
          <a:lstStyle/>
          <a:p>
            <a:endParaRPr lang="it-IT"/>
          </a:p>
        </p:txBody>
      </p:sp>
      <p:sp>
        <p:nvSpPr>
          <p:cNvPr id="42" name="Text 40"/>
          <p:cNvSpPr txBox="1"/>
          <p:nvPr/>
        </p:nvSpPr>
        <p:spPr>
          <a:xfrm>
            <a:off x="4983480" y="3959352"/>
            <a:ext cx="3154680" cy="502920"/>
          </a:xfrm>
          <a:prstGeom prst="rect">
            <a:avLst/>
          </a:prstGeom>
          <a:noFill/>
          <a:ln/>
        </p:spPr>
        <p:txBody>
          <a:bodyPr wrap="square" lIns="0" tIns="0" rIns="0" bIns="0" rtlCol="0" anchor="ctr"/>
          <a:lstStyle/>
          <a:p>
            <a:r>
              <a:rPr lang="it-IT" sz="750" i="1">
                <a:solidFill>
                  <a:srgbClr val="64748B"/>
                </a:solidFill>
                <a:latin typeface="Arial"/>
                <a:cs typeface="Arial"/>
              </a:rPr>
              <a:t>"Andavamo ogni settimana a incontrare IBM, e loro pensavano che il modo per misurare il software fosse la quantità di codice scritto, quando in realtà, migliore è il software, minori sono le linee di codice."</a:t>
            </a:r>
            <a:endParaRPr lang="it-IT" sz="780" i="1">
              <a:solidFill>
                <a:srgbClr val="64748B"/>
              </a:solidFill>
              <a:latin typeface="Arial" pitchFamily="34" charset="0"/>
              <a:cs typeface="Arial" pitchFamily="34" charset="-120"/>
            </a:endParaRPr>
          </a:p>
          <a:p>
            <a:r>
              <a:rPr lang="en-US" sz="780" i="1">
                <a:solidFill>
                  <a:srgbClr val="64748B"/>
                </a:solidFill>
                <a:latin typeface="Arial" pitchFamily="34" charset="0"/>
                <a:ea typeface="Arial" pitchFamily="34" charset="-122"/>
                <a:cs typeface="Arial" pitchFamily="34" charset="-120"/>
              </a:rPr>
              <a:t>— Bill Gates</a:t>
            </a:r>
            <a:endParaRPr lang="en-US" sz="78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METRICHE DI TAGLIA FUNZIONALE</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a:solidFill>
                  <a:srgbClr val="0F2744"/>
                </a:solidFill>
                <a:latin typeface="Arial" pitchFamily="34" charset="0"/>
                <a:ea typeface="Arial" pitchFamily="34" charset="-122"/>
                <a:cs typeface="Arial" pitchFamily="34" charset="-120"/>
              </a:rPr>
              <a:t>La Soluzione Teorica: I Function Points (IFPUG)</a:t>
            </a:r>
            <a:endParaRPr lang="en-US" sz="1850"/>
          </a:p>
        </p:txBody>
      </p:sp>
      <p:sp>
        <p:nvSpPr>
          <p:cNvPr id="4" name="Shape 2"/>
          <p:cNvSpPr/>
          <p:nvPr/>
        </p:nvSpPr>
        <p:spPr>
          <a:xfrm>
            <a:off x="731520" y="1051560"/>
            <a:ext cx="4297680" cy="3566160"/>
          </a:xfrm>
          <a:prstGeom prst="roundRect">
            <a:avLst>
              <a:gd name="adj" fmla="val 2051"/>
            </a:avLst>
          </a:prstGeom>
          <a:solidFill>
            <a:srgbClr val="FFFFFF"/>
          </a:solidFill>
          <a:ln w="12700">
            <a:solidFill>
              <a:srgbClr val="CBD5E1"/>
            </a:solidFill>
            <a:prstDash val="solid"/>
          </a:ln>
        </p:spPr>
        <p:txBody>
          <a:bodyPr/>
          <a:lstStyle/>
          <a:p>
            <a:endParaRPr lang="it-IT"/>
          </a:p>
        </p:txBody>
      </p:sp>
      <p:sp>
        <p:nvSpPr>
          <p:cNvPr id="5" name="Text 3"/>
          <p:cNvSpPr txBox="1"/>
          <p:nvPr/>
        </p:nvSpPr>
        <p:spPr>
          <a:xfrm>
            <a:off x="914400" y="1234440"/>
            <a:ext cx="3931920" cy="182880"/>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METODO DEI FUNCTION POINTS (ALLAN ALBRECHT, 1979)</a:t>
            </a:r>
            <a:endParaRPr lang="en-US" sz="850"/>
          </a:p>
        </p:txBody>
      </p:sp>
      <p:sp>
        <p:nvSpPr>
          <p:cNvPr id="6" name="Text 4"/>
          <p:cNvSpPr txBox="1"/>
          <p:nvPr/>
        </p:nvSpPr>
        <p:spPr>
          <a:xfrm>
            <a:off x="914400" y="1444752"/>
            <a:ext cx="393192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Standard IFPUG (ISO/IEC 20926)</a:t>
            </a:r>
            <a:endParaRPr lang="en-US" sz="1300"/>
          </a:p>
        </p:txBody>
      </p:sp>
      <p:sp>
        <p:nvSpPr>
          <p:cNvPr id="7" name="Text 5"/>
          <p:cNvSpPr txBox="1"/>
          <p:nvPr/>
        </p:nvSpPr>
        <p:spPr>
          <a:xfrm>
            <a:off x="914400" y="1755648"/>
            <a:ext cx="3931920" cy="411480"/>
          </a:xfrm>
          <a:prstGeom prst="rect">
            <a:avLst/>
          </a:prstGeom>
          <a:noFill/>
          <a:ln/>
        </p:spPr>
        <p:txBody>
          <a:bodyPr wrap="square" lIns="0" tIns="0" rIns="0" bIns="0" rtlCol="0" anchor="ctr"/>
          <a:lstStyle/>
          <a:p>
            <a:pPr marL="0" indent="0">
              <a:lnSpc>
                <a:spcPts val="1150"/>
              </a:lnSpc>
              <a:buNone/>
            </a:pPr>
            <a:r>
              <a:rPr lang="en-US" sz="850">
                <a:solidFill>
                  <a:srgbClr val="334155"/>
                </a:solidFill>
                <a:latin typeface="Arial" pitchFamily="34" charset="0"/>
                <a:ea typeface="Arial" pitchFamily="34" charset="-122"/>
                <a:cs typeface="Arial" pitchFamily="34" charset="-120"/>
              </a:rPr>
              <a:t>Misura la dimensione del software dalla prospettiva dell'utente finale, contando cosa il sistema fa (funzionalità logiche) indipendentemente da come viene implementato.</a:t>
            </a:r>
            <a:endParaRPr lang="en-US" sz="85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68680" y="2240280"/>
          <a:ext cx="4023360" cy="1371600"/>
        </p:xfrm>
        <a:graphic>
          <a:graphicData uri="http://schemas.openxmlformats.org/drawingml/2006/table">
            <a:tbl>
              <a:tblPr/>
              <a:tblGrid>
                <a:gridCol w="21031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tblGrid>
              <a:tr h="228600">
                <a:tc>
                  <a:txBody>
                    <a:bodyPr/>
                    <a:lstStyle/>
                    <a:p>
                      <a:pPr marL="0" indent="0" algn="ctr">
                        <a:buNone/>
                      </a:pPr>
                      <a:r>
                        <a:rPr lang="en-US" sz="820" b="1">
                          <a:solidFill>
                            <a:srgbClr val="FFFFFF"/>
                          </a:solidFill>
                        </a:rPr>
                        <a:t>Componente Logico</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20" b="1">
                          <a:solidFill>
                            <a:srgbClr val="FFFFFF"/>
                          </a:solidFill>
                        </a:rPr>
                        <a:t>Bassa</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20" b="1">
                          <a:solidFill>
                            <a:srgbClr val="FFFFFF"/>
                          </a:solidFill>
                        </a:rPr>
                        <a:t>Media</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20" b="1">
                          <a:solidFill>
                            <a:srgbClr val="FFFFFF"/>
                          </a:solidFill>
                        </a:rPr>
                        <a:t>Alta</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extLst>
                  <a:ext uri="{0D108BD9-81ED-4DB2-BD59-A6C34878D82A}">
                    <a16:rowId xmlns:a16="http://schemas.microsoft.com/office/drawing/2014/main" val="10000"/>
                  </a:ext>
                </a:extLst>
              </a:tr>
              <a:tr h="228600">
                <a:tc>
                  <a:txBody>
                    <a:bodyPr/>
                    <a:lstStyle/>
                    <a:p>
                      <a:pPr marL="0" indent="0" algn="ctr">
                        <a:buNone/>
                      </a:pPr>
                      <a:r>
                        <a:rPr lang="en-US" sz="820" b="1">
                          <a:solidFill>
                            <a:srgbClr val="000000"/>
                          </a:solidFill>
                        </a:rPr>
                        <a:t>ILF (Internal Logical File)</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7</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10</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15</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ctr">
                        <a:buNone/>
                      </a:pPr>
                      <a:r>
                        <a:rPr lang="en-US" sz="820" b="1">
                          <a:solidFill>
                            <a:srgbClr val="000000"/>
                          </a:solidFill>
                        </a:rPr>
                        <a:t>EIF (External Interface File)</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5</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7</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10</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ctr">
                        <a:buNone/>
                      </a:pPr>
                      <a:r>
                        <a:rPr lang="en-US" sz="820" b="1">
                          <a:solidFill>
                            <a:srgbClr val="000000"/>
                          </a:solidFill>
                        </a:rPr>
                        <a:t>EI (External Input)</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3</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4</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6</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lgn="ctr">
                        <a:buNone/>
                      </a:pPr>
                      <a:r>
                        <a:rPr lang="en-US" sz="820" b="1">
                          <a:solidFill>
                            <a:srgbClr val="000000"/>
                          </a:solidFill>
                        </a:rPr>
                        <a:t>EO (External Output)</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4</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5</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7</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lgn="ctr">
                        <a:buNone/>
                      </a:pPr>
                      <a:r>
                        <a:rPr lang="en-US" sz="820" b="1">
                          <a:solidFill>
                            <a:srgbClr val="000000"/>
                          </a:solidFill>
                        </a:rPr>
                        <a:t>EQ (External Inquiry)</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3</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4</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6</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6"/>
          <p:cNvSpPr txBox="1"/>
          <p:nvPr/>
        </p:nvSpPr>
        <p:spPr>
          <a:xfrm>
            <a:off x="914400" y="3794760"/>
            <a:ext cx="3931920" cy="685800"/>
          </a:xfrm>
          <a:prstGeom prst="rect">
            <a:avLst/>
          </a:prstGeom>
          <a:noFill/>
          <a:ln/>
        </p:spPr>
        <p:txBody>
          <a:bodyPr wrap="square" lIns="0" tIns="0" rIns="0" bIns="0" rtlCol="0" anchor="ctr"/>
          <a:lstStyle/>
          <a:p>
            <a:pPr marL="0" indent="0">
              <a:lnSpc>
                <a:spcPts val="1100"/>
              </a:lnSpc>
              <a:buNone/>
            </a:pPr>
            <a:r>
              <a:rPr lang="en-US" sz="800">
                <a:solidFill>
                  <a:srgbClr val="64748B"/>
                </a:solidFill>
                <a:latin typeface="Arial" pitchFamily="34" charset="0"/>
                <a:ea typeface="Arial" pitchFamily="34" charset="-122"/>
                <a:cs typeface="Arial" pitchFamily="34" charset="-120"/>
              </a:rPr>
              <a:t>UFP = Σ (Componenti × Pesi)  |  </a:t>
            </a:r>
            <a:r>
              <a:rPr lang="en-US" sz="800" err="1">
                <a:solidFill>
                  <a:srgbClr val="64748B"/>
                </a:solidFill>
                <a:latin typeface="Arial" pitchFamily="34" charset="0"/>
                <a:ea typeface="Arial" pitchFamily="34" charset="-122"/>
                <a:cs typeface="Arial" pitchFamily="34" charset="-120"/>
              </a:rPr>
              <a:t>Rettifica</a:t>
            </a:r>
            <a:r>
              <a:rPr lang="en-US" sz="800">
                <a:solidFill>
                  <a:srgbClr val="64748B"/>
                </a:solidFill>
                <a:latin typeface="Arial" pitchFamily="34" charset="0"/>
                <a:ea typeface="Arial" pitchFamily="34" charset="-122"/>
                <a:cs typeface="Arial" pitchFamily="34" charset="-120"/>
              </a:rPr>
              <a:t> AFP (14 GSC, 0.65 ≤ AFP ≤ 1.35)</a:t>
            </a:r>
            <a:endParaRPr lang="en-US" sz="800"/>
          </a:p>
          <a:p>
            <a:pPr marL="0" indent="0">
              <a:lnSpc>
                <a:spcPts val="1100"/>
              </a:lnSpc>
              <a:buNone/>
            </a:pPr>
            <a:r>
              <a:rPr lang="en-US" sz="800">
                <a:solidFill>
                  <a:srgbClr val="64748B"/>
                </a:solidFill>
                <a:latin typeface="Arial" pitchFamily="34" charset="0"/>
                <a:ea typeface="Arial" pitchFamily="34" charset="-122"/>
                <a:cs typeface="Arial" pitchFamily="34" charset="-120"/>
              </a:rPr>
              <a:t>Cenni COSMIC (ISO/IEC 19761): 4 flussi dati (Entry, Exit, Read, Write) senza pesi.</a:t>
            </a:r>
            <a:endParaRPr lang="en-US" sz="800"/>
          </a:p>
        </p:txBody>
      </p:sp>
      <p:sp>
        <p:nvSpPr>
          <p:cNvPr id="10" name="Shape 7"/>
          <p:cNvSpPr/>
          <p:nvPr/>
        </p:nvSpPr>
        <p:spPr>
          <a:xfrm>
            <a:off x="5257800" y="1051560"/>
            <a:ext cx="3154680" cy="3566160"/>
          </a:xfrm>
          <a:prstGeom prst="roundRect">
            <a:avLst>
              <a:gd name="adj" fmla="val 2319"/>
            </a:avLst>
          </a:prstGeom>
          <a:solidFill>
            <a:srgbClr val="EFF6FF"/>
          </a:solidFill>
          <a:ln w="15240">
            <a:solidFill>
              <a:srgbClr val="2563EB"/>
            </a:solidFill>
            <a:prstDash val="solid"/>
          </a:ln>
        </p:spPr>
        <p:txBody>
          <a:bodyPr/>
          <a:lstStyle/>
          <a:p>
            <a:endParaRPr lang="it-IT"/>
          </a:p>
        </p:txBody>
      </p:sp>
      <p:sp>
        <p:nvSpPr>
          <p:cNvPr id="11" name="Text 8"/>
          <p:cNvSpPr txBox="1"/>
          <p:nvPr/>
        </p:nvSpPr>
        <p:spPr>
          <a:xfrm>
            <a:off x="5440680" y="1234440"/>
            <a:ext cx="2788920" cy="182880"/>
          </a:xfrm>
          <a:prstGeom prst="rect">
            <a:avLst/>
          </a:prstGeom>
          <a:noFill/>
          <a:ln/>
        </p:spPr>
        <p:txBody>
          <a:bodyPr wrap="square" lIns="0" tIns="0" rIns="0" bIns="0" rtlCol="0" anchor="ctr"/>
          <a:lstStyle/>
          <a:p>
            <a:pPr marL="0" indent="0">
              <a:buNone/>
            </a:pPr>
            <a:r>
              <a:rPr lang="en-US" sz="800" b="1">
                <a:solidFill>
                  <a:srgbClr val="2563EB"/>
                </a:solidFill>
                <a:latin typeface="Arial" pitchFamily="34" charset="0"/>
                <a:ea typeface="Arial" pitchFamily="34" charset="-122"/>
                <a:cs typeface="Arial" pitchFamily="34" charset="-120"/>
              </a:rPr>
              <a:t>IL VETTORE DI INPUT PER IL NOSTRO MODELLO</a:t>
            </a:r>
            <a:endParaRPr lang="en-US" sz="800"/>
          </a:p>
        </p:txBody>
      </p:sp>
      <p:sp>
        <p:nvSpPr>
          <p:cNvPr id="12" name="Text 9"/>
          <p:cNvSpPr txBox="1"/>
          <p:nvPr/>
        </p:nvSpPr>
        <p:spPr>
          <a:xfrm>
            <a:off x="5440680" y="1444752"/>
            <a:ext cx="278892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Le 5 Feature Funzionali</a:t>
            </a:r>
            <a:endParaRPr lang="en-US" sz="1300"/>
          </a:p>
        </p:txBody>
      </p:sp>
      <p:sp>
        <p:nvSpPr>
          <p:cNvPr id="13" name="Shape 10"/>
          <p:cNvSpPr/>
          <p:nvPr/>
        </p:nvSpPr>
        <p:spPr>
          <a:xfrm>
            <a:off x="5440680" y="1828800"/>
            <a:ext cx="2788920" cy="384048"/>
          </a:xfrm>
          <a:prstGeom prst="roundRect">
            <a:avLst>
              <a:gd name="adj" fmla="val 9524"/>
            </a:avLst>
          </a:prstGeom>
          <a:solidFill>
            <a:srgbClr val="FFFFFF"/>
          </a:solidFill>
          <a:ln w="6350">
            <a:solidFill>
              <a:srgbClr val="CBD5E1"/>
            </a:solidFill>
            <a:prstDash val="solid"/>
          </a:ln>
        </p:spPr>
        <p:txBody>
          <a:bodyPr/>
          <a:lstStyle/>
          <a:p>
            <a:endParaRPr lang="it-IT"/>
          </a:p>
        </p:txBody>
      </p:sp>
      <p:sp>
        <p:nvSpPr>
          <p:cNvPr id="14" name="Text 11"/>
          <p:cNvSpPr txBox="1"/>
          <p:nvPr/>
        </p:nvSpPr>
        <p:spPr>
          <a:xfrm>
            <a:off x="5532120" y="1883664"/>
            <a:ext cx="1280160" cy="256032"/>
          </a:xfrm>
          <a:prstGeom prst="rect">
            <a:avLst/>
          </a:prstGeom>
          <a:noFill/>
          <a:ln/>
        </p:spPr>
        <p:txBody>
          <a:bodyPr wrap="square" lIns="0" tIns="0" rIns="0" bIns="0" rtlCol="0" anchor="ctr"/>
          <a:lstStyle/>
          <a:p>
            <a:pPr marL="0" indent="0">
              <a:buNone/>
            </a:pPr>
            <a:r>
              <a:rPr lang="en-US" sz="780" b="1">
                <a:solidFill>
                  <a:srgbClr val="0F2744"/>
                </a:solidFill>
                <a:latin typeface="Arial" pitchFamily="34" charset="0"/>
                <a:ea typeface="Arial" pitchFamily="34" charset="-122"/>
                <a:cs typeface="Arial" pitchFamily="34" charset="-120"/>
              </a:rPr>
              <a:t>Input [EI]</a:t>
            </a:r>
            <a:endParaRPr lang="en-US" sz="780"/>
          </a:p>
        </p:txBody>
      </p:sp>
      <p:sp>
        <p:nvSpPr>
          <p:cNvPr id="15" name="Text 12"/>
          <p:cNvSpPr txBox="1"/>
          <p:nvPr/>
        </p:nvSpPr>
        <p:spPr>
          <a:xfrm>
            <a:off x="6720840" y="1883664"/>
            <a:ext cx="1463040" cy="274320"/>
          </a:xfrm>
          <a:prstGeom prst="rect">
            <a:avLst/>
          </a:prstGeom>
          <a:noFill/>
          <a:ln/>
        </p:spPr>
        <p:txBody>
          <a:bodyPr wrap="square" lIns="0" tIns="0" rIns="0" bIns="0" rtlCol="0" anchor="ctr"/>
          <a:lstStyle/>
          <a:p>
            <a:pPr marL="0" indent="0">
              <a:lnSpc>
                <a:spcPts val="900"/>
              </a:lnSpc>
              <a:buNone/>
            </a:pPr>
            <a:r>
              <a:rPr lang="en-US" sz="680">
                <a:solidFill>
                  <a:srgbClr val="334155"/>
                </a:solidFill>
                <a:latin typeface="Arial" pitchFamily="34" charset="0"/>
                <a:ea typeface="Arial" pitchFamily="34" charset="-122"/>
                <a:cs typeface="Arial" pitchFamily="34" charset="-120"/>
              </a:rPr>
              <a:t>Transazioni che creano/modificano dati interni</a:t>
            </a:r>
            <a:endParaRPr lang="en-US" sz="680"/>
          </a:p>
        </p:txBody>
      </p:sp>
      <p:sp>
        <p:nvSpPr>
          <p:cNvPr id="16" name="Shape 13"/>
          <p:cNvSpPr/>
          <p:nvPr/>
        </p:nvSpPr>
        <p:spPr>
          <a:xfrm>
            <a:off x="5440680" y="2267712"/>
            <a:ext cx="2788920" cy="384048"/>
          </a:xfrm>
          <a:prstGeom prst="roundRect">
            <a:avLst>
              <a:gd name="adj" fmla="val 9524"/>
            </a:avLst>
          </a:prstGeom>
          <a:solidFill>
            <a:srgbClr val="FFFFFF"/>
          </a:solidFill>
          <a:ln w="6350">
            <a:solidFill>
              <a:srgbClr val="CBD5E1"/>
            </a:solidFill>
            <a:prstDash val="solid"/>
          </a:ln>
        </p:spPr>
        <p:txBody>
          <a:bodyPr/>
          <a:lstStyle/>
          <a:p>
            <a:endParaRPr lang="it-IT"/>
          </a:p>
        </p:txBody>
      </p:sp>
      <p:sp>
        <p:nvSpPr>
          <p:cNvPr id="17" name="Text 14"/>
          <p:cNvSpPr txBox="1"/>
          <p:nvPr/>
        </p:nvSpPr>
        <p:spPr>
          <a:xfrm>
            <a:off x="5532120" y="2322576"/>
            <a:ext cx="1280160" cy="256032"/>
          </a:xfrm>
          <a:prstGeom prst="rect">
            <a:avLst/>
          </a:prstGeom>
          <a:noFill/>
          <a:ln/>
        </p:spPr>
        <p:txBody>
          <a:bodyPr wrap="square" lIns="0" tIns="0" rIns="0" bIns="0" rtlCol="0" anchor="ctr"/>
          <a:lstStyle/>
          <a:p>
            <a:pPr marL="0" indent="0">
              <a:buNone/>
            </a:pPr>
            <a:r>
              <a:rPr lang="en-US" sz="780" b="1">
                <a:solidFill>
                  <a:srgbClr val="0F2744"/>
                </a:solidFill>
                <a:latin typeface="Arial" pitchFamily="34" charset="0"/>
                <a:ea typeface="Arial" pitchFamily="34" charset="-122"/>
                <a:cs typeface="Arial" pitchFamily="34" charset="-120"/>
              </a:rPr>
              <a:t>Output [EO]</a:t>
            </a:r>
            <a:endParaRPr lang="en-US" sz="780"/>
          </a:p>
        </p:txBody>
      </p:sp>
      <p:sp>
        <p:nvSpPr>
          <p:cNvPr id="18" name="Text 15"/>
          <p:cNvSpPr txBox="1"/>
          <p:nvPr/>
        </p:nvSpPr>
        <p:spPr>
          <a:xfrm>
            <a:off x="6720840" y="2322576"/>
            <a:ext cx="1463040" cy="274320"/>
          </a:xfrm>
          <a:prstGeom prst="rect">
            <a:avLst/>
          </a:prstGeom>
          <a:noFill/>
          <a:ln/>
        </p:spPr>
        <p:txBody>
          <a:bodyPr wrap="square" lIns="0" tIns="0" rIns="0" bIns="0" rtlCol="0" anchor="ctr"/>
          <a:lstStyle/>
          <a:p>
            <a:pPr marL="0" indent="0">
              <a:lnSpc>
                <a:spcPts val="900"/>
              </a:lnSpc>
              <a:buNone/>
            </a:pPr>
            <a:r>
              <a:rPr lang="en-US" sz="680">
                <a:solidFill>
                  <a:srgbClr val="334155"/>
                </a:solidFill>
                <a:latin typeface="Arial" pitchFamily="34" charset="0"/>
                <a:ea typeface="Arial" pitchFamily="34" charset="-122"/>
                <a:cs typeface="Arial" pitchFamily="34" charset="-120"/>
              </a:rPr>
              <a:t>Report, calcoli derivati e flussi verso l'esterno</a:t>
            </a:r>
            <a:endParaRPr lang="en-US" sz="680"/>
          </a:p>
        </p:txBody>
      </p:sp>
      <p:sp>
        <p:nvSpPr>
          <p:cNvPr id="19" name="Shape 16"/>
          <p:cNvSpPr/>
          <p:nvPr/>
        </p:nvSpPr>
        <p:spPr>
          <a:xfrm>
            <a:off x="5440680" y="2706624"/>
            <a:ext cx="2788920" cy="384048"/>
          </a:xfrm>
          <a:prstGeom prst="roundRect">
            <a:avLst>
              <a:gd name="adj" fmla="val 9524"/>
            </a:avLst>
          </a:prstGeom>
          <a:solidFill>
            <a:srgbClr val="FFFFFF"/>
          </a:solidFill>
          <a:ln w="6350">
            <a:solidFill>
              <a:srgbClr val="CBD5E1"/>
            </a:solidFill>
            <a:prstDash val="solid"/>
          </a:ln>
        </p:spPr>
        <p:txBody>
          <a:bodyPr/>
          <a:lstStyle/>
          <a:p>
            <a:endParaRPr lang="it-IT"/>
          </a:p>
        </p:txBody>
      </p:sp>
      <p:sp>
        <p:nvSpPr>
          <p:cNvPr id="20" name="Text 17"/>
          <p:cNvSpPr txBox="1"/>
          <p:nvPr/>
        </p:nvSpPr>
        <p:spPr>
          <a:xfrm>
            <a:off x="5532120" y="2761488"/>
            <a:ext cx="1280160" cy="256032"/>
          </a:xfrm>
          <a:prstGeom prst="rect">
            <a:avLst/>
          </a:prstGeom>
          <a:noFill/>
          <a:ln/>
        </p:spPr>
        <p:txBody>
          <a:bodyPr wrap="square" lIns="0" tIns="0" rIns="0" bIns="0" rtlCol="0" anchor="ctr"/>
          <a:lstStyle/>
          <a:p>
            <a:pPr marL="0" indent="0">
              <a:buNone/>
            </a:pPr>
            <a:r>
              <a:rPr lang="en-US" sz="780" b="1">
                <a:solidFill>
                  <a:srgbClr val="0F2744"/>
                </a:solidFill>
                <a:latin typeface="Arial" pitchFamily="34" charset="0"/>
                <a:ea typeface="Arial" pitchFamily="34" charset="-122"/>
                <a:cs typeface="Arial" pitchFamily="34" charset="-120"/>
              </a:rPr>
              <a:t>Enquiry [EQ]</a:t>
            </a:r>
            <a:endParaRPr lang="en-US" sz="780"/>
          </a:p>
        </p:txBody>
      </p:sp>
      <p:sp>
        <p:nvSpPr>
          <p:cNvPr id="21" name="Text 18"/>
          <p:cNvSpPr txBox="1"/>
          <p:nvPr/>
        </p:nvSpPr>
        <p:spPr>
          <a:xfrm>
            <a:off x="6720840" y="2761488"/>
            <a:ext cx="1463040" cy="274320"/>
          </a:xfrm>
          <a:prstGeom prst="rect">
            <a:avLst/>
          </a:prstGeom>
          <a:noFill/>
          <a:ln/>
        </p:spPr>
        <p:txBody>
          <a:bodyPr wrap="square" lIns="0" tIns="0" rIns="0" bIns="0" rtlCol="0" anchor="ctr"/>
          <a:lstStyle/>
          <a:p>
            <a:pPr marL="0" indent="0">
              <a:lnSpc>
                <a:spcPts val="900"/>
              </a:lnSpc>
              <a:buNone/>
            </a:pPr>
            <a:r>
              <a:rPr lang="en-US" sz="680">
                <a:solidFill>
                  <a:srgbClr val="334155"/>
                </a:solidFill>
                <a:latin typeface="Arial" pitchFamily="34" charset="0"/>
                <a:ea typeface="Arial" pitchFamily="34" charset="-122"/>
                <a:cs typeface="Arial" pitchFamily="34" charset="-120"/>
              </a:rPr>
              <a:t>Ricerche e consultazioni semplici senza calcoli</a:t>
            </a:r>
            <a:endParaRPr lang="en-US" sz="680"/>
          </a:p>
        </p:txBody>
      </p:sp>
      <p:sp>
        <p:nvSpPr>
          <p:cNvPr id="22" name="Shape 19"/>
          <p:cNvSpPr/>
          <p:nvPr/>
        </p:nvSpPr>
        <p:spPr>
          <a:xfrm>
            <a:off x="5440680" y="3145536"/>
            <a:ext cx="2788920" cy="384048"/>
          </a:xfrm>
          <a:prstGeom prst="roundRect">
            <a:avLst>
              <a:gd name="adj" fmla="val 9524"/>
            </a:avLst>
          </a:prstGeom>
          <a:solidFill>
            <a:srgbClr val="FFFFFF"/>
          </a:solidFill>
          <a:ln w="6350">
            <a:solidFill>
              <a:srgbClr val="CBD5E1"/>
            </a:solidFill>
            <a:prstDash val="solid"/>
          </a:ln>
        </p:spPr>
        <p:txBody>
          <a:bodyPr/>
          <a:lstStyle/>
          <a:p>
            <a:endParaRPr lang="it-IT"/>
          </a:p>
        </p:txBody>
      </p:sp>
      <p:sp>
        <p:nvSpPr>
          <p:cNvPr id="23" name="Text 20"/>
          <p:cNvSpPr txBox="1"/>
          <p:nvPr/>
        </p:nvSpPr>
        <p:spPr>
          <a:xfrm>
            <a:off x="5532120" y="3200400"/>
            <a:ext cx="1280160" cy="256032"/>
          </a:xfrm>
          <a:prstGeom prst="rect">
            <a:avLst/>
          </a:prstGeom>
          <a:noFill/>
          <a:ln/>
        </p:spPr>
        <p:txBody>
          <a:bodyPr wrap="square" lIns="0" tIns="0" rIns="0" bIns="0" rtlCol="0" anchor="ctr"/>
          <a:lstStyle/>
          <a:p>
            <a:pPr marL="0" indent="0">
              <a:buNone/>
            </a:pPr>
            <a:r>
              <a:rPr lang="en-US" sz="780" b="1">
                <a:solidFill>
                  <a:srgbClr val="0F2744"/>
                </a:solidFill>
                <a:latin typeface="Arial" pitchFamily="34" charset="0"/>
                <a:ea typeface="Arial" pitchFamily="34" charset="-122"/>
                <a:cs typeface="Arial" pitchFamily="34" charset="-120"/>
              </a:rPr>
              <a:t>File [ILF]</a:t>
            </a:r>
            <a:endParaRPr lang="en-US" sz="780"/>
          </a:p>
        </p:txBody>
      </p:sp>
      <p:sp>
        <p:nvSpPr>
          <p:cNvPr id="24" name="Text 21"/>
          <p:cNvSpPr txBox="1"/>
          <p:nvPr/>
        </p:nvSpPr>
        <p:spPr>
          <a:xfrm>
            <a:off x="6720840" y="3200400"/>
            <a:ext cx="1463040" cy="274320"/>
          </a:xfrm>
          <a:prstGeom prst="rect">
            <a:avLst/>
          </a:prstGeom>
          <a:noFill/>
          <a:ln/>
        </p:spPr>
        <p:txBody>
          <a:bodyPr wrap="square" lIns="0" tIns="0" rIns="0" bIns="0" rtlCol="0" anchor="ctr"/>
          <a:lstStyle/>
          <a:p>
            <a:pPr marL="0" indent="0">
              <a:lnSpc>
                <a:spcPts val="900"/>
              </a:lnSpc>
              <a:buNone/>
            </a:pPr>
            <a:r>
              <a:rPr lang="en-US" sz="680">
                <a:solidFill>
                  <a:srgbClr val="334155"/>
                </a:solidFill>
                <a:latin typeface="Arial" pitchFamily="34" charset="0"/>
                <a:ea typeface="Arial" pitchFamily="34" charset="-122"/>
                <a:cs typeface="Arial" pitchFamily="34" charset="-120"/>
              </a:rPr>
              <a:t>Tabelle e archivi logici mantenuti all'interno</a:t>
            </a:r>
            <a:endParaRPr lang="en-US" sz="680"/>
          </a:p>
        </p:txBody>
      </p:sp>
      <p:sp>
        <p:nvSpPr>
          <p:cNvPr id="25" name="Shape 22"/>
          <p:cNvSpPr/>
          <p:nvPr/>
        </p:nvSpPr>
        <p:spPr>
          <a:xfrm>
            <a:off x="5440680" y="3584448"/>
            <a:ext cx="2788920" cy="384048"/>
          </a:xfrm>
          <a:prstGeom prst="roundRect">
            <a:avLst>
              <a:gd name="adj" fmla="val 9524"/>
            </a:avLst>
          </a:prstGeom>
          <a:solidFill>
            <a:srgbClr val="FFFFFF"/>
          </a:solidFill>
          <a:ln w="6350">
            <a:solidFill>
              <a:srgbClr val="CBD5E1"/>
            </a:solidFill>
            <a:prstDash val="solid"/>
          </a:ln>
        </p:spPr>
        <p:txBody>
          <a:bodyPr/>
          <a:lstStyle/>
          <a:p>
            <a:endParaRPr lang="it-IT"/>
          </a:p>
        </p:txBody>
      </p:sp>
      <p:sp>
        <p:nvSpPr>
          <p:cNvPr id="26" name="Text 23"/>
          <p:cNvSpPr txBox="1"/>
          <p:nvPr/>
        </p:nvSpPr>
        <p:spPr>
          <a:xfrm>
            <a:off x="5532120" y="3639312"/>
            <a:ext cx="1280160" cy="256032"/>
          </a:xfrm>
          <a:prstGeom prst="rect">
            <a:avLst/>
          </a:prstGeom>
          <a:noFill/>
          <a:ln/>
        </p:spPr>
        <p:txBody>
          <a:bodyPr wrap="square" lIns="0" tIns="0" rIns="0" bIns="0" rtlCol="0" anchor="ctr"/>
          <a:lstStyle/>
          <a:p>
            <a:pPr marL="0" indent="0">
              <a:buNone/>
            </a:pPr>
            <a:r>
              <a:rPr lang="en-US" sz="780" b="1">
                <a:solidFill>
                  <a:srgbClr val="0F2744"/>
                </a:solidFill>
                <a:latin typeface="Arial" pitchFamily="34" charset="0"/>
                <a:ea typeface="Arial" pitchFamily="34" charset="-122"/>
                <a:cs typeface="Arial" pitchFamily="34" charset="-120"/>
              </a:rPr>
              <a:t>Interface [EIF]</a:t>
            </a:r>
            <a:endParaRPr lang="en-US" sz="780"/>
          </a:p>
        </p:txBody>
      </p:sp>
      <p:sp>
        <p:nvSpPr>
          <p:cNvPr id="27" name="Text 24"/>
          <p:cNvSpPr txBox="1"/>
          <p:nvPr/>
        </p:nvSpPr>
        <p:spPr>
          <a:xfrm>
            <a:off x="6720840" y="3639312"/>
            <a:ext cx="1463040" cy="274320"/>
          </a:xfrm>
          <a:prstGeom prst="rect">
            <a:avLst/>
          </a:prstGeom>
          <a:noFill/>
          <a:ln/>
        </p:spPr>
        <p:txBody>
          <a:bodyPr wrap="square" lIns="0" tIns="0" rIns="0" bIns="0" rtlCol="0" anchor="ctr"/>
          <a:lstStyle/>
          <a:p>
            <a:pPr marL="0" indent="0">
              <a:lnSpc>
                <a:spcPts val="900"/>
              </a:lnSpc>
              <a:buNone/>
            </a:pPr>
            <a:r>
              <a:rPr lang="en-US" sz="680">
                <a:solidFill>
                  <a:srgbClr val="334155"/>
                </a:solidFill>
                <a:latin typeface="Arial" pitchFamily="34" charset="0"/>
                <a:ea typeface="Arial" pitchFamily="34" charset="-122"/>
                <a:cs typeface="Arial" pitchFamily="34" charset="-120"/>
              </a:rPr>
              <a:t>Archivi esterni consultati via API/interfacce</a:t>
            </a:r>
            <a:endParaRPr lang="en-US" sz="680"/>
          </a:p>
        </p:txBody>
      </p:sp>
      <p:sp>
        <p:nvSpPr>
          <p:cNvPr id="28" name="Shape 25"/>
          <p:cNvSpPr/>
          <p:nvPr/>
        </p:nvSpPr>
        <p:spPr>
          <a:xfrm>
            <a:off x="5440680" y="4096512"/>
            <a:ext cx="2788920" cy="384048"/>
          </a:xfrm>
          <a:prstGeom prst="roundRect">
            <a:avLst>
              <a:gd name="adj" fmla="val 9524"/>
            </a:avLst>
          </a:prstGeom>
          <a:solidFill>
            <a:srgbClr val="0F2744"/>
          </a:solidFill>
          <a:ln/>
        </p:spPr>
        <p:txBody>
          <a:bodyPr/>
          <a:lstStyle/>
          <a:p>
            <a:endParaRPr lang="it-IT"/>
          </a:p>
        </p:txBody>
      </p:sp>
      <p:sp>
        <p:nvSpPr>
          <p:cNvPr id="29" name="Text 26"/>
          <p:cNvSpPr txBox="1"/>
          <p:nvPr/>
        </p:nvSpPr>
        <p:spPr>
          <a:xfrm>
            <a:off x="5486400" y="4169664"/>
            <a:ext cx="2697480" cy="237744"/>
          </a:xfrm>
          <a:prstGeom prst="rect">
            <a:avLst/>
          </a:prstGeom>
          <a:noFill/>
          <a:ln/>
        </p:spPr>
        <p:txBody>
          <a:bodyPr wrap="square" lIns="0" tIns="0" rIns="0" bIns="0" rtlCol="0" anchor="ctr"/>
          <a:lstStyle/>
          <a:p>
            <a:pPr marL="0" indent="0" algn="ctr">
              <a:buNone/>
            </a:pPr>
            <a:r>
              <a:rPr lang="en-US" sz="750" b="1">
                <a:solidFill>
                  <a:srgbClr val="FFFFFF"/>
                </a:solidFill>
                <a:latin typeface="Arial" pitchFamily="34" charset="0"/>
                <a:ea typeface="Arial" pitchFamily="34" charset="-122"/>
                <a:cs typeface="Arial" pitchFamily="34" charset="-120"/>
              </a:rPr>
              <a:t>Input numerico oggettivo estraibile dai requisiti!</a:t>
            </a:r>
            <a:endParaRPr lang="en-US" sz="7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LA RICERCA DEI DATI</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a:solidFill>
                  <a:srgbClr val="0F2744"/>
                </a:solidFill>
                <a:latin typeface="Arial" pitchFamily="34" charset="0"/>
                <a:ea typeface="Arial" pitchFamily="34" charset="-122"/>
                <a:cs typeface="Arial" pitchFamily="34" charset="-120"/>
              </a:rPr>
              <a:t>La Sfida dei Dati: La Scelta del Dataset China</a:t>
            </a:r>
            <a:endParaRPr lang="en-US" sz="1850"/>
          </a:p>
        </p:txBody>
      </p:sp>
      <p:sp>
        <p:nvSpPr>
          <p:cNvPr id="4" name="Shape 2"/>
          <p:cNvSpPr/>
          <p:nvPr/>
        </p:nvSpPr>
        <p:spPr>
          <a:xfrm>
            <a:off x="731520" y="1051560"/>
            <a:ext cx="3108960" cy="3566160"/>
          </a:xfrm>
          <a:prstGeom prst="roundRect">
            <a:avLst>
              <a:gd name="adj" fmla="val 2353"/>
            </a:avLst>
          </a:prstGeom>
          <a:solidFill>
            <a:srgbClr val="FFFFFF"/>
          </a:solidFill>
          <a:ln w="12700">
            <a:solidFill>
              <a:srgbClr val="CBD5E1"/>
            </a:solidFill>
            <a:prstDash val="solid"/>
          </a:ln>
        </p:spPr>
        <p:txBody>
          <a:bodyPr/>
          <a:lstStyle/>
          <a:p>
            <a:endParaRPr lang="it-IT"/>
          </a:p>
        </p:txBody>
      </p:sp>
      <p:sp>
        <p:nvSpPr>
          <p:cNvPr id="5" name="Text 3"/>
          <p:cNvSpPr txBox="1"/>
          <p:nvPr/>
        </p:nvSpPr>
        <p:spPr>
          <a:xfrm>
            <a:off x="914400" y="1234440"/>
            <a:ext cx="2743200" cy="182880"/>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PROMISE SOFTWARE REPOSITORY</a:t>
            </a:r>
            <a:endParaRPr lang="en-US" sz="850"/>
          </a:p>
        </p:txBody>
      </p:sp>
      <p:sp>
        <p:nvSpPr>
          <p:cNvPr id="6" name="Text 4"/>
          <p:cNvSpPr txBox="1"/>
          <p:nvPr/>
        </p:nvSpPr>
        <p:spPr>
          <a:xfrm>
            <a:off x="914400" y="1463040"/>
            <a:ext cx="2743200" cy="731520"/>
          </a:xfrm>
          <a:prstGeom prst="rect">
            <a:avLst/>
          </a:prstGeom>
          <a:noFill/>
          <a:ln/>
        </p:spPr>
        <p:txBody>
          <a:bodyPr wrap="square" lIns="0" tIns="0" rIns="0" bIns="0" rtlCol="0" anchor="ctr"/>
          <a:lstStyle/>
          <a:p>
            <a:pPr marL="0" indent="0">
              <a:buNone/>
            </a:pPr>
            <a:r>
              <a:rPr lang="en-US" sz="5000" b="1">
                <a:solidFill>
                  <a:srgbClr val="2563EB"/>
                </a:solidFill>
                <a:latin typeface="Arial" pitchFamily="34" charset="0"/>
                <a:ea typeface="Arial" pitchFamily="34" charset="-122"/>
                <a:cs typeface="Arial" pitchFamily="34" charset="-120"/>
              </a:rPr>
              <a:t>499</a:t>
            </a:r>
            <a:endParaRPr lang="en-US" sz="5000"/>
          </a:p>
        </p:txBody>
      </p:sp>
      <p:sp>
        <p:nvSpPr>
          <p:cNvPr id="7" name="Text 5"/>
          <p:cNvSpPr txBox="1"/>
          <p:nvPr/>
        </p:nvSpPr>
        <p:spPr>
          <a:xfrm>
            <a:off x="914400" y="2240280"/>
            <a:ext cx="2743200" cy="228600"/>
          </a:xfrm>
          <a:prstGeom prst="rect">
            <a:avLst/>
          </a:prstGeom>
          <a:noFill/>
          <a:ln/>
        </p:spPr>
        <p:txBody>
          <a:bodyPr wrap="square" lIns="0" tIns="0" rIns="0" bIns="0" rtlCol="0" anchor="ctr"/>
          <a:lstStyle/>
          <a:p>
            <a:pPr marL="0" indent="0">
              <a:buNone/>
            </a:pPr>
            <a:r>
              <a:rPr lang="en-US" sz="950" b="1">
                <a:solidFill>
                  <a:srgbClr val="0F2744"/>
                </a:solidFill>
                <a:latin typeface="Arial" pitchFamily="34" charset="0"/>
                <a:ea typeface="Arial" pitchFamily="34" charset="-122"/>
                <a:cs typeface="Arial" pitchFamily="34" charset="-120"/>
              </a:rPr>
              <a:t>PROGETTI SOFTWARE INDUSTRIALI</a:t>
            </a:r>
            <a:endParaRPr lang="en-US" sz="950"/>
          </a:p>
        </p:txBody>
      </p:sp>
      <p:sp>
        <p:nvSpPr>
          <p:cNvPr id="8" name="Text 6"/>
          <p:cNvSpPr txBox="1"/>
          <p:nvPr/>
        </p:nvSpPr>
        <p:spPr>
          <a:xfrm>
            <a:off x="914400" y="2514600"/>
            <a:ext cx="2743200" cy="502920"/>
          </a:xfrm>
          <a:prstGeom prst="rect">
            <a:avLst/>
          </a:prstGeom>
          <a:noFill/>
          <a:ln/>
        </p:spPr>
        <p:txBody>
          <a:bodyPr wrap="square" lIns="0" tIns="0" rIns="0" bIns="0" rtlCol="0" anchor="ctr"/>
          <a:lstStyle/>
          <a:p>
            <a:pPr marL="0" indent="0">
              <a:lnSpc>
                <a:spcPts val="1200"/>
              </a:lnSpc>
              <a:buNone/>
            </a:pPr>
            <a:r>
              <a:rPr lang="en-US" sz="880">
                <a:solidFill>
                  <a:srgbClr val="334155"/>
                </a:solidFill>
                <a:latin typeface="Arial" pitchFamily="34" charset="0"/>
                <a:ea typeface="Arial" pitchFamily="34" charset="-122"/>
                <a:cs typeface="Arial" pitchFamily="34" charset="-120"/>
              </a:rPr>
              <a:t>Il dataset "China" è il campione aperto più ricco ed eterogeneo disponibile nella letteratura accademica internazionale.</a:t>
            </a:r>
            <a:endParaRPr lang="en-US" sz="880"/>
          </a:p>
        </p:txBody>
      </p:sp>
      <p:sp>
        <p:nvSpPr>
          <p:cNvPr id="9" name="Shape 7"/>
          <p:cNvSpPr/>
          <p:nvPr/>
        </p:nvSpPr>
        <p:spPr>
          <a:xfrm>
            <a:off x="914400" y="3108960"/>
            <a:ext cx="2743200" cy="1371600"/>
          </a:xfrm>
          <a:prstGeom prst="roundRect">
            <a:avLst>
              <a:gd name="adj" fmla="val 4000"/>
            </a:avLst>
          </a:prstGeom>
          <a:solidFill>
            <a:srgbClr val="FFFBEB"/>
          </a:solidFill>
          <a:ln w="10160">
            <a:solidFill>
              <a:srgbClr val="FDE68A"/>
            </a:solidFill>
            <a:prstDash val="solid"/>
          </a:ln>
        </p:spPr>
        <p:txBody>
          <a:bodyPr/>
          <a:lstStyle/>
          <a:p>
            <a:endParaRPr lang="it-IT"/>
          </a:p>
        </p:txBody>
      </p:sp>
      <p:sp>
        <p:nvSpPr>
          <p:cNvPr id="10" name="Text 8"/>
          <p:cNvSpPr txBox="1"/>
          <p:nvPr/>
        </p:nvSpPr>
        <p:spPr>
          <a:xfrm>
            <a:off x="1051560" y="3218688"/>
            <a:ext cx="2468880" cy="182880"/>
          </a:xfrm>
          <a:prstGeom prst="rect">
            <a:avLst/>
          </a:prstGeom>
          <a:noFill/>
          <a:ln/>
        </p:spPr>
        <p:txBody>
          <a:bodyPr wrap="square" lIns="0" tIns="0" rIns="0" bIns="0" rtlCol="0" anchor="ctr"/>
          <a:lstStyle/>
          <a:p>
            <a:pPr marL="0" indent="0">
              <a:buNone/>
            </a:pPr>
            <a:r>
              <a:rPr lang="en-US" sz="800" b="1">
                <a:solidFill>
                  <a:srgbClr val="D97706"/>
                </a:solidFill>
                <a:latin typeface="Arial" pitchFamily="34" charset="0"/>
                <a:ea typeface="Arial" pitchFamily="34" charset="-122"/>
                <a:cs typeface="Arial" pitchFamily="34" charset="-120"/>
              </a:rPr>
              <a:t>IL SEGRETO INDUSTRIALE SUI DATI</a:t>
            </a:r>
            <a:endParaRPr lang="en-US" sz="800"/>
          </a:p>
        </p:txBody>
      </p:sp>
      <p:sp>
        <p:nvSpPr>
          <p:cNvPr id="11" name="Text 9"/>
          <p:cNvSpPr txBox="1"/>
          <p:nvPr/>
        </p:nvSpPr>
        <p:spPr>
          <a:xfrm>
            <a:off x="1051560" y="3429000"/>
            <a:ext cx="2468880" cy="960120"/>
          </a:xfrm>
          <a:prstGeom prst="rect">
            <a:avLst/>
          </a:prstGeom>
          <a:noFill/>
          <a:ln/>
        </p:spPr>
        <p:txBody>
          <a:bodyPr wrap="square" lIns="0" tIns="0" rIns="0" bIns="0" rtlCol="0" anchor="t"/>
          <a:lstStyle/>
          <a:p>
            <a:pPr marL="0" indent="0">
              <a:lnSpc>
                <a:spcPts val="1150"/>
              </a:lnSpc>
              <a:buNone/>
            </a:pPr>
            <a:r>
              <a:rPr lang="en-US" sz="820">
                <a:solidFill>
                  <a:srgbClr val="334155"/>
                </a:solidFill>
                <a:latin typeface="Arial" pitchFamily="34" charset="0"/>
                <a:ea typeface="Arial" pitchFamily="34" charset="-122"/>
                <a:cs typeface="Arial" pitchFamily="34" charset="-120"/>
              </a:rPr>
              <a:t>Le aziende software considerano i dati di effort come segreti industriali protetti da </a:t>
            </a:r>
            <a:r>
              <a:rPr lang="en-US" sz="820" err="1">
                <a:solidFill>
                  <a:srgbClr val="334155"/>
                </a:solidFill>
                <a:latin typeface="Arial" pitchFamily="34" charset="0"/>
                <a:ea typeface="Arial" pitchFamily="34" charset="-122"/>
                <a:cs typeface="Arial" pitchFamily="34" charset="-120"/>
              </a:rPr>
              <a:t>segreto</a:t>
            </a:r>
            <a:r>
              <a:rPr lang="en-US" sz="820">
                <a:solidFill>
                  <a:srgbClr val="334155"/>
                </a:solidFill>
                <a:latin typeface="Arial" pitchFamily="34" charset="0"/>
                <a:ea typeface="Arial" pitchFamily="34" charset="-122"/>
                <a:cs typeface="Arial" pitchFamily="34" charset="-120"/>
              </a:rPr>
              <a:t> </a:t>
            </a:r>
            <a:r>
              <a:rPr lang="en-US" sz="820" err="1">
                <a:solidFill>
                  <a:srgbClr val="334155"/>
                </a:solidFill>
                <a:latin typeface="Arial" pitchFamily="34" charset="0"/>
                <a:ea typeface="Arial" pitchFamily="34" charset="-122"/>
                <a:cs typeface="Arial" pitchFamily="34" charset="-120"/>
              </a:rPr>
              <a:t>industriale</a:t>
            </a:r>
            <a:r>
              <a:rPr lang="en-US" sz="820">
                <a:solidFill>
                  <a:srgbClr val="334155"/>
                </a:solidFill>
                <a:latin typeface="Arial" pitchFamily="34" charset="0"/>
                <a:ea typeface="Arial" pitchFamily="34" charset="-122"/>
                <a:cs typeface="Arial" pitchFamily="34" charset="-120"/>
              </a:rPr>
              <a:t>.</a:t>
            </a:r>
          </a:p>
          <a:p>
            <a:pPr marL="0" indent="0">
              <a:lnSpc>
                <a:spcPts val="1150"/>
              </a:lnSpc>
              <a:buNone/>
            </a:pPr>
            <a:endParaRPr lang="en-US" sz="820">
              <a:solidFill>
                <a:srgbClr val="334155"/>
              </a:solidFill>
              <a:latin typeface="Arial" pitchFamily="34" charset="0"/>
              <a:ea typeface="Arial" pitchFamily="34" charset="-122"/>
              <a:cs typeface="Arial" pitchFamily="34" charset="-120"/>
            </a:endParaRPr>
          </a:p>
          <a:p>
            <a:pPr marL="0" indent="0">
              <a:lnSpc>
                <a:spcPts val="1150"/>
              </a:lnSpc>
              <a:buNone/>
            </a:pPr>
            <a:r>
              <a:rPr lang="en-US" sz="820">
                <a:solidFill>
                  <a:srgbClr val="334155"/>
                </a:solidFill>
                <a:latin typeface="Arial" pitchFamily="34" charset="0"/>
                <a:ea typeface="Arial" pitchFamily="34" charset="-122"/>
                <a:cs typeface="Arial" pitchFamily="34" charset="-120"/>
              </a:rPr>
              <a:t>I dataset aperti sono rari e preziosi. </a:t>
            </a:r>
            <a:endParaRPr lang="en-US" sz="820"/>
          </a:p>
        </p:txBody>
      </p:sp>
      <p:sp>
        <p:nvSpPr>
          <p:cNvPr id="12" name="Shape 10"/>
          <p:cNvSpPr/>
          <p:nvPr/>
        </p:nvSpPr>
        <p:spPr>
          <a:xfrm>
            <a:off x="4069080" y="1051560"/>
            <a:ext cx="4343400" cy="3566160"/>
          </a:xfrm>
          <a:prstGeom prst="roundRect">
            <a:avLst>
              <a:gd name="adj" fmla="val 2051"/>
            </a:avLst>
          </a:prstGeom>
          <a:solidFill>
            <a:srgbClr val="FFFFFF"/>
          </a:solidFill>
          <a:ln w="12700">
            <a:solidFill>
              <a:srgbClr val="CBD5E1"/>
            </a:solidFill>
            <a:prstDash val="solid"/>
          </a:ln>
        </p:spPr>
        <p:txBody>
          <a:bodyPr/>
          <a:lstStyle/>
          <a:p>
            <a:endParaRPr lang="it-IT"/>
          </a:p>
        </p:txBody>
      </p:sp>
      <p:sp>
        <p:nvSpPr>
          <p:cNvPr id="13" name="Text 11"/>
          <p:cNvSpPr txBox="1"/>
          <p:nvPr/>
        </p:nvSpPr>
        <p:spPr>
          <a:xfrm>
            <a:off x="4251960" y="1234440"/>
            <a:ext cx="3977640" cy="182880"/>
          </a:xfrm>
          <a:prstGeom prst="rect">
            <a:avLst/>
          </a:prstGeom>
          <a:noFill/>
          <a:ln/>
        </p:spPr>
        <p:txBody>
          <a:bodyPr wrap="square" lIns="0" tIns="0" rIns="0" bIns="0" rtlCol="0" anchor="ctr"/>
          <a:lstStyle/>
          <a:p>
            <a:pPr marL="0" indent="0">
              <a:buNone/>
            </a:pPr>
            <a:r>
              <a:rPr lang="en-US" sz="850" b="1">
                <a:solidFill>
                  <a:srgbClr val="059669"/>
                </a:solidFill>
                <a:latin typeface="Arial" pitchFamily="34" charset="0"/>
                <a:ea typeface="Arial" pitchFamily="34" charset="-122"/>
                <a:cs typeface="Arial" pitchFamily="34" charset="-120"/>
              </a:rPr>
              <a:t>ANATOMIA DEL DATASET CHINA</a:t>
            </a:r>
            <a:endParaRPr lang="en-US" sz="850"/>
          </a:p>
        </p:txBody>
      </p:sp>
      <p:sp>
        <p:nvSpPr>
          <p:cNvPr id="14" name="Text 12"/>
          <p:cNvSpPr txBox="1"/>
          <p:nvPr/>
        </p:nvSpPr>
        <p:spPr>
          <a:xfrm>
            <a:off x="4251960" y="1444752"/>
            <a:ext cx="397764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Dettaglio delle Variabili Disponibili</a:t>
            </a:r>
            <a:endParaRPr lang="en-US" sz="130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251960" y="1783080"/>
          <a:ext cx="3977640" cy="1511808"/>
        </p:xfrm>
        <a:graphic>
          <a:graphicData uri="http://schemas.openxmlformats.org/drawingml/2006/table">
            <a:tbl>
              <a:tblPr/>
              <a:tblGrid>
                <a:gridCol w="12344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292608">
                <a:tc>
                  <a:txBody>
                    <a:bodyPr/>
                    <a:lstStyle/>
                    <a:p>
                      <a:pPr marL="0" indent="0" algn="ctr">
                        <a:buNone/>
                      </a:pPr>
                      <a:r>
                        <a:rPr lang="en-US" sz="820" b="1">
                          <a:solidFill>
                            <a:srgbClr val="FFFFFF"/>
                          </a:solidFill>
                        </a:rPr>
                        <a:t>Categoria</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20" b="1">
                          <a:solidFill>
                            <a:srgbClr val="FFFFFF"/>
                          </a:solidFill>
                        </a:rPr>
                        <a:t>Variabili Tracciate</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20" b="1">
                          <a:solidFill>
                            <a:srgbClr val="FFFFFF"/>
                          </a:solidFill>
                        </a:rPr>
                        <a:t>Ruolo nel Modello</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extLst>
                  <a:ext uri="{0D108BD9-81ED-4DB2-BD59-A6C34878D82A}">
                    <a16:rowId xmlns:a16="http://schemas.microsoft.com/office/drawing/2014/main" val="10000"/>
                  </a:ext>
                </a:extLst>
              </a:tr>
              <a:tr h="292608">
                <a:tc>
                  <a:txBody>
                    <a:bodyPr/>
                    <a:lstStyle/>
                    <a:p>
                      <a:pPr marL="0" indent="0" algn="ctr">
                        <a:buNone/>
                      </a:pPr>
                      <a:r>
                        <a:rPr lang="en-US" sz="820" b="1">
                          <a:solidFill>
                            <a:srgbClr val="000000"/>
                          </a:solidFill>
                        </a:rPr>
                        <a:t>Funzionali IFPUG</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Input, Output, Enquiry, File, Interface</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Feature X (5 input)</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ctr">
                        <a:buNone/>
                      </a:pPr>
                      <a:r>
                        <a:rPr lang="en-US" sz="820" b="1">
                          <a:solidFill>
                            <a:srgbClr val="000000"/>
                          </a:solidFill>
                        </a:rPr>
                        <a:t>Funzionali Totali</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AFP (Adjusted FP), UFP</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Verifica correlazione</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ctr">
                        <a:buNone/>
                      </a:pPr>
                      <a:r>
                        <a:rPr lang="en-US" sz="820" b="1">
                          <a:solidFill>
                            <a:srgbClr val="000000"/>
                          </a:solidFill>
                        </a:rPr>
                        <a:t>Componenti Evolutivi</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Added, Changed, Deleted</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Feature evolutive</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lgn="ctr">
                        <a:buNone/>
                      </a:pPr>
                      <a:r>
                        <a:rPr lang="en-US" sz="820" b="1">
                          <a:solidFill>
                            <a:srgbClr val="2563EB"/>
                          </a:solidFill>
                        </a:rPr>
                        <a:t>Target di Stima</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a:solidFill>
                            <a:srgbClr val="000000"/>
                          </a:solidFill>
                        </a:rPr>
                        <a:t>Effort reale (ore-uomo)</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20" b="1">
                          <a:solidFill>
                            <a:srgbClr val="000000"/>
                          </a:solidFill>
                        </a:rPr>
                        <a:t>Target y da predire</a:t>
                      </a:r>
                      <a:endParaRPr lang="en-US" sz="82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Shape 13"/>
          <p:cNvSpPr/>
          <p:nvPr/>
        </p:nvSpPr>
        <p:spPr>
          <a:xfrm>
            <a:off x="4251960" y="3383280"/>
            <a:ext cx="3977640" cy="1097280"/>
          </a:xfrm>
          <a:prstGeom prst="roundRect">
            <a:avLst>
              <a:gd name="adj" fmla="val 5000"/>
            </a:avLst>
          </a:prstGeom>
          <a:solidFill>
            <a:srgbClr val="EFF6FF"/>
          </a:solidFill>
          <a:ln/>
        </p:spPr>
        <p:txBody>
          <a:bodyPr/>
          <a:lstStyle/>
          <a:p>
            <a:endParaRPr lang="it-IT"/>
          </a:p>
        </p:txBody>
      </p:sp>
      <p:sp>
        <p:nvSpPr>
          <p:cNvPr id="17" name="Text 14"/>
          <p:cNvSpPr txBox="1"/>
          <p:nvPr/>
        </p:nvSpPr>
        <p:spPr>
          <a:xfrm>
            <a:off x="4389120" y="3493008"/>
            <a:ext cx="3703320" cy="182880"/>
          </a:xfrm>
          <a:prstGeom prst="rect">
            <a:avLst/>
          </a:prstGeom>
          <a:noFill/>
          <a:ln/>
        </p:spPr>
        <p:txBody>
          <a:bodyPr wrap="square" lIns="0" tIns="0" rIns="0" bIns="0" rtlCol="0" anchor="ctr"/>
          <a:lstStyle/>
          <a:p>
            <a:pPr marL="0" indent="0">
              <a:buNone/>
            </a:pPr>
            <a:r>
              <a:rPr lang="en-US" sz="800" b="1">
                <a:solidFill>
                  <a:srgbClr val="2563EB"/>
                </a:solidFill>
                <a:latin typeface="Arial" pitchFamily="34" charset="0"/>
                <a:ea typeface="Arial" pitchFamily="34" charset="-122"/>
                <a:cs typeface="Arial" pitchFamily="34" charset="-120"/>
              </a:rPr>
              <a:t>EVIDENZA STATISTICA PRIMARIA SUI DATI:</a:t>
            </a:r>
            <a:endParaRPr lang="en-US" sz="800"/>
          </a:p>
        </p:txBody>
      </p:sp>
      <p:sp>
        <p:nvSpPr>
          <p:cNvPr id="18" name="Text 15"/>
          <p:cNvSpPr txBox="1"/>
          <p:nvPr/>
        </p:nvSpPr>
        <p:spPr>
          <a:xfrm>
            <a:off x="4389120" y="3694176"/>
            <a:ext cx="3703320" cy="685800"/>
          </a:xfrm>
          <a:prstGeom prst="rect">
            <a:avLst/>
          </a:prstGeom>
          <a:noFill/>
          <a:ln/>
        </p:spPr>
        <p:txBody>
          <a:bodyPr wrap="square" lIns="0" tIns="0" rIns="0" bIns="0" rtlCol="0" anchor="ctr"/>
          <a:lstStyle/>
          <a:p>
            <a:pPr marL="0" indent="0">
              <a:lnSpc>
                <a:spcPts val="1150"/>
              </a:lnSpc>
              <a:buNone/>
            </a:pPr>
            <a:r>
              <a:rPr lang="en-US" sz="820">
                <a:solidFill>
                  <a:srgbClr val="0F2744"/>
                </a:solidFill>
                <a:latin typeface="Arial" pitchFamily="34" charset="0"/>
                <a:ea typeface="Arial" pitchFamily="34" charset="-122"/>
                <a:cs typeface="Arial" pitchFamily="34" charset="-120"/>
              </a:rPr>
              <a:t>• Correlazione UFP vs AFP: r = 0.9912 (quasi perfetta concordanza funzionale)</a:t>
            </a:r>
            <a:endParaRPr lang="en-US" sz="820"/>
          </a:p>
          <a:p>
            <a:pPr marL="0" indent="0">
              <a:lnSpc>
                <a:spcPts val="1150"/>
              </a:lnSpc>
              <a:buNone/>
            </a:pPr>
            <a:r>
              <a:rPr lang="en-US" sz="820">
                <a:solidFill>
                  <a:srgbClr val="0F2744"/>
                </a:solidFill>
                <a:latin typeface="Arial" pitchFamily="34" charset="0"/>
                <a:ea typeface="Arial" pitchFamily="34" charset="-122"/>
                <a:cs typeface="Arial" pitchFamily="34" charset="-120"/>
              </a:rPr>
              <a:t>• Effort medio: 3.921 ore | Effort mediano: 1.829 ore</a:t>
            </a:r>
            <a:endParaRPr lang="en-US" sz="820"/>
          </a:p>
          <a:p>
            <a:pPr marL="0" indent="0">
              <a:lnSpc>
                <a:spcPts val="1150"/>
              </a:lnSpc>
              <a:buNone/>
            </a:pPr>
            <a:r>
              <a:rPr lang="en-US" sz="820">
                <a:solidFill>
                  <a:srgbClr val="0F2744"/>
                </a:solidFill>
                <a:latin typeface="Arial" pitchFamily="34" charset="0"/>
                <a:ea typeface="Arial" pitchFamily="34" charset="-122"/>
                <a:cs typeface="Arial" pitchFamily="34" charset="-120"/>
              </a:rPr>
              <a:t>• Asimmetria estrema: il progetto massimo misura 54.620 ore (presenza di forti outlier).</a:t>
            </a:r>
            <a:endParaRPr lang="en-US" sz="82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SPERIMENTAZIONE PRELIMINARE</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a:solidFill>
                  <a:srgbClr val="0F2744"/>
                </a:solidFill>
                <a:latin typeface="Arial" pitchFamily="34" charset="0"/>
                <a:ea typeface="Arial" pitchFamily="34" charset="-122"/>
                <a:cs typeface="Arial" pitchFamily="34" charset="-120"/>
              </a:rPr>
              <a:t>I Primi Esperimenti: Il Fallimento del ML Classico</a:t>
            </a:r>
            <a:endParaRPr lang="en-US" sz="1850"/>
          </a:p>
        </p:txBody>
      </p:sp>
      <p:sp>
        <p:nvSpPr>
          <p:cNvPr id="4" name="Shape 2"/>
          <p:cNvSpPr/>
          <p:nvPr/>
        </p:nvSpPr>
        <p:spPr>
          <a:xfrm>
            <a:off x="731520" y="1051560"/>
            <a:ext cx="3703320" cy="2423160"/>
          </a:xfrm>
          <a:prstGeom prst="roundRect">
            <a:avLst>
              <a:gd name="adj" fmla="val 3019"/>
            </a:avLst>
          </a:prstGeom>
          <a:solidFill>
            <a:srgbClr val="FFFFFF"/>
          </a:solidFill>
          <a:ln w="12700">
            <a:solidFill>
              <a:srgbClr val="CBD5E1"/>
            </a:solidFill>
            <a:prstDash val="solid"/>
          </a:ln>
        </p:spPr>
        <p:txBody>
          <a:bodyPr/>
          <a:lstStyle/>
          <a:p>
            <a:endParaRPr lang="it-IT"/>
          </a:p>
        </p:txBody>
      </p:sp>
      <p:sp>
        <p:nvSpPr>
          <p:cNvPr id="5" name="Text 3"/>
          <p:cNvSpPr txBox="1"/>
          <p:nvPr/>
        </p:nvSpPr>
        <p:spPr>
          <a:xfrm>
            <a:off x="914400" y="1234440"/>
            <a:ext cx="3337560" cy="182880"/>
          </a:xfrm>
          <a:prstGeom prst="rect">
            <a:avLst/>
          </a:prstGeom>
          <a:noFill/>
          <a:ln/>
        </p:spPr>
        <p:txBody>
          <a:bodyPr wrap="square" lIns="0" tIns="0" rIns="0" bIns="0" rtlCol="0" anchor="ctr"/>
          <a:lstStyle/>
          <a:p>
            <a:pPr marL="0" indent="0">
              <a:buNone/>
            </a:pPr>
            <a:r>
              <a:rPr lang="en-US" sz="800" b="1">
                <a:solidFill>
                  <a:srgbClr val="2563EB"/>
                </a:solidFill>
                <a:latin typeface="Arial" pitchFamily="34" charset="0"/>
                <a:ea typeface="Arial" pitchFamily="34" charset="-122"/>
                <a:cs typeface="Arial" pitchFamily="34" charset="-120"/>
              </a:rPr>
              <a:t>TENTATIVO 1: FORMULE LINEARI (DI MARTINO ET AL., 2020)</a:t>
            </a:r>
            <a:endParaRPr lang="en-US" sz="800"/>
          </a:p>
        </p:txBody>
      </p:sp>
      <p:sp>
        <p:nvSpPr>
          <p:cNvPr id="6" name="Text 4"/>
          <p:cNvSpPr txBox="1"/>
          <p:nvPr/>
        </p:nvSpPr>
        <p:spPr>
          <a:xfrm>
            <a:off x="914400" y="1444752"/>
            <a:ext cx="333756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Simple Linear Regression (SLR)</a:t>
            </a:r>
            <a:endParaRPr lang="en-US" sz="1300"/>
          </a:p>
        </p:txBody>
      </p:sp>
      <p:sp>
        <p:nvSpPr>
          <p:cNvPr id="7" name="Text 5"/>
          <p:cNvSpPr txBox="1"/>
          <p:nvPr/>
        </p:nvSpPr>
        <p:spPr>
          <a:xfrm>
            <a:off x="914400" y="1783080"/>
            <a:ext cx="3337560" cy="1554480"/>
          </a:xfrm>
          <a:prstGeom prst="rect">
            <a:avLst/>
          </a:prstGeom>
          <a:noFill/>
          <a:ln/>
        </p:spPr>
        <p:txBody>
          <a:bodyPr wrap="square" lIns="0" tIns="0" rIns="0" bIns="0" rtlCol="0" anchor="t"/>
          <a:lstStyle/>
          <a:p>
            <a:pPr marL="0" indent="0">
              <a:lnSpc>
                <a:spcPts val="1250"/>
              </a:lnSpc>
              <a:buNone/>
            </a:pPr>
            <a:r>
              <a:rPr lang="en-US" sz="880">
                <a:solidFill>
                  <a:srgbClr val="334155"/>
                </a:solidFill>
                <a:latin typeface="Arial" pitchFamily="34" charset="0"/>
                <a:ea typeface="Arial" pitchFamily="34" charset="-122"/>
                <a:cs typeface="Arial" pitchFamily="34" charset="-120"/>
              </a:rPr>
              <a:t>Siamo partiti dallo studio dei paper consigliati, in primis il lavoro del Prof. Di Martino et al. (2020), che valuta metodi FSM approssimati (HLFPA, IFPA, COSMIC) abbinati alla Regressione Lineare Semplice.</a:t>
            </a:r>
            <a:endParaRPr lang="en-US" sz="880"/>
          </a:p>
          <a:p>
            <a:pPr marL="0" indent="0">
              <a:lnSpc>
                <a:spcPts val="1250"/>
              </a:lnSpc>
              <a:buNone/>
            </a:pPr>
            <a:endParaRPr lang="en-US" sz="880"/>
          </a:p>
          <a:p>
            <a:pPr>
              <a:lnSpc>
                <a:spcPts val="1250"/>
              </a:lnSpc>
            </a:pP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Pregi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Formule</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chiuse</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trasparenti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applicabili</a:t>
            </a:r>
            <a:r>
              <a:rPr lang="en-US" sz="850">
                <a:solidFill>
                  <a:srgbClr val="334155"/>
                </a:solidFill>
                <a:latin typeface="Arial"/>
                <a:ea typeface="Arial" pitchFamily="34" charset="-122"/>
                <a:cs typeface="Arial"/>
              </a:rPr>
              <a:t> con </a:t>
            </a:r>
            <a:r>
              <a:rPr lang="en-US" sz="850" err="1">
                <a:solidFill>
                  <a:srgbClr val="334155"/>
                </a:solidFill>
                <a:latin typeface="Arial"/>
                <a:ea typeface="Arial" pitchFamily="34" charset="-122"/>
                <a:cs typeface="Arial"/>
              </a:rPr>
              <a:t>pochi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dati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embrionali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interpretabilità</a:t>
            </a:r>
            <a:r>
              <a:rPr lang="en-US" sz="850">
                <a:solidFill>
                  <a:srgbClr val="334155"/>
                </a:solidFill>
                <a:latin typeface="Arial"/>
                <a:ea typeface="Arial" pitchFamily="34" charset="-122"/>
                <a:cs typeface="Arial"/>
              </a:rPr>
              <a:t>.</a:t>
            </a:r>
            <a:endParaRPr lang="en-US" sz="880"/>
          </a:p>
          <a:p>
            <a:pPr marL="0" indent="0">
              <a:lnSpc>
                <a:spcPts val="1250"/>
              </a:lnSpc>
              <a:buNone/>
            </a:pP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Limiti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riscontrati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Costringere</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dati</a:t>
            </a:r>
            <a:r>
              <a:rPr lang="en-US" sz="850">
                <a:solidFill>
                  <a:srgbClr val="334155"/>
                </a:solidFill>
                <a:latin typeface="Arial"/>
                <a:ea typeface="Arial" pitchFamily="34" charset="-122"/>
                <a:cs typeface="Arial"/>
              </a:rPr>
              <a:t> in </a:t>
            </a:r>
            <a:r>
              <a:rPr lang="en-US" sz="850" err="1">
                <a:solidFill>
                  <a:srgbClr val="334155"/>
                </a:solidFill>
                <a:latin typeface="Arial"/>
                <a:ea typeface="Arial" pitchFamily="34" charset="-122"/>
                <a:cs typeface="Arial"/>
              </a:rPr>
              <a:t>una</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retta</a:t>
            </a:r>
            <a:r>
              <a:rPr lang="en-US" sz="850">
                <a:solidFill>
                  <a:srgbClr val="334155"/>
                </a:solidFill>
                <a:latin typeface="Arial"/>
                <a:ea typeface="Arial" pitchFamily="34" charset="-122"/>
                <a:cs typeface="Arial"/>
              </a:rPr>
              <a:t> non </a:t>
            </a:r>
            <a:r>
              <a:rPr lang="en-US" sz="850" err="1">
                <a:solidFill>
                  <a:srgbClr val="334155"/>
                </a:solidFill>
                <a:latin typeface="Arial"/>
                <a:ea typeface="Arial" pitchFamily="34" charset="-122"/>
                <a:cs typeface="Arial"/>
              </a:rPr>
              <a:t>permetteva</a:t>
            </a:r>
            <a:r>
              <a:rPr lang="en-US" sz="850">
                <a:solidFill>
                  <a:srgbClr val="334155"/>
                </a:solidFill>
                <a:latin typeface="Arial"/>
                <a:ea typeface="Arial" pitchFamily="34" charset="-122"/>
                <a:cs typeface="Arial"/>
              </a:rPr>
              <a:t> di </a:t>
            </a:r>
            <a:r>
              <a:rPr lang="en-US" sz="850" err="1">
                <a:solidFill>
                  <a:srgbClr val="334155"/>
                </a:solidFill>
                <a:latin typeface="Arial"/>
                <a:ea typeface="Arial" pitchFamily="34" charset="-122"/>
                <a:cs typeface="Arial"/>
              </a:rPr>
              <a:t>cogliere</a:t>
            </a:r>
            <a:r>
              <a:rPr lang="en-US" sz="850">
                <a:solidFill>
                  <a:srgbClr val="334155"/>
                </a:solidFill>
                <a:latin typeface="Arial"/>
                <a:ea typeface="Arial" pitchFamily="34" charset="-122"/>
                <a:cs typeface="Arial"/>
              </a:rPr>
              <a:t> le </a:t>
            </a:r>
            <a:r>
              <a:rPr lang="en-US" sz="850" err="1">
                <a:solidFill>
                  <a:srgbClr val="334155"/>
                </a:solidFill>
                <a:latin typeface="Arial"/>
                <a:ea typeface="Arial" pitchFamily="34" charset="-122"/>
                <a:cs typeface="Arial"/>
              </a:rPr>
              <a:t>relazioni</a:t>
            </a:r>
            <a:r>
              <a:rPr lang="en-US" sz="850">
                <a:solidFill>
                  <a:srgbClr val="334155"/>
                </a:solidFill>
                <a:latin typeface="Arial"/>
                <a:ea typeface="Arial" pitchFamily="34" charset="-122"/>
                <a:cs typeface="Arial"/>
              </a:rPr>
              <a:t> e le </a:t>
            </a:r>
            <a:r>
              <a:rPr lang="en-US" sz="850" err="1">
                <a:solidFill>
                  <a:srgbClr val="334155"/>
                </a:solidFill>
                <a:latin typeface="Arial"/>
                <a:ea typeface="Arial" pitchFamily="34" charset="-122"/>
                <a:cs typeface="Arial"/>
              </a:rPr>
              <a:t>interazioni</a:t>
            </a:r>
            <a:r>
              <a:rPr lang="en-US" sz="850">
                <a:solidFill>
                  <a:srgbClr val="334155"/>
                </a:solidFill>
                <a:latin typeface="Arial"/>
                <a:ea typeface="Arial" pitchFamily="34" charset="-122"/>
                <a:cs typeface="Arial"/>
              </a:rPr>
              <a:t> non </a:t>
            </a:r>
            <a:r>
              <a:rPr lang="en-US" sz="850" err="1">
                <a:solidFill>
                  <a:srgbClr val="334155"/>
                </a:solidFill>
                <a:latin typeface="Arial"/>
                <a:ea typeface="Arial" pitchFamily="34" charset="-122"/>
                <a:cs typeface="Arial"/>
              </a:rPr>
              <a:t>lineari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tra</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attributi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funzionali</a:t>
            </a:r>
            <a:r>
              <a:rPr lang="en-US" sz="850">
                <a:solidFill>
                  <a:srgbClr val="334155"/>
                </a:solidFill>
                <a:latin typeface="Arial"/>
                <a:ea typeface="Arial" pitchFamily="34" charset="-122"/>
                <a:cs typeface="Arial"/>
              </a:rPr>
              <a:t>.</a:t>
            </a:r>
            <a:endParaRPr lang="en-US" sz="850">
              <a:latin typeface="Arial"/>
              <a:cs typeface="Arial"/>
            </a:endParaRPr>
          </a:p>
        </p:txBody>
      </p:sp>
      <p:sp>
        <p:nvSpPr>
          <p:cNvPr id="8" name="Shape 6"/>
          <p:cNvSpPr/>
          <p:nvPr/>
        </p:nvSpPr>
        <p:spPr>
          <a:xfrm>
            <a:off x="4709160" y="1051560"/>
            <a:ext cx="3703320" cy="2423160"/>
          </a:xfrm>
          <a:prstGeom prst="roundRect">
            <a:avLst>
              <a:gd name="adj" fmla="val 3019"/>
            </a:avLst>
          </a:prstGeom>
          <a:solidFill>
            <a:srgbClr val="FEF2F2"/>
          </a:solidFill>
          <a:ln w="12700">
            <a:solidFill>
              <a:srgbClr val="FECACA"/>
            </a:solidFill>
            <a:prstDash val="solid"/>
          </a:ln>
        </p:spPr>
        <p:txBody>
          <a:bodyPr/>
          <a:lstStyle/>
          <a:p>
            <a:endParaRPr lang="it-IT"/>
          </a:p>
        </p:txBody>
      </p:sp>
      <p:sp>
        <p:nvSpPr>
          <p:cNvPr id="9" name="Text 7"/>
          <p:cNvSpPr txBox="1"/>
          <p:nvPr/>
        </p:nvSpPr>
        <p:spPr>
          <a:xfrm>
            <a:off x="4892040" y="1234440"/>
            <a:ext cx="3337560" cy="182880"/>
          </a:xfrm>
          <a:prstGeom prst="rect">
            <a:avLst/>
          </a:prstGeom>
          <a:noFill/>
          <a:ln/>
        </p:spPr>
        <p:txBody>
          <a:bodyPr wrap="square" lIns="0" tIns="0" rIns="0" bIns="0" rtlCol="0" anchor="ctr"/>
          <a:lstStyle/>
          <a:p>
            <a:pPr marL="0" indent="0">
              <a:buNone/>
            </a:pPr>
            <a:r>
              <a:rPr lang="en-US" sz="800" b="1">
                <a:solidFill>
                  <a:srgbClr val="DC2626"/>
                </a:solidFill>
                <a:latin typeface="Arial" pitchFamily="34" charset="0"/>
                <a:ea typeface="Arial" pitchFamily="34" charset="-122"/>
                <a:cs typeface="Arial" pitchFamily="34" charset="-120"/>
              </a:rPr>
              <a:t>TENTATIVO 2: RANDOM FOREST &amp; SVM (ML CLASSICO)</a:t>
            </a:r>
            <a:endParaRPr lang="en-US" sz="800"/>
          </a:p>
        </p:txBody>
      </p:sp>
      <p:sp>
        <p:nvSpPr>
          <p:cNvPr id="10" name="Text 8"/>
          <p:cNvSpPr txBox="1"/>
          <p:nvPr/>
        </p:nvSpPr>
        <p:spPr>
          <a:xfrm>
            <a:off x="4892040" y="1444752"/>
            <a:ext cx="333756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Il Muro Invalicabile degli Outlier</a:t>
            </a:r>
            <a:endParaRPr lang="en-US" sz="1300"/>
          </a:p>
        </p:txBody>
      </p:sp>
      <p:sp>
        <p:nvSpPr>
          <p:cNvPr id="11" name="Text 9"/>
          <p:cNvSpPr txBox="1"/>
          <p:nvPr/>
        </p:nvSpPr>
        <p:spPr>
          <a:xfrm>
            <a:off x="4892040" y="1783080"/>
            <a:ext cx="3337560" cy="1554480"/>
          </a:xfrm>
          <a:prstGeom prst="rect">
            <a:avLst/>
          </a:prstGeom>
          <a:noFill/>
          <a:ln/>
        </p:spPr>
        <p:txBody>
          <a:bodyPr wrap="square" lIns="0" tIns="0" rIns="0" bIns="0" rtlCol="0" anchor="t"/>
          <a:lstStyle/>
          <a:p>
            <a:pPr marL="0" indent="0">
              <a:lnSpc>
                <a:spcPts val="1250"/>
              </a:lnSpc>
              <a:buNone/>
            </a:pPr>
            <a:r>
              <a:rPr lang="en-US" sz="880">
                <a:solidFill>
                  <a:srgbClr val="334155"/>
                </a:solidFill>
                <a:latin typeface="Arial" pitchFamily="34" charset="0"/>
                <a:ea typeface="Arial" pitchFamily="34" charset="-122"/>
                <a:cs typeface="Arial" pitchFamily="34" charset="-120"/>
              </a:rPr>
              <a:t>Abbiamo provato a superare la retta implementando Random Forest e Support Vector Machines (SVM/SVR) sui dati di China.</a:t>
            </a:r>
            <a:endParaRPr lang="en-US" sz="880"/>
          </a:p>
          <a:p>
            <a:pPr marL="0" indent="0">
              <a:lnSpc>
                <a:spcPts val="1250"/>
              </a:lnSpc>
              <a:buNone/>
            </a:pPr>
            <a:endParaRPr lang="en-US" sz="880"/>
          </a:p>
          <a:p>
            <a:pPr>
              <a:lnSpc>
                <a:spcPts val="1250"/>
              </a:lnSpc>
            </a:pPr>
            <a:r>
              <a:rPr lang="en-US" sz="850">
                <a:solidFill>
                  <a:srgbClr val="334155"/>
                </a:solidFill>
                <a:latin typeface="Arial"/>
                <a:ea typeface="Arial" pitchFamily="34" charset="-122"/>
                <a:cs typeface="Arial"/>
              </a:rPr>
              <a:t>I </a:t>
            </a:r>
            <a:r>
              <a:rPr lang="en-US" sz="850" err="1">
                <a:solidFill>
                  <a:srgbClr val="334155"/>
                </a:solidFill>
                <a:latin typeface="Arial"/>
                <a:ea typeface="Arial" pitchFamily="34" charset="-122"/>
                <a:cs typeface="Arial"/>
              </a:rPr>
              <a:t>risultati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lasciano</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desiderare</a:t>
            </a:r>
            <a:r>
              <a:rPr lang="en-US" sz="850">
                <a:solidFill>
                  <a:srgbClr val="334155"/>
                </a:solidFill>
                <a:latin typeface="Arial"/>
                <a:ea typeface="Arial" pitchFamily="34" charset="-122"/>
                <a:cs typeface="Arial"/>
              </a:rPr>
              <a:t>:</a:t>
            </a:r>
            <a:endParaRPr lang="en-US" sz="850">
              <a:latin typeface="Arial"/>
              <a:cs typeface="Arial"/>
            </a:endParaRPr>
          </a:p>
          <a:p>
            <a:pPr marL="0" indent="0">
              <a:lnSpc>
                <a:spcPts val="1250"/>
              </a:lnSpc>
              <a:buNone/>
            </a:pPr>
            <a:r>
              <a:rPr lang="en-US" sz="880">
                <a:solidFill>
                  <a:srgbClr val="334155"/>
                </a:solidFill>
                <a:latin typeface="Arial" pitchFamily="34" charset="0"/>
                <a:ea typeface="Arial" pitchFamily="34" charset="-122"/>
                <a:cs typeface="Arial" pitchFamily="34" charset="-120"/>
              </a:rPr>
              <a:t>• Nei dataset software l'asimmetria è estrema (pochi progetti fuori scala da 50.000 ore).</a:t>
            </a:r>
            <a:endParaRPr lang="en-US" sz="880"/>
          </a:p>
          <a:p>
            <a:pPr marL="0" indent="0">
              <a:lnSpc>
                <a:spcPts val="1250"/>
              </a:lnSpc>
              <a:buNone/>
            </a:pPr>
            <a:r>
              <a:rPr lang="en-US" sz="880">
                <a:solidFill>
                  <a:srgbClr val="334155"/>
                </a:solidFill>
                <a:latin typeface="Arial" pitchFamily="34" charset="0"/>
                <a:ea typeface="Arial" pitchFamily="34" charset="-122"/>
                <a:cs typeface="Arial" pitchFamily="34" charset="-120"/>
              </a:rPr>
              <a:t>• I modelli basati su loss quadratica concentravano tutto l'apprendimento sugli outlier, sballando completamente la stima sui progetti ordinari (MAE oltre 2.500 ore)!</a:t>
            </a:r>
            <a:endParaRPr lang="en-US" sz="880"/>
          </a:p>
        </p:txBody>
      </p:sp>
      <p:sp>
        <p:nvSpPr>
          <p:cNvPr id="12" name="Shape 10"/>
          <p:cNvSpPr/>
          <p:nvPr/>
        </p:nvSpPr>
        <p:spPr>
          <a:xfrm>
            <a:off x="731520" y="3611880"/>
            <a:ext cx="7680960" cy="1005840"/>
          </a:xfrm>
          <a:prstGeom prst="roundRect">
            <a:avLst>
              <a:gd name="adj" fmla="val 7273"/>
            </a:avLst>
          </a:prstGeom>
          <a:solidFill>
            <a:srgbClr val="FFFFFF"/>
          </a:solidFill>
          <a:ln w="19050">
            <a:solidFill>
              <a:srgbClr val="D97706"/>
            </a:solidFill>
            <a:prstDash val="solid"/>
          </a:ln>
        </p:spPr>
        <p:txBody>
          <a:bodyPr/>
          <a:lstStyle/>
          <a:p>
            <a:endParaRPr lang="it-IT"/>
          </a:p>
        </p:txBody>
      </p:sp>
      <p:sp>
        <p:nvSpPr>
          <p:cNvPr id="13" name="Text 11"/>
          <p:cNvSpPr txBox="1"/>
          <p:nvPr/>
        </p:nvSpPr>
        <p:spPr>
          <a:xfrm>
            <a:off x="960120" y="3749040"/>
            <a:ext cx="7223760" cy="201168"/>
          </a:xfrm>
          <a:prstGeom prst="rect">
            <a:avLst/>
          </a:prstGeom>
          <a:noFill/>
          <a:ln/>
        </p:spPr>
        <p:txBody>
          <a:bodyPr wrap="square" lIns="0" tIns="0" rIns="0" bIns="0" rtlCol="0" anchor="ctr"/>
          <a:lstStyle/>
          <a:p>
            <a:r>
              <a:rPr lang="en-US" sz="850" b="1">
                <a:solidFill>
                  <a:srgbClr val="D97706"/>
                </a:solidFill>
                <a:latin typeface="Arial"/>
                <a:ea typeface="Arial" pitchFamily="34" charset="-122"/>
                <a:cs typeface="Arial"/>
              </a:rPr>
              <a:t>ESITO DELLA SPERIMENTAZIONE INIZIALE:</a:t>
            </a:r>
            <a:endParaRPr lang="en-US" sz="850">
              <a:latin typeface="Arial"/>
              <a:cs typeface="Arial"/>
            </a:endParaRPr>
          </a:p>
        </p:txBody>
      </p:sp>
      <p:sp>
        <p:nvSpPr>
          <p:cNvPr id="14" name="Text 12"/>
          <p:cNvSpPr txBox="1"/>
          <p:nvPr/>
        </p:nvSpPr>
        <p:spPr>
          <a:xfrm>
            <a:off x="960120" y="3977640"/>
            <a:ext cx="7223760" cy="548640"/>
          </a:xfrm>
          <a:prstGeom prst="rect">
            <a:avLst/>
          </a:prstGeom>
          <a:noFill/>
          <a:ln/>
        </p:spPr>
        <p:txBody>
          <a:bodyPr wrap="square" lIns="0" tIns="0" rIns="0" bIns="0" rtlCol="0" anchor="ctr"/>
          <a:lstStyle/>
          <a:p>
            <a:pPr marL="0" indent="0">
              <a:lnSpc>
                <a:spcPts val="1400"/>
              </a:lnSpc>
              <a:buNone/>
            </a:pPr>
            <a:r>
              <a:rPr lang="en-US" sz="980" b="1">
                <a:solidFill>
                  <a:srgbClr val="0F2744"/>
                </a:solidFill>
                <a:latin typeface="Arial" pitchFamily="34" charset="0"/>
                <a:ea typeface="Arial" pitchFamily="34" charset="-122"/>
                <a:cs typeface="Arial" pitchFamily="34" charset="-120"/>
              </a:rPr>
              <a:t>I modelli </a:t>
            </a:r>
            <a:r>
              <a:rPr lang="en-US" sz="980" b="1" err="1">
                <a:solidFill>
                  <a:srgbClr val="0F2744"/>
                </a:solidFill>
                <a:latin typeface="Arial" pitchFamily="34" charset="0"/>
                <a:ea typeface="Arial" pitchFamily="34" charset="-122"/>
                <a:cs typeface="Arial" pitchFamily="34" charset="-120"/>
              </a:rPr>
              <a:t>lineari</a:t>
            </a:r>
            <a:r>
              <a:rPr lang="en-US" sz="980" b="1">
                <a:solidFill>
                  <a:srgbClr val="0F2744"/>
                </a:solidFill>
                <a:latin typeface="Arial" pitchFamily="34" charset="0"/>
                <a:ea typeface="Arial" pitchFamily="34" charset="-122"/>
                <a:cs typeface="Arial" pitchFamily="34" charset="-120"/>
              </a:rPr>
              <a:t> </a:t>
            </a:r>
            <a:r>
              <a:rPr lang="en-US" sz="980" b="1" err="1">
                <a:solidFill>
                  <a:srgbClr val="0F2744"/>
                </a:solidFill>
                <a:latin typeface="Arial" pitchFamily="34" charset="0"/>
                <a:ea typeface="Arial" pitchFamily="34" charset="-122"/>
                <a:cs typeface="Arial" pitchFamily="34" charset="-120"/>
              </a:rPr>
              <a:t>sono</a:t>
            </a:r>
            <a:r>
              <a:rPr lang="en-US" sz="980" b="1">
                <a:solidFill>
                  <a:srgbClr val="0F2744"/>
                </a:solidFill>
                <a:latin typeface="Arial" pitchFamily="34" charset="0"/>
                <a:ea typeface="Arial" pitchFamily="34" charset="-122"/>
                <a:cs typeface="Arial" pitchFamily="34" charset="-120"/>
              </a:rPr>
              <a:t> </a:t>
            </a:r>
            <a:r>
              <a:rPr lang="en-US" sz="980" b="1" err="1">
                <a:solidFill>
                  <a:srgbClr val="0F2744"/>
                </a:solidFill>
                <a:latin typeface="Arial" pitchFamily="34" charset="0"/>
                <a:ea typeface="Arial" pitchFamily="34" charset="-122"/>
                <a:cs typeface="Arial" pitchFamily="34" charset="-120"/>
              </a:rPr>
              <a:t>troppo</a:t>
            </a:r>
            <a:r>
              <a:rPr lang="en-US" sz="980" b="1">
                <a:solidFill>
                  <a:srgbClr val="0F2744"/>
                </a:solidFill>
                <a:latin typeface="Arial" pitchFamily="34" charset="0"/>
                <a:ea typeface="Arial" pitchFamily="34" charset="-122"/>
                <a:cs typeface="Arial" pitchFamily="34" charset="-120"/>
              </a:rPr>
              <a:t> rigidi e non </a:t>
            </a:r>
            <a:r>
              <a:rPr lang="en-US" sz="980" b="1" err="1">
                <a:solidFill>
                  <a:srgbClr val="0F2744"/>
                </a:solidFill>
                <a:latin typeface="Arial" pitchFamily="34" charset="0"/>
                <a:ea typeface="Arial" pitchFamily="34" charset="-122"/>
                <a:cs typeface="Arial" pitchFamily="34" charset="-120"/>
              </a:rPr>
              <a:t>si</a:t>
            </a:r>
            <a:r>
              <a:rPr lang="en-US" sz="980" b="1">
                <a:solidFill>
                  <a:srgbClr val="0F2744"/>
                </a:solidFill>
                <a:latin typeface="Arial" pitchFamily="34" charset="0"/>
                <a:ea typeface="Arial" pitchFamily="34" charset="-122"/>
                <a:cs typeface="Arial" pitchFamily="34" charset="-120"/>
              </a:rPr>
              <a:t> </a:t>
            </a:r>
            <a:r>
              <a:rPr lang="en-US" sz="980" b="1" err="1">
                <a:solidFill>
                  <a:srgbClr val="0F2744"/>
                </a:solidFill>
                <a:latin typeface="Arial" pitchFamily="34" charset="0"/>
                <a:ea typeface="Arial" pitchFamily="34" charset="-122"/>
                <a:cs typeface="Arial" pitchFamily="34" charset="-120"/>
              </a:rPr>
              <a:t>prestano</a:t>
            </a:r>
            <a:r>
              <a:rPr lang="en-US" sz="980" b="1">
                <a:solidFill>
                  <a:srgbClr val="0F2744"/>
                </a:solidFill>
                <a:latin typeface="Arial" pitchFamily="34" charset="0"/>
                <a:ea typeface="Arial" pitchFamily="34" charset="-122"/>
                <a:cs typeface="Arial" pitchFamily="34" charset="-120"/>
              </a:rPr>
              <a:t> a un dataset molto </a:t>
            </a:r>
            <a:r>
              <a:rPr lang="en-US" sz="980" b="1" err="1">
                <a:solidFill>
                  <a:srgbClr val="0F2744"/>
                </a:solidFill>
                <a:latin typeface="Arial" pitchFamily="34" charset="0"/>
                <a:ea typeface="Arial" pitchFamily="34" charset="-122"/>
                <a:cs typeface="Arial" pitchFamily="34" charset="-120"/>
              </a:rPr>
              <a:t>eterogeneo</a:t>
            </a:r>
            <a:r>
              <a:rPr lang="en-US" sz="980" b="1">
                <a:solidFill>
                  <a:srgbClr val="0F2744"/>
                </a:solidFill>
                <a:latin typeface="Arial" pitchFamily="34" charset="0"/>
                <a:ea typeface="Arial" pitchFamily="34" charset="-122"/>
                <a:cs typeface="Arial" pitchFamily="34" charset="-120"/>
              </a:rPr>
              <a:t>, mentre il Machine Learning classico (Random Forest, SVM) viene travolto dagli outlier. Serviva un'architettura capace di tollerare l'imprecisione iniziale dei requisiti e assorbire la non-linearità senza essere dominata dai mega-progetti.</a:t>
            </a:r>
            <a:endParaRPr lang="en-US" sz="98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r>
              <a:rPr lang="en-US" sz="850" b="1">
                <a:solidFill>
                  <a:srgbClr val="2563EB"/>
                </a:solidFill>
                <a:latin typeface="Arial"/>
                <a:cs typeface="Arial"/>
              </a:rPr>
              <a:t>SCELTA ARCHITETTURALE</a:t>
            </a:r>
            <a:endParaRPr lang="en-US" sz="850">
              <a:latin typeface="Arial"/>
              <a:cs typeface="Arial"/>
            </a:endParaRPr>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a:solidFill>
                  <a:srgbClr val="0F2744"/>
                </a:solidFill>
                <a:latin typeface="Arial"/>
                <a:ea typeface="Arial" pitchFamily="34" charset="-122"/>
                <a:cs typeface="Arial"/>
              </a:rPr>
              <a:t>Reti </a:t>
            </a:r>
            <a:r>
              <a:rPr lang="en-US" sz="1850" b="1" err="1">
                <a:solidFill>
                  <a:srgbClr val="0F2744"/>
                </a:solidFill>
                <a:latin typeface="Arial"/>
                <a:ea typeface="Arial" pitchFamily="34" charset="-122"/>
                <a:cs typeface="Arial"/>
              </a:rPr>
              <a:t>Convoluzionali</a:t>
            </a:r>
            <a:r>
              <a:rPr lang="en-US" sz="1850" b="1">
                <a:solidFill>
                  <a:srgbClr val="0F2744"/>
                </a:solidFill>
                <a:latin typeface="Arial"/>
                <a:ea typeface="Arial" pitchFamily="34" charset="-122"/>
                <a:cs typeface="Arial"/>
              </a:rPr>
              <a:t> Fuzzy</a:t>
            </a:r>
            <a:endParaRPr lang="en-US" sz="1850">
              <a:latin typeface="Arial"/>
              <a:cs typeface="Arial"/>
            </a:endParaRPr>
          </a:p>
        </p:txBody>
      </p:sp>
      <p:sp>
        <p:nvSpPr>
          <p:cNvPr id="4" name="Shape 2"/>
          <p:cNvSpPr/>
          <p:nvPr/>
        </p:nvSpPr>
        <p:spPr>
          <a:xfrm>
            <a:off x="731520" y="1051560"/>
            <a:ext cx="7680960" cy="1325880"/>
          </a:xfrm>
          <a:prstGeom prst="roundRect">
            <a:avLst>
              <a:gd name="adj" fmla="val 5517"/>
            </a:avLst>
          </a:prstGeom>
          <a:solidFill>
            <a:srgbClr val="FFFFFF"/>
          </a:solidFill>
          <a:ln w="12700">
            <a:solidFill>
              <a:srgbClr val="CBD5E1"/>
            </a:solidFill>
            <a:prstDash val="solid"/>
          </a:ln>
        </p:spPr>
        <p:txBody>
          <a:bodyPr/>
          <a:lstStyle/>
          <a:p>
            <a:endParaRPr lang="it-IT"/>
          </a:p>
        </p:txBody>
      </p:sp>
      <p:sp>
        <p:nvSpPr>
          <p:cNvPr id="5" name="Text 3"/>
          <p:cNvSpPr txBox="1"/>
          <p:nvPr/>
        </p:nvSpPr>
        <p:spPr>
          <a:xfrm>
            <a:off x="914400" y="1170432"/>
            <a:ext cx="7315200" cy="182880"/>
          </a:xfrm>
          <a:prstGeom prst="rect">
            <a:avLst/>
          </a:prstGeom>
          <a:noFill/>
          <a:ln/>
        </p:spPr>
        <p:txBody>
          <a:bodyPr wrap="square" lIns="0" tIns="0" rIns="0" bIns="0" rtlCol="0" anchor="ctr"/>
          <a:lstStyle/>
          <a:p>
            <a:pPr marL="0" indent="0">
              <a:buNone/>
            </a:pPr>
            <a:r>
              <a:rPr lang="en-US" sz="800" b="1">
                <a:solidFill>
                  <a:srgbClr val="2563EB"/>
                </a:solidFill>
                <a:latin typeface="Arial" pitchFamily="34" charset="0"/>
                <a:ea typeface="Arial" pitchFamily="34" charset="-122"/>
                <a:cs typeface="Arial" pitchFamily="34" charset="-120"/>
              </a:rPr>
              <a:t>LA PIPELINE DI INFERENZA PROPOSTA DA AZZEH ET AL. (2024)</a:t>
            </a:r>
            <a:endParaRPr lang="en-US" sz="800"/>
          </a:p>
        </p:txBody>
      </p:sp>
      <p:sp>
        <p:nvSpPr>
          <p:cNvPr id="6" name="Shape 4"/>
          <p:cNvSpPr/>
          <p:nvPr/>
        </p:nvSpPr>
        <p:spPr>
          <a:xfrm>
            <a:off x="914400" y="1417320"/>
            <a:ext cx="1600200" cy="804672"/>
          </a:xfrm>
          <a:prstGeom prst="roundRect">
            <a:avLst>
              <a:gd name="adj" fmla="val 6818"/>
            </a:avLst>
          </a:prstGeom>
          <a:solidFill>
            <a:srgbClr val="EFF6FF"/>
          </a:solidFill>
          <a:ln w="12700">
            <a:solidFill>
              <a:srgbClr val="2563EB"/>
            </a:solidFill>
            <a:prstDash val="solid"/>
          </a:ln>
        </p:spPr>
        <p:txBody>
          <a:bodyPr/>
          <a:lstStyle/>
          <a:p>
            <a:endParaRPr lang="it-IT"/>
          </a:p>
        </p:txBody>
      </p:sp>
      <p:sp>
        <p:nvSpPr>
          <p:cNvPr id="7" name="Text 5"/>
          <p:cNvSpPr txBox="1"/>
          <p:nvPr/>
        </p:nvSpPr>
        <p:spPr>
          <a:xfrm>
            <a:off x="960120" y="1536192"/>
            <a:ext cx="1508760" cy="274320"/>
          </a:xfrm>
          <a:prstGeom prst="rect">
            <a:avLst/>
          </a:prstGeom>
          <a:noFill/>
          <a:ln/>
        </p:spPr>
        <p:txBody>
          <a:bodyPr wrap="square" lIns="0" tIns="0" rIns="0" bIns="0" rtlCol="0" anchor="ctr"/>
          <a:lstStyle/>
          <a:p>
            <a:pPr marL="0" indent="0" algn="ctr">
              <a:buNone/>
            </a:pPr>
            <a:r>
              <a:rPr lang="en-US" sz="900" b="1">
                <a:solidFill>
                  <a:srgbClr val="0F2744"/>
                </a:solidFill>
                <a:latin typeface="Arial" pitchFamily="34" charset="0"/>
                <a:ea typeface="Arial" pitchFamily="34" charset="-122"/>
                <a:cs typeface="Arial" pitchFamily="34" charset="-120"/>
              </a:rPr>
              <a:t>1. Vettore 1D</a:t>
            </a:r>
            <a:endParaRPr lang="en-US" sz="900"/>
          </a:p>
        </p:txBody>
      </p:sp>
      <p:sp>
        <p:nvSpPr>
          <p:cNvPr id="8" name="Text 6"/>
          <p:cNvSpPr txBox="1"/>
          <p:nvPr/>
        </p:nvSpPr>
        <p:spPr>
          <a:xfrm>
            <a:off x="960120" y="1810512"/>
            <a:ext cx="1508760" cy="292608"/>
          </a:xfrm>
          <a:prstGeom prst="rect">
            <a:avLst/>
          </a:prstGeom>
          <a:noFill/>
          <a:ln/>
        </p:spPr>
        <p:txBody>
          <a:bodyPr wrap="square" lIns="0" tIns="0" rIns="0" bIns="0" rtlCol="0" anchor="ctr"/>
          <a:lstStyle/>
          <a:p>
            <a:pPr marL="0" indent="0" algn="ctr">
              <a:buNone/>
            </a:pPr>
            <a:r>
              <a:rPr lang="en-US" sz="720">
                <a:solidFill>
                  <a:srgbClr val="334155"/>
                </a:solidFill>
                <a:latin typeface="Arial" pitchFamily="34" charset="0"/>
                <a:ea typeface="Arial" pitchFamily="34" charset="-122"/>
                <a:cs typeface="Arial" pitchFamily="34" charset="-120"/>
              </a:rPr>
              <a:t>5 Feature FP IFPUG</a:t>
            </a:r>
            <a:endParaRPr lang="en-US" sz="720"/>
          </a:p>
        </p:txBody>
      </p:sp>
      <p:sp>
        <p:nvSpPr>
          <p:cNvPr id="9" name="Shape 7"/>
          <p:cNvSpPr/>
          <p:nvPr/>
        </p:nvSpPr>
        <p:spPr>
          <a:xfrm>
            <a:off x="2697480" y="1417320"/>
            <a:ext cx="1600200" cy="804672"/>
          </a:xfrm>
          <a:prstGeom prst="roundRect">
            <a:avLst>
              <a:gd name="adj" fmla="val 6818"/>
            </a:avLst>
          </a:prstGeom>
          <a:solidFill>
            <a:srgbClr val="F5F3FF"/>
          </a:solidFill>
          <a:ln w="12700">
            <a:solidFill>
              <a:srgbClr val="7C3AED"/>
            </a:solidFill>
            <a:prstDash val="solid"/>
          </a:ln>
        </p:spPr>
        <p:txBody>
          <a:bodyPr/>
          <a:lstStyle/>
          <a:p>
            <a:endParaRPr lang="it-IT"/>
          </a:p>
        </p:txBody>
      </p:sp>
      <p:sp>
        <p:nvSpPr>
          <p:cNvPr id="10" name="Text 8"/>
          <p:cNvSpPr txBox="1"/>
          <p:nvPr/>
        </p:nvSpPr>
        <p:spPr>
          <a:xfrm>
            <a:off x="2743200" y="1536192"/>
            <a:ext cx="1508760" cy="274320"/>
          </a:xfrm>
          <a:prstGeom prst="rect">
            <a:avLst/>
          </a:prstGeom>
          <a:noFill/>
          <a:ln/>
        </p:spPr>
        <p:txBody>
          <a:bodyPr wrap="square" lIns="0" tIns="0" rIns="0" bIns="0" rtlCol="0" anchor="ctr"/>
          <a:lstStyle/>
          <a:p>
            <a:pPr marL="0" indent="0" algn="ctr">
              <a:buNone/>
            </a:pPr>
            <a:r>
              <a:rPr lang="en-US" sz="900" b="1">
                <a:solidFill>
                  <a:srgbClr val="0F2744"/>
                </a:solidFill>
                <a:latin typeface="Arial" pitchFamily="34" charset="0"/>
                <a:ea typeface="Arial" pitchFamily="34" charset="-122"/>
                <a:cs typeface="Arial" pitchFamily="34" charset="-120"/>
              </a:rPr>
              <a:t>2. Fuzzy C-Means</a:t>
            </a:r>
            <a:endParaRPr lang="en-US" sz="900"/>
          </a:p>
        </p:txBody>
      </p:sp>
      <p:sp>
        <p:nvSpPr>
          <p:cNvPr id="11" name="Text 9"/>
          <p:cNvSpPr txBox="1"/>
          <p:nvPr/>
        </p:nvSpPr>
        <p:spPr>
          <a:xfrm>
            <a:off x="2743200" y="1810512"/>
            <a:ext cx="1508760" cy="292608"/>
          </a:xfrm>
          <a:prstGeom prst="rect">
            <a:avLst/>
          </a:prstGeom>
          <a:noFill/>
          <a:ln/>
        </p:spPr>
        <p:txBody>
          <a:bodyPr wrap="square" lIns="0" tIns="0" rIns="0" bIns="0" rtlCol="0" anchor="ctr"/>
          <a:lstStyle/>
          <a:p>
            <a:pPr marL="0" indent="0" algn="ctr">
              <a:buNone/>
            </a:pPr>
            <a:r>
              <a:rPr lang="en-US" sz="720">
                <a:solidFill>
                  <a:srgbClr val="334155"/>
                </a:solidFill>
                <a:latin typeface="Arial" pitchFamily="34" charset="0"/>
                <a:ea typeface="Arial" pitchFamily="34" charset="-122"/>
                <a:cs typeface="Arial" pitchFamily="34" charset="-120"/>
              </a:rPr>
              <a:t>Matrice Membership 2D</a:t>
            </a:r>
            <a:endParaRPr lang="en-US" sz="720"/>
          </a:p>
        </p:txBody>
      </p:sp>
      <p:sp>
        <p:nvSpPr>
          <p:cNvPr id="12" name="Shape 10"/>
          <p:cNvSpPr/>
          <p:nvPr/>
        </p:nvSpPr>
        <p:spPr>
          <a:xfrm>
            <a:off x="4480560" y="1417320"/>
            <a:ext cx="1600200" cy="804672"/>
          </a:xfrm>
          <a:prstGeom prst="roundRect">
            <a:avLst>
              <a:gd name="adj" fmla="val 6818"/>
            </a:avLst>
          </a:prstGeom>
          <a:solidFill>
            <a:srgbClr val="FFFBEB"/>
          </a:solidFill>
          <a:ln w="12700">
            <a:solidFill>
              <a:srgbClr val="D97706"/>
            </a:solidFill>
            <a:prstDash val="solid"/>
          </a:ln>
        </p:spPr>
        <p:txBody>
          <a:bodyPr/>
          <a:lstStyle/>
          <a:p>
            <a:endParaRPr lang="it-IT"/>
          </a:p>
        </p:txBody>
      </p:sp>
      <p:sp>
        <p:nvSpPr>
          <p:cNvPr id="13" name="Text 11"/>
          <p:cNvSpPr txBox="1"/>
          <p:nvPr/>
        </p:nvSpPr>
        <p:spPr>
          <a:xfrm>
            <a:off x="4526280" y="1536192"/>
            <a:ext cx="1508760" cy="274320"/>
          </a:xfrm>
          <a:prstGeom prst="rect">
            <a:avLst/>
          </a:prstGeom>
          <a:noFill/>
          <a:ln/>
        </p:spPr>
        <p:txBody>
          <a:bodyPr wrap="square" lIns="0" tIns="0" rIns="0" bIns="0" rtlCol="0" anchor="ctr"/>
          <a:lstStyle/>
          <a:p>
            <a:pPr marL="0" indent="0" algn="ctr">
              <a:buNone/>
            </a:pPr>
            <a:r>
              <a:rPr lang="en-US" sz="900" b="1">
                <a:solidFill>
                  <a:srgbClr val="0F2744"/>
                </a:solidFill>
                <a:latin typeface="Arial" pitchFamily="34" charset="0"/>
                <a:ea typeface="Arial" pitchFamily="34" charset="-122"/>
                <a:cs typeface="Arial" pitchFamily="34" charset="-120"/>
              </a:rPr>
              <a:t>3. Conv2D + Pool</a:t>
            </a:r>
            <a:endParaRPr lang="en-US" sz="900"/>
          </a:p>
        </p:txBody>
      </p:sp>
      <p:sp>
        <p:nvSpPr>
          <p:cNvPr id="14" name="Text 12"/>
          <p:cNvSpPr txBox="1"/>
          <p:nvPr/>
        </p:nvSpPr>
        <p:spPr>
          <a:xfrm>
            <a:off x="4526280" y="1810512"/>
            <a:ext cx="1508760" cy="292608"/>
          </a:xfrm>
          <a:prstGeom prst="rect">
            <a:avLst/>
          </a:prstGeom>
          <a:noFill/>
          <a:ln/>
        </p:spPr>
        <p:txBody>
          <a:bodyPr wrap="square" lIns="0" tIns="0" rIns="0" bIns="0" rtlCol="0" anchor="ctr"/>
          <a:lstStyle/>
          <a:p>
            <a:pPr marL="0" indent="0" algn="ctr">
              <a:buNone/>
            </a:pPr>
            <a:r>
              <a:rPr lang="en-US" sz="720">
                <a:solidFill>
                  <a:srgbClr val="334155"/>
                </a:solidFill>
                <a:latin typeface="Arial" pitchFamily="34" charset="0"/>
                <a:ea typeface="Arial" pitchFamily="34" charset="-122"/>
                <a:cs typeface="Arial" pitchFamily="34" charset="-120"/>
              </a:rPr>
              <a:t>Estrazione Pattern Locali</a:t>
            </a:r>
            <a:endParaRPr lang="en-US" sz="720"/>
          </a:p>
        </p:txBody>
      </p:sp>
      <p:sp>
        <p:nvSpPr>
          <p:cNvPr id="15" name="Shape 13"/>
          <p:cNvSpPr/>
          <p:nvPr/>
        </p:nvSpPr>
        <p:spPr>
          <a:xfrm>
            <a:off x="6263640" y="1417320"/>
            <a:ext cx="1600200" cy="804672"/>
          </a:xfrm>
          <a:prstGeom prst="roundRect">
            <a:avLst>
              <a:gd name="adj" fmla="val 6818"/>
            </a:avLst>
          </a:prstGeom>
          <a:solidFill>
            <a:srgbClr val="F0FDF4"/>
          </a:solidFill>
          <a:ln w="12700">
            <a:solidFill>
              <a:srgbClr val="059669"/>
            </a:solidFill>
            <a:prstDash val="solid"/>
          </a:ln>
        </p:spPr>
        <p:txBody>
          <a:bodyPr/>
          <a:lstStyle/>
          <a:p>
            <a:endParaRPr lang="it-IT"/>
          </a:p>
        </p:txBody>
      </p:sp>
      <p:sp>
        <p:nvSpPr>
          <p:cNvPr id="16" name="Text 14"/>
          <p:cNvSpPr txBox="1"/>
          <p:nvPr/>
        </p:nvSpPr>
        <p:spPr>
          <a:xfrm>
            <a:off x="6309360" y="1536192"/>
            <a:ext cx="1508760" cy="274320"/>
          </a:xfrm>
          <a:prstGeom prst="rect">
            <a:avLst/>
          </a:prstGeom>
          <a:noFill/>
          <a:ln/>
        </p:spPr>
        <p:txBody>
          <a:bodyPr wrap="square" lIns="0" tIns="0" rIns="0" bIns="0" rtlCol="0" anchor="ctr"/>
          <a:lstStyle/>
          <a:p>
            <a:pPr marL="0" indent="0" algn="ctr">
              <a:buNone/>
            </a:pPr>
            <a:r>
              <a:rPr lang="en-US" sz="900" b="1">
                <a:solidFill>
                  <a:srgbClr val="0F2744"/>
                </a:solidFill>
                <a:latin typeface="Arial" pitchFamily="34" charset="0"/>
                <a:ea typeface="Arial" pitchFamily="34" charset="-122"/>
                <a:cs typeface="Arial" pitchFamily="34" charset="-120"/>
              </a:rPr>
              <a:t>4. Output Layer</a:t>
            </a:r>
            <a:endParaRPr lang="en-US" sz="900"/>
          </a:p>
        </p:txBody>
      </p:sp>
      <p:sp>
        <p:nvSpPr>
          <p:cNvPr id="17" name="Text 15"/>
          <p:cNvSpPr txBox="1"/>
          <p:nvPr/>
        </p:nvSpPr>
        <p:spPr>
          <a:xfrm>
            <a:off x="6309360" y="1810512"/>
            <a:ext cx="1508760" cy="292608"/>
          </a:xfrm>
          <a:prstGeom prst="rect">
            <a:avLst/>
          </a:prstGeom>
          <a:noFill/>
          <a:ln/>
        </p:spPr>
        <p:txBody>
          <a:bodyPr wrap="square" lIns="0" tIns="0" rIns="0" bIns="0" rtlCol="0" anchor="ctr"/>
          <a:lstStyle/>
          <a:p>
            <a:pPr marL="0" indent="0" algn="ctr">
              <a:buNone/>
            </a:pPr>
            <a:r>
              <a:rPr lang="en-US" sz="720">
                <a:solidFill>
                  <a:srgbClr val="334155"/>
                </a:solidFill>
                <a:latin typeface="Arial" pitchFamily="34" charset="0"/>
                <a:ea typeface="Arial" pitchFamily="34" charset="-122"/>
                <a:cs typeface="Arial" pitchFamily="34" charset="-120"/>
              </a:rPr>
              <a:t>Stima Effort (ore/mesi)</a:t>
            </a:r>
            <a:endParaRPr lang="en-US" sz="720"/>
          </a:p>
        </p:txBody>
      </p:sp>
      <p:sp>
        <p:nvSpPr>
          <p:cNvPr id="18" name="Shape 16"/>
          <p:cNvSpPr/>
          <p:nvPr/>
        </p:nvSpPr>
        <p:spPr>
          <a:xfrm>
            <a:off x="731520" y="2560320"/>
            <a:ext cx="2423160" cy="2057400"/>
          </a:xfrm>
          <a:prstGeom prst="roundRect">
            <a:avLst>
              <a:gd name="adj" fmla="val 3556"/>
            </a:avLst>
          </a:prstGeom>
          <a:solidFill>
            <a:srgbClr val="FFFFFF"/>
          </a:solidFill>
          <a:ln w="12700">
            <a:solidFill>
              <a:srgbClr val="CBD5E1"/>
            </a:solidFill>
            <a:prstDash val="solid"/>
          </a:ln>
        </p:spPr>
        <p:txBody>
          <a:bodyPr/>
          <a:lstStyle/>
          <a:p>
            <a:endParaRPr lang="it-IT"/>
          </a:p>
        </p:txBody>
      </p:sp>
      <p:sp>
        <p:nvSpPr>
          <p:cNvPr id="19" name="Text 17"/>
          <p:cNvSpPr txBox="1"/>
          <p:nvPr/>
        </p:nvSpPr>
        <p:spPr>
          <a:xfrm>
            <a:off x="914400" y="2724912"/>
            <a:ext cx="2057400" cy="182880"/>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PERCHÉ LA LOGICA FUZZY?</a:t>
            </a:r>
            <a:endParaRPr lang="en-US" sz="850"/>
          </a:p>
        </p:txBody>
      </p:sp>
      <p:sp>
        <p:nvSpPr>
          <p:cNvPr id="20" name="Text 18"/>
          <p:cNvSpPr txBox="1"/>
          <p:nvPr/>
        </p:nvSpPr>
        <p:spPr>
          <a:xfrm>
            <a:off x="914400" y="2926080"/>
            <a:ext cx="2057400" cy="274320"/>
          </a:xfrm>
          <a:prstGeom prst="rect">
            <a:avLst/>
          </a:prstGeom>
          <a:noFill/>
          <a:ln/>
        </p:spPr>
        <p:txBody>
          <a:bodyPr wrap="square" lIns="0" tIns="0" rIns="0" bIns="0" rtlCol="0" anchor="ctr"/>
          <a:lstStyle/>
          <a:p>
            <a:pPr marL="0" indent="0">
              <a:buNone/>
            </a:pPr>
            <a:r>
              <a:rPr lang="en-US" sz="1250" b="1">
                <a:solidFill>
                  <a:srgbClr val="0F2744"/>
                </a:solidFill>
                <a:latin typeface="Arial" pitchFamily="34" charset="0"/>
                <a:ea typeface="Arial" pitchFamily="34" charset="-122"/>
                <a:cs typeface="Arial" pitchFamily="34" charset="-120"/>
              </a:rPr>
              <a:t>Gestione dell'Incertezza</a:t>
            </a:r>
            <a:endParaRPr lang="en-US" sz="1250"/>
          </a:p>
        </p:txBody>
      </p:sp>
      <p:sp>
        <p:nvSpPr>
          <p:cNvPr id="21" name="Text 19"/>
          <p:cNvSpPr txBox="1"/>
          <p:nvPr/>
        </p:nvSpPr>
        <p:spPr>
          <a:xfrm>
            <a:off x="914400" y="3246120"/>
            <a:ext cx="2057400" cy="1234440"/>
          </a:xfrm>
          <a:prstGeom prst="rect">
            <a:avLst/>
          </a:prstGeom>
          <a:noFill/>
          <a:ln/>
        </p:spPr>
        <p:txBody>
          <a:bodyPr wrap="square" lIns="0" tIns="0" rIns="0" bIns="0" rtlCol="0" anchor="t"/>
          <a:lstStyle/>
          <a:p>
            <a:pPr>
              <a:lnSpc>
                <a:spcPts val="1200"/>
              </a:lnSpc>
            </a:pPr>
            <a:r>
              <a:rPr lang="en-US" sz="850">
                <a:solidFill>
                  <a:srgbClr val="334155"/>
                </a:solidFill>
                <a:latin typeface="Arial"/>
                <a:ea typeface="Arial" pitchFamily="34" charset="-122"/>
                <a:cs typeface="Arial"/>
              </a:rPr>
              <a:t>Non assegna il progetto a un cluster </a:t>
            </a:r>
            <a:r>
              <a:rPr lang="en-US" sz="850" err="1">
                <a:solidFill>
                  <a:srgbClr val="334155"/>
                </a:solidFill>
                <a:latin typeface="Arial"/>
                <a:ea typeface="Arial" pitchFamily="34" charset="-122"/>
                <a:cs typeface="Arial"/>
              </a:rPr>
              <a:t>rigido</a:t>
            </a:r>
            <a:r>
              <a:rPr lang="en-US" sz="850">
                <a:solidFill>
                  <a:srgbClr val="334155"/>
                </a:solidFill>
                <a:latin typeface="Arial"/>
                <a:ea typeface="Arial" pitchFamily="34" charset="-122"/>
                <a:cs typeface="Arial"/>
              </a:rPr>
              <a:t> (hard clustering), ma </a:t>
            </a:r>
            <a:r>
              <a:rPr lang="en-US" sz="850" err="1">
                <a:solidFill>
                  <a:srgbClr val="334155"/>
                </a:solidFill>
                <a:latin typeface="Arial"/>
                <a:ea typeface="Arial" pitchFamily="34" charset="-122"/>
                <a:cs typeface="Arial"/>
              </a:rPr>
              <a:t>calcola</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gradi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continui</a:t>
            </a:r>
            <a:r>
              <a:rPr lang="en-US" sz="850">
                <a:solidFill>
                  <a:srgbClr val="334155"/>
                </a:solidFill>
                <a:latin typeface="Arial"/>
                <a:ea typeface="Arial" pitchFamily="34" charset="-122"/>
                <a:cs typeface="Arial"/>
              </a:rPr>
              <a:t> di </a:t>
            </a:r>
            <a:r>
              <a:rPr lang="en-US" sz="850" err="1">
                <a:solidFill>
                  <a:srgbClr val="334155"/>
                </a:solidFill>
                <a:latin typeface="Arial"/>
                <a:ea typeface="Arial" pitchFamily="34" charset="-122"/>
                <a:cs typeface="Arial"/>
              </a:rPr>
              <a:t>appartenenza</a:t>
            </a:r>
            <a:r>
              <a:rPr lang="en-US" sz="850">
                <a:solidFill>
                  <a:srgbClr val="334155"/>
                </a:solidFill>
                <a:latin typeface="Arial"/>
                <a:ea typeface="Arial" pitchFamily="34" charset="-122"/>
                <a:cs typeface="Arial"/>
              </a:rPr>
              <a:t> (membership). Modella </a:t>
            </a:r>
            <a:r>
              <a:rPr lang="en-US" sz="850" err="1">
                <a:solidFill>
                  <a:srgbClr val="334155"/>
                </a:solidFill>
                <a:latin typeface="Arial"/>
                <a:ea typeface="Arial" pitchFamily="34" charset="-122"/>
                <a:cs typeface="Arial"/>
              </a:rPr>
              <a:t>perfettamente</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l'imprecisione</a:t>
            </a:r>
            <a:r>
              <a:rPr lang="en-US" sz="850">
                <a:solidFill>
                  <a:srgbClr val="334155"/>
                </a:solidFill>
                <a:latin typeface="Arial"/>
                <a:ea typeface="Arial" pitchFamily="34" charset="-122"/>
                <a:cs typeface="Arial"/>
              </a:rPr>
              <a:t> iniziale dei requisiti.</a:t>
            </a:r>
            <a:endParaRPr lang="en-US" sz="850">
              <a:latin typeface="Arial"/>
              <a:cs typeface="Arial"/>
            </a:endParaRPr>
          </a:p>
        </p:txBody>
      </p:sp>
      <p:sp>
        <p:nvSpPr>
          <p:cNvPr id="22" name="Shape 20"/>
          <p:cNvSpPr/>
          <p:nvPr/>
        </p:nvSpPr>
        <p:spPr>
          <a:xfrm>
            <a:off x="3355848" y="2560320"/>
            <a:ext cx="2423160" cy="2057400"/>
          </a:xfrm>
          <a:prstGeom prst="roundRect">
            <a:avLst>
              <a:gd name="adj" fmla="val 3556"/>
            </a:avLst>
          </a:prstGeom>
          <a:solidFill>
            <a:srgbClr val="FFFFFF"/>
          </a:solidFill>
          <a:ln w="12700">
            <a:solidFill>
              <a:srgbClr val="CBD5E1"/>
            </a:solidFill>
            <a:prstDash val="solid"/>
          </a:ln>
        </p:spPr>
        <p:txBody>
          <a:bodyPr/>
          <a:lstStyle/>
          <a:p>
            <a:endParaRPr lang="it-IT"/>
          </a:p>
        </p:txBody>
      </p:sp>
      <p:sp>
        <p:nvSpPr>
          <p:cNvPr id="23" name="Text 21"/>
          <p:cNvSpPr txBox="1"/>
          <p:nvPr/>
        </p:nvSpPr>
        <p:spPr>
          <a:xfrm>
            <a:off x="3538728" y="2724912"/>
            <a:ext cx="2057400" cy="182880"/>
          </a:xfrm>
          <a:prstGeom prst="rect">
            <a:avLst/>
          </a:prstGeom>
          <a:noFill/>
          <a:ln/>
        </p:spPr>
        <p:txBody>
          <a:bodyPr wrap="square" lIns="0" tIns="0" rIns="0" bIns="0" rtlCol="0" anchor="ctr"/>
          <a:lstStyle/>
          <a:p>
            <a:pPr marL="0" indent="0">
              <a:buNone/>
            </a:pPr>
            <a:r>
              <a:rPr lang="en-US" sz="850" b="1">
                <a:solidFill>
                  <a:srgbClr val="7C3AED"/>
                </a:solidFill>
                <a:latin typeface="Arial" pitchFamily="34" charset="0"/>
                <a:ea typeface="Arial" pitchFamily="34" charset="-122"/>
                <a:cs typeface="Arial" pitchFamily="34" charset="-120"/>
              </a:rPr>
              <a:t>PERCHÉ LA CONVOLUZIONE?</a:t>
            </a:r>
            <a:endParaRPr lang="en-US" sz="850"/>
          </a:p>
        </p:txBody>
      </p:sp>
      <p:sp>
        <p:nvSpPr>
          <p:cNvPr id="24" name="Text 22"/>
          <p:cNvSpPr txBox="1"/>
          <p:nvPr/>
        </p:nvSpPr>
        <p:spPr>
          <a:xfrm>
            <a:off x="3538728" y="2926080"/>
            <a:ext cx="2057400" cy="274320"/>
          </a:xfrm>
          <a:prstGeom prst="rect">
            <a:avLst/>
          </a:prstGeom>
          <a:noFill/>
          <a:ln/>
        </p:spPr>
        <p:txBody>
          <a:bodyPr wrap="square" lIns="0" tIns="0" rIns="0" bIns="0" rtlCol="0" anchor="ctr"/>
          <a:lstStyle/>
          <a:p>
            <a:pPr marL="0" indent="0">
              <a:buNone/>
            </a:pPr>
            <a:r>
              <a:rPr lang="en-US" sz="1250" b="1">
                <a:solidFill>
                  <a:srgbClr val="0F2744"/>
                </a:solidFill>
                <a:latin typeface="Arial" pitchFamily="34" charset="0"/>
                <a:ea typeface="Arial" pitchFamily="34" charset="-122"/>
                <a:cs typeface="Arial" pitchFamily="34" charset="-120"/>
              </a:rPr>
              <a:t>Estrazione Pattern 2D</a:t>
            </a:r>
            <a:endParaRPr lang="en-US" sz="1250"/>
          </a:p>
        </p:txBody>
      </p:sp>
      <p:sp>
        <p:nvSpPr>
          <p:cNvPr id="25" name="Text 23"/>
          <p:cNvSpPr txBox="1"/>
          <p:nvPr/>
        </p:nvSpPr>
        <p:spPr>
          <a:xfrm>
            <a:off x="3538728" y="3246120"/>
            <a:ext cx="2057400" cy="1234440"/>
          </a:xfrm>
          <a:prstGeom prst="rect">
            <a:avLst/>
          </a:prstGeom>
          <a:noFill/>
          <a:ln/>
        </p:spPr>
        <p:txBody>
          <a:bodyPr wrap="square" lIns="0" tIns="0" rIns="0" bIns="0" rtlCol="0" anchor="t"/>
          <a:lstStyle/>
          <a:p>
            <a:pPr marL="0" indent="0">
              <a:lnSpc>
                <a:spcPts val="1200"/>
              </a:lnSpc>
              <a:buNone/>
            </a:pPr>
            <a:r>
              <a:rPr lang="en-US" sz="850">
                <a:solidFill>
                  <a:srgbClr val="334155"/>
                </a:solidFill>
                <a:latin typeface="Arial" pitchFamily="34" charset="0"/>
                <a:ea typeface="Arial" pitchFamily="34" charset="-122"/>
                <a:cs typeface="Arial" pitchFamily="34" charset="-120"/>
              </a:rPr>
              <a:t>Trasformando il vettore 1D in matrice 2D fuzzy, una Conv2D scansiona le interazioni incrociate tra attributi (es. Input vs File) estraendo pattern locali invisibili a formule o SVM.</a:t>
            </a:r>
            <a:endParaRPr lang="en-US" sz="850"/>
          </a:p>
        </p:txBody>
      </p:sp>
      <p:sp>
        <p:nvSpPr>
          <p:cNvPr id="26" name="Shape 24"/>
          <p:cNvSpPr/>
          <p:nvPr/>
        </p:nvSpPr>
        <p:spPr>
          <a:xfrm>
            <a:off x="5989320" y="2560320"/>
            <a:ext cx="2423160" cy="2057400"/>
          </a:xfrm>
          <a:prstGeom prst="roundRect">
            <a:avLst>
              <a:gd name="adj" fmla="val 3556"/>
            </a:avLst>
          </a:prstGeom>
          <a:solidFill>
            <a:srgbClr val="FFFFFF"/>
          </a:solidFill>
          <a:ln w="12700">
            <a:solidFill>
              <a:srgbClr val="BBF7D0"/>
            </a:solidFill>
            <a:prstDash val="solid"/>
          </a:ln>
        </p:spPr>
        <p:txBody>
          <a:bodyPr/>
          <a:lstStyle/>
          <a:p>
            <a:endParaRPr lang="it-IT"/>
          </a:p>
        </p:txBody>
      </p:sp>
      <p:sp>
        <p:nvSpPr>
          <p:cNvPr id="27" name="Text 25"/>
          <p:cNvSpPr txBox="1"/>
          <p:nvPr/>
        </p:nvSpPr>
        <p:spPr>
          <a:xfrm>
            <a:off x="6172200" y="2724912"/>
            <a:ext cx="2057400" cy="182880"/>
          </a:xfrm>
          <a:prstGeom prst="rect">
            <a:avLst/>
          </a:prstGeom>
          <a:noFill/>
          <a:ln/>
        </p:spPr>
        <p:txBody>
          <a:bodyPr wrap="square" lIns="0" tIns="0" rIns="0" bIns="0" rtlCol="0" anchor="ctr"/>
          <a:lstStyle/>
          <a:p>
            <a:pPr marL="0" indent="0">
              <a:buNone/>
            </a:pPr>
            <a:r>
              <a:rPr lang="en-US" sz="850" b="1">
                <a:solidFill>
                  <a:srgbClr val="059669"/>
                </a:solidFill>
                <a:latin typeface="Arial" pitchFamily="34" charset="0"/>
                <a:ea typeface="Arial" pitchFamily="34" charset="-122"/>
                <a:cs typeface="Arial" pitchFamily="34" charset="-120"/>
              </a:rPr>
              <a:t>IL TRADE-OFF</a:t>
            </a:r>
            <a:endParaRPr lang="en-US" sz="850"/>
          </a:p>
        </p:txBody>
      </p:sp>
      <p:sp>
        <p:nvSpPr>
          <p:cNvPr id="28" name="Text 26"/>
          <p:cNvSpPr txBox="1"/>
          <p:nvPr/>
        </p:nvSpPr>
        <p:spPr>
          <a:xfrm>
            <a:off x="6172200" y="2926080"/>
            <a:ext cx="2057400" cy="274320"/>
          </a:xfrm>
          <a:prstGeom prst="rect">
            <a:avLst/>
          </a:prstGeom>
          <a:noFill/>
          <a:ln/>
        </p:spPr>
        <p:txBody>
          <a:bodyPr wrap="square" lIns="0" tIns="0" rIns="0" bIns="0" rtlCol="0" anchor="ctr"/>
          <a:lstStyle/>
          <a:p>
            <a:pPr marL="0" indent="0">
              <a:buNone/>
            </a:pPr>
            <a:r>
              <a:rPr lang="en-US" sz="1250" b="1">
                <a:solidFill>
                  <a:srgbClr val="0F2744"/>
                </a:solidFill>
                <a:latin typeface="Arial" pitchFamily="34" charset="0"/>
                <a:ea typeface="Arial" pitchFamily="34" charset="-122"/>
                <a:cs typeface="Arial" pitchFamily="34" charset="-120"/>
              </a:rPr>
              <a:t>Tra </a:t>
            </a:r>
            <a:r>
              <a:rPr lang="en-US" sz="1250" b="1" err="1">
                <a:solidFill>
                  <a:srgbClr val="0F2744"/>
                </a:solidFill>
                <a:latin typeface="Arial" pitchFamily="34" charset="0"/>
                <a:ea typeface="Arial" pitchFamily="34" charset="-122"/>
                <a:cs typeface="Arial" pitchFamily="34" charset="-120"/>
              </a:rPr>
              <a:t>complessità</a:t>
            </a:r>
            <a:r>
              <a:rPr lang="en-US" sz="1250" b="1">
                <a:solidFill>
                  <a:srgbClr val="0F2744"/>
                </a:solidFill>
                <a:latin typeface="Arial" pitchFamily="34" charset="0"/>
                <a:ea typeface="Arial" pitchFamily="34" charset="-122"/>
                <a:cs typeface="Arial" pitchFamily="34" charset="-120"/>
              </a:rPr>
              <a:t> e </a:t>
            </a:r>
            <a:r>
              <a:rPr lang="en-US" sz="1250" b="1" err="1">
                <a:solidFill>
                  <a:srgbClr val="0F2744"/>
                </a:solidFill>
                <a:latin typeface="Arial" pitchFamily="34" charset="0"/>
                <a:ea typeface="Arial" pitchFamily="34" charset="-122"/>
                <a:cs typeface="Arial" pitchFamily="34" charset="-120"/>
              </a:rPr>
              <a:t>risultati</a:t>
            </a:r>
            <a:endParaRPr lang="en-US" sz="1250"/>
          </a:p>
        </p:txBody>
      </p:sp>
      <p:sp>
        <p:nvSpPr>
          <p:cNvPr id="29" name="Text 27"/>
          <p:cNvSpPr txBox="1"/>
          <p:nvPr/>
        </p:nvSpPr>
        <p:spPr>
          <a:xfrm>
            <a:off x="6172200" y="3246120"/>
            <a:ext cx="2057400" cy="1234440"/>
          </a:xfrm>
          <a:prstGeom prst="rect">
            <a:avLst/>
          </a:prstGeom>
          <a:noFill/>
          <a:ln/>
        </p:spPr>
        <p:txBody>
          <a:bodyPr wrap="square" lIns="0" tIns="0" rIns="0" bIns="0" rtlCol="0" anchor="t"/>
          <a:lstStyle/>
          <a:p>
            <a:pPr>
              <a:lnSpc>
                <a:spcPts val="1200"/>
              </a:lnSpc>
            </a:pPr>
            <a:r>
              <a:rPr lang="en-US" sz="850" err="1">
                <a:solidFill>
                  <a:srgbClr val="334155"/>
                </a:solidFill>
                <a:latin typeface="Arial"/>
                <a:ea typeface="Arial" pitchFamily="34" charset="-122"/>
                <a:cs typeface="Arial"/>
              </a:rPr>
              <a:t>Pochissimi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parametri</a:t>
            </a:r>
            <a:r>
              <a:rPr lang="en-US" sz="850">
                <a:solidFill>
                  <a:srgbClr val="334155"/>
                </a:solidFill>
                <a:latin typeface="Arial"/>
                <a:ea typeface="Arial" pitchFamily="34" charset="-122"/>
                <a:cs typeface="Arial"/>
              </a:rPr>
              <a:t> rispetto a </a:t>
            </a:r>
            <a:r>
              <a:rPr lang="en-US" sz="850" err="1">
                <a:solidFill>
                  <a:srgbClr val="334155"/>
                </a:solidFill>
                <a:latin typeface="Arial"/>
                <a:ea typeface="Arial" pitchFamily="34" charset="-122"/>
                <a:cs typeface="Arial"/>
              </a:rPr>
              <a:t>modelli</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più</a:t>
            </a:r>
            <a:r>
              <a:rPr lang="en-US" sz="850">
                <a:solidFill>
                  <a:srgbClr val="334155"/>
                </a:solidFill>
                <a:latin typeface="Arial"/>
                <a:ea typeface="Arial" pitchFamily="34" charset="-122"/>
                <a:cs typeface="Arial"/>
              </a:rPr>
              <a:t> </a:t>
            </a:r>
            <a:r>
              <a:rPr lang="en-US" sz="850" err="1">
                <a:solidFill>
                  <a:srgbClr val="334155"/>
                </a:solidFill>
                <a:latin typeface="Arial"/>
                <a:ea typeface="Arial" pitchFamily="34" charset="-122"/>
                <a:cs typeface="Arial"/>
              </a:rPr>
              <a:t>complessi</a:t>
            </a:r>
            <a:r>
              <a:rPr lang="en-US" sz="850">
                <a:solidFill>
                  <a:srgbClr val="334155"/>
                </a:solidFill>
                <a:latin typeface="Arial"/>
                <a:ea typeface="Arial" pitchFamily="34" charset="-122"/>
                <a:cs typeface="Arial"/>
              </a:rPr>
              <a:t> (come </a:t>
            </a:r>
            <a:r>
              <a:rPr lang="en-US" sz="850" err="1">
                <a:solidFill>
                  <a:srgbClr val="334155"/>
                </a:solidFill>
                <a:latin typeface="Arial"/>
                <a:ea typeface="Arial" pitchFamily="34" charset="-122"/>
                <a:cs typeface="Arial"/>
              </a:rPr>
              <a:t>TabNet+HHO</a:t>
            </a:r>
            <a:r>
              <a:rPr lang="en-US" sz="850">
                <a:solidFill>
                  <a:srgbClr val="334155"/>
                </a:solidFill>
                <a:latin typeface="Arial"/>
                <a:ea typeface="Arial" pitchFamily="34" charset="-122"/>
                <a:cs typeface="Arial"/>
              </a:rPr>
              <a:t> o Ensembles da ore di </a:t>
            </a:r>
            <a:r>
              <a:rPr lang="en-US" sz="850" err="1">
                <a:solidFill>
                  <a:srgbClr val="334155"/>
                </a:solidFill>
                <a:latin typeface="Arial"/>
                <a:ea typeface="Arial" pitchFamily="34" charset="-122"/>
                <a:cs typeface="Arial"/>
              </a:rPr>
              <a:t>addestramento</a:t>
            </a:r>
            <a:r>
              <a:rPr lang="en-US" sz="850">
                <a:solidFill>
                  <a:srgbClr val="334155"/>
                </a:solidFill>
                <a:latin typeface="Arial"/>
                <a:ea typeface="Arial" pitchFamily="34" charset="-122"/>
                <a:cs typeface="Arial"/>
              </a:rPr>
              <a:t> e alto overfitting). </a:t>
            </a:r>
            <a:endParaRPr lang="en-US" sz="85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660673"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LO SCONTRO CON LA REALTÀ</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r>
              <a:rPr lang="en-US" sz="1850" b="1">
                <a:solidFill>
                  <a:srgbClr val="0F2744"/>
                </a:solidFill>
                <a:latin typeface="Arial"/>
                <a:cs typeface="Arial"/>
              </a:rPr>
              <a:t>Trade-off: Costo di </a:t>
            </a:r>
            <a:r>
              <a:rPr lang="en-US" sz="1850" b="1" err="1">
                <a:solidFill>
                  <a:srgbClr val="0F2744"/>
                </a:solidFill>
                <a:latin typeface="Arial"/>
                <a:cs typeface="Arial"/>
              </a:rPr>
              <a:t>Modellazione</a:t>
            </a:r>
            <a:endParaRPr lang="en-US" err="1"/>
          </a:p>
        </p:txBody>
      </p:sp>
      <p:sp>
        <p:nvSpPr>
          <p:cNvPr id="7" name="Shape 5"/>
          <p:cNvSpPr/>
          <p:nvPr/>
        </p:nvSpPr>
        <p:spPr>
          <a:xfrm>
            <a:off x="731520" y="1174283"/>
            <a:ext cx="3703320" cy="1325880"/>
          </a:xfrm>
          <a:prstGeom prst="roundRect">
            <a:avLst>
              <a:gd name="adj" fmla="val 5517"/>
            </a:avLst>
          </a:prstGeom>
          <a:solidFill>
            <a:srgbClr val="FEF2F2"/>
          </a:solidFill>
          <a:ln w="12700">
            <a:solidFill>
              <a:srgbClr val="FECACA"/>
            </a:solidFill>
            <a:prstDash val="solid"/>
          </a:ln>
        </p:spPr>
        <p:txBody>
          <a:bodyPr/>
          <a:lstStyle/>
          <a:p>
            <a:endParaRPr lang="it-IT"/>
          </a:p>
        </p:txBody>
      </p:sp>
      <p:sp>
        <p:nvSpPr>
          <p:cNvPr id="8" name="Text 6"/>
          <p:cNvSpPr txBox="1"/>
          <p:nvPr/>
        </p:nvSpPr>
        <p:spPr>
          <a:xfrm>
            <a:off x="914400" y="1284011"/>
            <a:ext cx="3337560" cy="182880"/>
          </a:xfrm>
          <a:prstGeom prst="rect">
            <a:avLst/>
          </a:prstGeom>
          <a:noFill/>
          <a:ln/>
        </p:spPr>
        <p:txBody>
          <a:bodyPr wrap="square" lIns="0" tIns="0" rIns="0" bIns="0" rtlCol="0" anchor="ctr"/>
          <a:lstStyle/>
          <a:p>
            <a:pPr marL="0" indent="0">
              <a:buNone/>
            </a:pPr>
            <a:r>
              <a:rPr lang="en-US" sz="800" b="1">
                <a:solidFill>
                  <a:srgbClr val="DC2626"/>
                </a:solidFill>
                <a:latin typeface="Arial" pitchFamily="34" charset="0"/>
                <a:ea typeface="Arial" pitchFamily="34" charset="-122"/>
                <a:cs typeface="Arial" pitchFamily="34" charset="-120"/>
              </a:rPr>
              <a:t>PROBLEMA 1: IL FENOMENO DYING RELU</a:t>
            </a:r>
            <a:endParaRPr lang="en-US" sz="800"/>
          </a:p>
        </p:txBody>
      </p:sp>
      <p:sp>
        <p:nvSpPr>
          <p:cNvPr id="9" name="Text 7"/>
          <p:cNvSpPr txBox="1"/>
          <p:nvPr/>
        </p:nvSpPr>
        <p:spPr>
          <a:xfrm>
            <a:off x="914400" y="1466891"/>
            <a:ext cx="3337560" cy="256032"/>
          </a:xfrm>
          <a:prstGeom prst="rect">
            <a:avLst/>
          </a:prstGeom>
          <a:noFill/>
          <a:ln/>
        </p:spPr>
        <p:txBody>
          <a:bodyPr wrap="square" lIns="0" tIns="0" rIns="0" bIns="0" rtlCol="0" anchor="ctr"/>
          <a:lstStyle/>
          <a:p>
            <a:pPr marL="0" indent="0">
              <a:buNone/>
            </a:pPr>
            <a:r>
              <a:rPr lang="en-US" sz="1200" b="1">
                <a:solidFill>
                  <a:srgbClr val="0F2744"/>
                </a:solidFill>
                <a:latin typeface="Arial" pitchFamily="34" charset="0"/>
                <a:ea typeface="Arial" pitchFamily="34" charset="-122"/>
                <a:cs typeface="Arial" pitchFamily="34" charset="-120"/>
              </a:rPr>
              <a:t>67% dei Fold Azzerati su COCOMO-81</a:t>
            </a:r>
            <a:endParaRPr lang="en-US" sz="1200"/>
          </a:p>
        </p:txBody>
      </p:sp>
      <p:sp>
        <p:nvSpPr>
          <p:cNvPr id="10" name="Text 8"/>
          <p:cNvSpPr txBox="1"/>
          <p:nvPr/>
        </p:nvSpPr>
        <p:spPr>
          <a:xfrm>
            <a:off x="914400" y="1741211"/>
            <a:ext cx="3337560" cy="685800"/>
          </a:xfrm>
          <a:prstGeom prst="rect">
            <a:avLst/>
          </a:prstGeom>
          <a:noFill/>
          <a:ln/>
        </p:spPr>
        <p:txBody>
          <a:bodyPr wrap="square" lIns="0" tIns="0" rIns="0" bIns="0" rtlCol="0" anchor="t"/>
          <a:lstStyle/>
          <a:p>
            <a:pPr>
              <a:lnSpc>
                <a:spcPts val="1150"/>
              </a:lnSpc>
            </a:pPr>
            <a:r>
              <a:rPr lang="en-US" sz="800" err="1">
                <a:solidFill>
                  <a:srgbClr val="334155"/>
                </a:solidFill>
                <a:latin typeface="Arial"/>
                <a:ea typeface="Arial" pitchFamily="34" charset="-122"/>
                <a:cs typeface="Arial"/>
              </a:rPr>
              <a:t>Applicando</a:t>
            </a:r>
            <a:r>
              <a:rPr lang="en-US" sz="800">
                <a:solidFill>
                  <a:srgbClr val="334155"/>
                </a:solidFill>
                <a:latin typeface="Arial"/>
                <a:ea typeface="Arial" pitchFamily="34" charset="-122"/>
                <a:cs typeface="Arial"/>
              </a:rPr>
              <a:t> </a:t>
            </a:r>
            <a:r>
              <a:rPr lang="en-US" sz="800" err="1">
                <a:solidFill>
                  <a:srgbClr val="334155"/>
                </a:solidFill>
                <a:latin typeface="Arial"/>
                <a:ea typeface="Arial" pitchFamily="34" charset="-122"/>
                <a:cs typeface="Arial"/>
              </a:rPr>
              <a:t>ReLU</a:t>
            </a:r>
            <a:r>
              <a:rPr lang="en-US" sz="800">
                <a:solidFill>
                  <a:srgbClr val="334155"/>
                </a:solidFill>
                <a:latin typeface="Arial"/>
                <a:ea typeface="Arial" pitchFamily="34" charset="-122"/>
                <a:cs typeface="Arial"/>
              </a:rPr>
              <a:t> </a:t>
            </a:r>
            <a:r>
              <a:rPr lang="en-US" sz="800" err="1">
                <a:solidFill>
                  <a:srgbClr val="334155"/>
                </a:solidFill>
                <a:latin typeface="Arial"/>
                <a:ea typeface="Arial" pitchFamily="34" charset="-122"/>
                <a:cs typeface="Arial"/>
              </a:rPr>
              <a:t>sull'output</a:t>
            </a:r>
            <a:r>
              <a:rPr lang="en-US" sz="800">
                <a:solidFill>
                  <a:srgbClr val="334155"/>
                </a:solidFill>
                <a:latin typeface="Arial"/>
                <a:ea typeface="Arial" pitchFamily="34" charset="-122"/>
                <a:cs typeface="Arial"/>
              </a:rPr>
              <a:t>. Non </a:t>
            </a:r>
            <a:r>
              <a:rPr lang="en-US" sz="800" err="1">
                <a:solidFill>
                  <a:srgbClr val="334155"/>
                </a:solidFill>
                <a:latin typeface="Arial"/>
                <a:ea typeface="Arial" pitchFamily="34" charset="-122"/>
                <a:cs typeface="Arial"/>
              </a:rPr>
              <a:t>appena</a:t>
            </a:r>
            <a:r>
              <a:rPr lang="en-US" sz="800">
                <a:solidFill>
                  <a:srgbClr val="334155"/>
                </a:solidFill>
                <a:latin typeface="Arial"/>
                <a:ea typeface="Arial" pitchFamily="34" charset="-122"/>
                <a:cs typeface="Arial"/>
              </a:rPr>
              <a:t> un </a:t>
            </a:r>
            <a:r>
              <a:rPr lang="en-US" sz="800" err="1">
                <a:solidFill>
                  <a:srgbClr val="334155"/>
                </a:solidFill>
                <a:latin typeface="Arial"/>
                <a:ea typeface="Arial" pitchFamily="34" charset="-122"/>
                <a:cs typeface="Arial"/>
              </a:rPr>
              <a:t>neurone</a:t>
            </a:r>
            <a:r>
              <a:rPr lang="en-US" sz="800">
                <a:solidFill>
                  <a:srgbClr val="334155"/>
                </a:solidFill>
                <a:latin typeface="Arial"/>
                <a:ea typeface="Arial" pitchFamily="34" charset="-122"/>
                <a:cs typeface="Arial"/>
              </a:rPr>
              <a:t> </a:t>
            </a:r>
            <a:r>
              <a:rPr lang="en-US" sz="800" err="1">
                <a:solidFill>
                  <a:srgbClr val="334155"/>
                </a:solidFill>
                <a:latin typeface="Arial"/>
                <a:ea typeface="Arial" pitchFamily="34" charset="-122"/>
                <a:cs typeface="Arial"/>
              </a:rPr>
              <a:t>riceveva</a:t>
            </a:r>
            <a:r>
              <a:rPr lang="en-US" sz="800">
                <a:solidFill>
                  <a:srgbClr val="334155"/>
                </a:solidFill>
                <a:latin typeface="Arial"/>
                <a:ea typeface="Arial" pitchFamily="34" charset="-122"/>
                <a:cs typeface="Arial"/>
              </a:rPr>
              <a:t> un gradiente negativo, la derivata si azzerava per sempre: 42 fold su 63 collassavano producendo predizioni a 0.0!</a:t>
            </a:r>
            <a:endParaRPr lang="en-US" sz="800">
              <a:latin typeface="Arial"/>
              <a:cs typeface="Arial"/>
            </a:endParaRPr>
          </a:p>
        </p:txBody>
      </p:sp>
      <p:sp>
        <p:nvSpPr>
          <p:cNvPr id="11" name="Shape 9"/>
          <p:cNvSpPr/>
          <p:nvPr/>
        </p:nvSpPr>
        <p:spPr>
          <a:xfrm>
            <a:off x="4709160" y="1174283"/>
            <a:ext cx="3703320" cy="1325880"/>
          </a:xfrm>
          <a:prstGeom prst="roundRect">
            <a:avLst>
              <a:gd name="adj" fmla="val 5517"/>
            </a:avLst>
          </a:prstGeom>
          <a:solidFill>
            <a:srgbClr val="FFFBEB"/>
          </a:solidFill>
          <a:ln w="12700">
            <a:solidFill>
              <a:srgbClr val="FDE68A"/>
            </a:solidFill>
            <a:prstDash val="solid"/>
          </a:ln>
        </p:spPr>
        <p:txBody>
          <a:bodyPr/>
          <a:lstStyle/>
          <a:p>
            <a:endParaRPr lang="it-IT"/>
          </a:p>
        </p:txBody>
      </p:sp>
      <p:sp>
        <p:nvSpPr>
          <p:cNvPr id="12" name="Text 10"/>
          <p:cNvSpPr txBox="1"/>
          <p:nvPr/>
        </p:nvSpPr>
        <p:spPr>
          <a:xfrm>
            <a:off x="4892040" y="1284011"/>
            <a:ext cx="3337560" cy="182880"/>
          </a:xfrm>
          <a:prstGeom prst="rect">
            <a:avLst/>
          </a:prstGeom>
          <a:noFill/>
          <a:ln/>
        </p:spPr>
        <p:txBody>
          <a:bodyPr wrap="square" lIns="0" tIns="0" rIns="0" bIns="0" rtlCol="0" anchor="ctr"/>
          <a:lstStyle/>
          <a:p>
            <a:pPr marL="0" indent="0">
              <a:buNone/>
            </a:pPr>
            <a:r>
              <a:rPr lang="en-US" sz="800" b="1">
                <a:solidFill>
                  <a:srgbClr val="D97706"/>
                </a:solidFill>
                <a:latin typeface="Arial" pitchFamily="34" charset="0"/>
                <a:ea typeface="Arial" pitchFamily="34" charset="-122"/>
                <a:cs typeface="Arial" pitchFamily="34" charset="-120"/>
              </a:rPr>
              <a:t>PROBLEMA 2: GRADIENT EXPLOSION SU MSE</a:t>
            </a:r>
            <a:endParaRPr lang="en-US" sz="800"/>
          </a:p>
        </p:txBody>
      </p:sp>
      <p:sp>
        <p:nvSpPr>
          <p:cNvPr id="13" name="Text 11"/>
          <p:cNvSpPr txBox="1"/>
          <p:nvPr/>
        </p:nvSpPr>
        <p:spPr>
          <a:xfrm>
            <a:off x="4892040" y="1466891"/>
            <a:ext cx="3337560" cy="256032"/>
          </a:xfrm>
          <a:prstGeom prst="rect">
            <a:avLst/>
          </a:prstGeom>
          <a:noFill/>
          <a:ln/>
        </p:spPr>
        <p:txBody>
          <a:bodyPr wrap="square" lIns="0" tIns="0" rIns="0" bIns="0" rtlCol="0" anchor="ctr"/>
          <a:lstStyle/>
          <a:p>
            <a:pPr marL="0" indent="0">
              <a:buNone/>
            </a:pPr>
            <a:r>
              <a:rPr lang="en-US" sz="1200" b="1">
                <a:solidFill>
                  <a:srgbClr val="0F2744"/>
                </a:solidFill>
                <a:latin typeface="Arial" pitchFamily="34" charset="0"/>
                <a:ea typeface="Arial" pitchFamily="34" charset="-122"/>
                <a:cs typeface="Arial" pitchFamily="34" charset="-120"/>
              </a:rPr>
              <a:t>Norma dei Gradienti &gt; 10.000 con Outlier</a:t>
            </a:r>
            <a:endParaRPr lang="en-US" sz="1200"/>
          </a:p>
        </p:txBody>
      </p:sp>
      <p:sp>
        <p:nvSpPr>
          <p:cNvPr id="14" name="Text 12"/>
          <p:cNvSpPr txBox="1"/>
          <p:nvPr/>
        </p:nvSpPr>
        <p:spPr>
          <a:xfrm>
            <a:off x="4892040" y="1741211"/>
            <a:ext cx="3337560" cy="685800"/>
          </a:xfrm>
          <a:prstGeom prst="rect">
            <a:avLst/>
          </a:prstGeom>
          <a:noFill/>
          <a:ln/>
        </p:spPr>
        <p:txBody>
          <a:bodyPr wrap="square" lIns="0" tIns="0" rIns="0" bIns="0" rtlCol="0" anchor="t"/>
          <a:lstStyle/>
          <a:p>
            <a:pPr>
              <a:lnSpc>
                <a:spcPts val="1150"/>
              </a:lnSpc>
            </a:pPr>
            <a:r>
              <a:rPr lang="en-US" sz="800" err="1">
                <a:solidFill>
                  <a:srgbClr val="334155"/>
                </a:solidFill>
                <a:latin typeface="Arial"/>
                <a:cs typeface="Arial"/>
              </a:rPr>
              <a:t>Progetti</a:t>
            </a:r>
            <a:r>
              <a:rPr lang="en-US" sz="800">
                <a:solidFill>
                  <a:srgbClr val="334155"/>
                </a:solidFill>
                <a:latin typeface="Arial"/>
                <a:cs typeface="Arial"/>
              </a:rPr>
              <a:t> molto </a:t>
            </a:r>
            <a:r>
              <a:rPr lang="en-US" sz="800" err="1">
                <a:solidFill>
                  <a:srgbClr val="334155"/>
                </a:solidFill>
                <a:latin typeface="Arial"/>
                <a:cs typeface="Arial"/>
              </a:rPr>
              <a:t>grandi</a:t>
            </a:r>
            <a:r>
              <a:rPr lang="en-US" sz="800">
                <a:solidFill>
                  <a:srgbClr val="334155"/>
                </a:solidFill>
                <a:latin typeface="Arial"/>
                <a:cs typeface="Arial"/>
              </a:rPr>
              <a:t> </a:t>
            </a:r>
            <a:r>
              <a:rPr lang="en-US" sz="800" err="1">
                <a:solidFill>
                  <a:srgbClr val="334155"/>
                </a:solidFill>
                <a:latin typeface="Arial"/>
                <a:cs typeface="Arial"/>
              </a:rPr>
              <a:t>dominavano</a:t>
            </a:r>
            <a:r>
              <a:rPr lang="en-US" sz="800">
                <a:solidFill>
                  <a:srgbClr val="334155"/>
                </a:solidFill>
                <a:latin typeface="Arial"/>
                <a:cs typeface="Arial"/>
              </a:rPr>
              <a:t> </a:t>
            </a:r>
            <a:r>
              <a:rPr lang="en-US" sz="800" err="1">
                <a:solidFill>
                  <a:srgbClr val="334155"/>
                </a:solidFill>
                <a:latin typeface="Arial"/>
                <a:cs typeface="Arial"/>
              </a:rPr>
              <a:t>l'apprendimento</a:t>
            </a:r>
            <a:r>
              <a:rPr lang="en-US" sz="800">
                <a:solidFill>
                  <a:srgbClr val="334155"/>
                </a:solidFill>
                <a:latin typeface="Arial"/>
                <a:cs typeface="Arial"/>
              </a:rPr>
              <a:t> della rete, </a:t>
            </a:r>
            <a:r>
              <a:rPr lang="en-US" sz="800" err="1">
                <a:solidFill>
                  <a:srgbClr val="334155"/>
                </a:solidFill>
                <a:latin typeface="Arial"/>
                <a:cs typeface="Arial"/>
              </a:rPr>
              <a:t>penalizzando</a:t>
            </a:r>
            <a:r>
              <a:rPr lang="en-US" sz="800">
                <a:solidFill>
                  <a:srgbClr val="334155"/>
                </a:solidFill>
                <a:latin typeface="Arial"/>
                <a:cs typeface="Arial"/>
              </a:rPr>
              <a:t> le </a:t>
            </a:r>
            <a:r>
              <a:rPr lang="en-US" sz="800" err="1">
                <a:solidFill>
                  <a:srgbClr val="334155"/>
                </a:solidFill>
                <a:latin typeface="Arial"/>
                <a:cs typeface="Arial"/>
              </a:rPr>
              <a:t>prestazioni</a:t>
            </a:r>
            <a:r>
              <a:rPr lang="en-US" sz="800">
                <a:solidFill>
                  <a:srgbClr val="334155"/>
                </a:solidFill>
                <a:latin typeface="Arial"/>
                <a:cs typeface="Arial"/>
              </a:rPr>
              <a:t> sui </a:t>
            </a:r>
            <a:r>
              <a:rPr lang="en-US" sz="800" err="1">
                <a:solidFill>
                  <a:srgbClr val="334155"/>
                </a:solidFill>
                <a:latin typeface="Arial"/>
                <a:cs typeface="Arial"/>
              </a:rPr>
              <a:t>progetti</a:t>
            </a:r>
            <a:r>
              <a:rPr lang="en-US" sz="800">
                <a:solidFill>
                  <a:srgbClr val="334155"/>
                </a:solidFill>
                <a:latin typeface="Arial"/>
                <a:cs typeface="Arial"/>
              </a:rPr>
              <a:t> </a:t>
            </a:r>
            <a:r>
              <a:rPr lang="en-US" sz="800" err="1">
                <a:solidFill>
                  <a:srgbClr val="334155"/>
                </a:solidFill>
                <a:latin typeface="Arial"/>
                <a:cs typeface="Arial"/>
              </a:rPr>
              <a:t>più</a:t>
            </a:r>
            <a:r>
              <a:rPr lang="en-US" sz="800">
                <a:solidFill>
                  <a:srgbClr val="334155"/>
                </a:solidFill>
                <a:latin typeface="Arial"/>
                <a:cs typeface="Arial"/>
              </a:rPr>
              <a:t> piccoli.</a:t>
            </a:r>
          </a:p>
        </p:txBody>
      </p:sp>
      <p:sp>
        <p:nvSpPr>
          <p:cNvPr id="15" name="Shape 13"/>
          <p:cNvSpPr/>
          <p:nvPr/>
        </p:nvSpPr>
        <p:spPr>
          <a:xfrm>
            <a:off x="731520" y="2711915"/>
            <a:ext cx="3703320" cy="1325880"/>
          </a:xfrm>
          <a:prstGeom prst="roundRect">
            <a:avLst>
              <a:gd name="adj" fmla="val 5517"/>
            </a:avLst>
          </a:prstGeom>
          <a:solidFill>
            <a:srgbClr val="FFFFFF"/>
          </a:solidFill>
          <a:ln w="12700">
            <a:solidFill>
              <a:srgbClr val="CBD5E1"/>
            </a:solidFill>
            <a:prstDash val="solid"/>
          </a:ln>
        </p:spPr>
        <p:txBody>
          <a:bodyPr/>
          <a:lstStyle/>
          <a:p>
            <a:endParaRPr lang="it-IT"/>
          </a:p>
        </p:txBody>
      </p:sp>
      <p:sp>
        <p:nvSpPr>
          <p:cNvPr id="16" name="Text 14"/>
          <p:cNvSpPr txBox="1"/>
          <p:nvPr/>
        </p:nvSpPr>
        <p:spPr>
          <a:xfrm>
            <a:off x="914400" y="2821643"/>
            <a:ext cx="3337560" cy="182880"/>
          </a:xfrm>
          <a:prstGeom prst="rect">
            <a:avLst/>
          </a:prstGeom>
          <a:noFill/>
          <a:ln/>
        </p:spPr>
        <p:txBody>
          <a:bodyPr wrap="square" lIns="0" tIns="0" rIns="0" bIns="0" rtlCol="0" anchor="ctr"/>
          <a:lstStyle/>
          <a:p>
            <a:pPr marL="0" indent="0">
              <a:buNone/>
            </a:pPr>
            <a:r>
              <a:rPr lang="en-US" sz="800" b="1">
                <a:solidFill>
                  <a:srgbClr val="2563EB"/>
                </a:solidFill>
                <a:latin typeface="Arial" pitchFamily="34" charset="0"/>
                <a:ea typeface="Arial" pitchFamily="34" charset="-122"/>
                <a:cs typeface="Arial" pitchFamily="34" charset="-120"/>
              </a:rPr>
              <a:t>PROBLEMA 3: INDICE XIE-BENI INCERTO</a:t>
            </a:r>
            <a:endParaRPr lang="en-US" sz="800"/>
          </a:p>
        </p:txBody>
      </p:sp>
      <p:sp>
        <p:nvSpPr>
          <p:cNvPr id="17" name="Text 15"/>
          <p:cNvSpPr txBox="1"/>
          <p:nvPr/>
        </p:nvSpPr>
        <p:spPr>
          <a:xfrm>
            <a:off x="914400" y="3004523"/>
            <a:ext cx="3337560" cy="256032"/>
          </a:xfrm>
          <a:prstGeom prst="rect">
            <a:avLst/>
          </a:prstGeom>
          <a:noFill/>
          <a:ln/>
        </p:spPr>
        <p:txBody>
          <a:bodyPr wrap="square" lIns="0" tIns="0" rIns="0" bIns="0" rtlCol="0" anchor="ctr"/>
          <a:lstStyle/>
          <a:p>
            <a:pPr marL="0" indent="0">
              <a:buNone/>
            </a:pPr>
            <a:r>
              <a:rPr lang="en-US" sz="1200" b="1">
                <a:solidFill>
                  <a:srgbClr val="0F2744"/>
                </a:solidFill>
                <a:latin typeface="Arial" pitchFamily="34" charset="0"/>
                <a:ea typeface="Arial" pitchFamily="34" charset="-122"/>
                <a:cs typeface="Arial" pitchFamily="34" charset="-120"/>
              </a:rPr>
              <a:t>Collasso Numerico e Divisione per Zero</a:t>
            </a:r>
            <a:endParaRPr lang="en-US" sz="1200"/>
          </a:p>
        </p:txBody>
      </p:sp>
      <p:sp>
        <p:nvSpPr>
          <p:cNvPr id="18" name="Text 16"/>
          <p:cNvSpPr txBox="1"/>
          <p:nvPr/>
        </p:nvSpPr>
        <p:spPr>
          <a:xfrm>
            <a:off x="914400" y="3278843"/>
            <a:ext cx="3337560" cy="685800"/>
          </a:xfrm>
          <a:prstGeom prst="rect">
            <a:avLst/>
          </a:prstGeom>
          <a:noFill/>
          <a:ln/>
        </p:spPr>
        <p:txBody>
          <a:bodyPr wrap="square" lIns="0" tIns="0" rIns="0" bIns="0" rtlCol="0" anchor="t"/>
          <a:lstStyle/>
          <a:p>
            <a:pPr marL="0" indent="0">
              <a:lnSpc>
                <a:spcPts val="1150"/>
              </a:lnSpc>
              <a:buNone/>
            </a:pPr>
            <a:r>
              <a:rPr lang="en-US" sz="820">
                <a:solidFill>
                  <a:srgbClr val="334155"/>
                </a:solidFill>
                <a:latin typeface="Arial" pitchFamily="34" charset="0"/>
                <a:ea typeface="Arial" pitchFamily="34" charset="-122"/>
                <a:cs typeface="Arial" pitchFamily="34" charset="-120"/>
              </a:rPr>
              <a:t>L'indice XB per scegliere il numero di cluster </a:t>
            </a:r>
            <a:r>
              <a:rPr lang="en-US" sz="820" i="1">
                <a:solidFill>
                  <a:srgbClr val="334155"/>
                </a:solidFill>
                <a:latin typeface="Arial" pitchFamily="34" charset="0"/>
                <a:ea typeface="Arial" pitchFamily="34" charset="-122"/>
                <a:cs typeface="Arial" pitchFamily="34" charset="-120"/>
              </a:rPr>
              <a:t>k</a:t>
            </a:r>
            <a:r>
              <a:rPr lang="en-US" sz="820">
                <a:solidFill>
                  <a:srgbClr val="334155"/>
                </a:solidFill>
                <a:latin typeface="Arial" pitchFamily="34" charset="0"/>
                <a:ea typeface="Arial" pitchFamily="34" charset="-122"/>
                <a:cs typeface="Arial" pitchFamily="34" charset="-120"/>
              </a:rPr>
              <a:t> pone a denominatore la minima distanza tra centroidi: con feature scalate [0, 1], il denominatore tendeva a zero, scegliendo cluster degeneri.</a:t>
            </a:r>
            <a:endParaRPr lang="en-US" sz="820"/>
          </a:p>
        </p:txBody>
      </p:sp>
      <p:sp>
        <p:nvSpPr>
          <p:cNvPr id="19" name="Shape 17"/>
          <p:cNvSpPr/>
          <p:nvPr/>
        </p:nvSpPr>
        <p:spPr>
          <a:xfrm>
            <a:off x="4709160" y="2711915"/>
            <a:ext cx="3703320" cy="1325880"/>
          </a:xfrm>
          <a:prstGeom prst="roundRect">
            <a:avLst>
              <a:gd name="adj" fmla="val 5517"/>
            </a:avLst>
          </a:prstGeom>
          <a:solidFill>
            <a:srgbClr val="FFFFFF"/>
          </a:solidFill>
          <a:ln w="12700">
            <a:solidFill>
              <a:srgbClr val="CBD5E1"/>
            </a:solidFill>
            <a:prstDash val="solid"/>
          </a:ln>
        </p:spPr>
        <p:txBody>
          <a:bodyPr/>
          <a:lstStyle/>
          <a:p>
            <a:endParaRPr lang="it-IT"/>
          </a:p>
        </p:txBody>
      </p:sp>
      <p:sp>
        <p:nvSpPr>
          <p:cNvPr id="20" name="Text 18"/>
          <p:cNvSpPr txBox="1"/>
          <p:nvPr/>
        </p:nvSpPr>
        <p:spPr>
          <a:xfrm>
            <a:off x="4892040" y="2821643"/>
            <a:ext cx="3337560" cy="182880"/>
          </a:xfrm>
          <a:prstGeom prst="rect">
            <a:avLst/>
          </a:prstGeom>
          <a:noFill/>
          <a:ln/>
        </p:spPr>
        <p:txBody>
          <a:bodyPr wrap="square" lIns="0" tIns="0" rIns="0" bIns="0" rtlCol="0" anchor="ctr"/>
          <a:lstStyle/>
          <a:p>
            <a:pPr marL="0" indent="0">
              <a:buNone/>
            </a:pPr>
            <a:r>
              <a:rPr lang="en-US" sz="800" b="1">
                <a:solidFill>
                  <a:srgbClr val="2563EB"/>
                </a:solidFill>
                <a:latin typeface="Arial" pitchFamily="34" charset="0"/>
                <a:ea typeface="Arial" pitchFamily="34" charset="-122"/>
                <a:cs typeface="Arial" pitchFamily="34" charset="-120"/>
              </a:rPr>
              <a:t>PROBLEMA 4: IPERPARAMETRI</a:t>
            </a:r>
            <a:endParaRPr lang="en-US" sz="800"/>
          </a:p>
        </p:txBody>
      </p:sp>
      <p:sp>
        <p:nvSpPr>
          <p:cNvPr id="21" name="Text 19"/>
          <p:cNvSpPr txBox="1"/>
          <p:nvPr/>
        </p:nvSpPr>
        <p:spPr>
          <a:xfrm>
            <a:off x="4892040" y="3004523"/>
            <a:ext cx="3337560" cy="256032"/>
          </a:xfrm>
          <a:prstGeom prst="rect">
            <a:avLst/>
          </a:prstGeom>
          <a:noFill/>
          <a:ln/>
        </p:spPr>
        <p:txBody>
          <a:bodyPr wrap="square" lIns="0" tIns="0" rIns="0" bIns="0" rtlCol="0" anchor="ctr"/>
          <a:lstStyle/>
          <a:p>
            <a:pPr marL="0" indent="0">
              <a:buNone/>
            </a:pPr>
            <a:r>
              <a:rPr lang="en-US" sz="1200" b="1">
                <a:solidFill>
                  <a:srgbClr val="0F2744"/>
                </a:solidFill>
                <a:latin typeface="Arial" pitchFamily="34" charset="0"/>
                <a:ea typeface="Arial" pitchFamily="34" charset="-122"/>
                <a:cs typeface="Arial" pitchFamily="34" charset="-120"/>
              </a:rPr>
              <a:t>Scelta e validazione</a:t>
            </a:r>
            <a:endParaRPr lang="en-US" sz="1200"/>
          </a:p>
        </p:txBody>
      </p:sp>
      <p:sp>
        <p:nvSpPr>
          <p:cNvPr id="22" name="Text 20"/>
          <p:cNvSpPr txBox="1"/>
          <p:nvPr/>
        </p:nvSpPr>
        <p:spPr>
          <a:xfrm>
            <a:off x="4892040" y="3278843"/>
            <a:ext cx="3337560" cy="685800"/>
          </a:xfrm>
          <a:prstGeom prst="rect">
            <a:avLst/>
          </a:prstGeom>
          <a:noFill/>
          <a:ln/>
        </p:spPr>
        <p:txBody>
          <a:bodyPr wrap="square" lIns="0" tIns="0" rIns="0" bIns="0" rtlCol="0" anchor="t"/>
          <a:lstStyle/>
          <a:p>
            <a:pPr marL="0" indent="0">
              <a:lnSpc>
                <a:spcPct val="100000"/>
              </a:lnSpc>
              <a:buNone/>
            </a:pPr>
            <a:r>
              <a:rPr lang="en-US" sz="800" err="1">
                <a:solidFill>
                  <a:srgbClr val="334155"/>
                </a:solidFill>
                <a:latin typeface="Arial"/>
                <a:ea typeface="Arial" pitchFamily="34" charset="-122"/>
                <a:cs typeface="Arial"/>
              </a:rPr>
              <a:t>Tramite</a:t>
            </a:r>
            <a:r>
              <a:rPr lang="en-US" sz="800">
                <a:solidFill>
                  <a:srgbClr val="334155"/>
                </a:solidFill>
                <a:latin typeface="Arial"/>
                <a:ea typeface="Arial" pitchFamily="34" charset="-122"/>
                <a:cs typeface="Arial"/>
              </a:rPr>
              <a:t> Grid Search a due </a:t>
            </a:r>
            <a:r>
              <a:rPr lang="en-US" sz="800" err="1">
                <a:solidFill>
                  <a:srgbClr val="334155"/>
                </a:solidFill>
                <a:latin typeface="Arial"/>
                <a:ea typeface="Arial" pitchFamily="34" charset="-122"/>
                <a:cs typeface="Arial"/>
              </a:rPr>
              <a:t>stadi</a:t>
            </a:r>
            <a:r>
              <a:rPr lang="en-US" sz="800">
                <a:solidFill>
                  <a:srgbClr val="334155"/>
                </a:solidFill>
                <a:latin typeface="Arial"/>
                <a:ea typeface="Arial" pitchFamily="34" charset="-122"/>
                <a:cs typeface="Arial"/>
              </a:rPr>
              <a:t> </a:t>
            </a:r>
            <a:r>
              <a:rPr lang="en-US" sz="800" err="1">
                <a:solidFill>
                  <a:srgbClr val="334155"/>
                </a:solidFill>
                <a:latin typeface="Arial"/>
                <a:ea typeface="Arial" pitchFamily="34" charset="-122"/>
                <a:cs typeface="Arial"/>
              </a:rPr>
              <a:t>abbiamo</a:t>
            </a:r>
            <a:r>
              <a:rPr lang="en-US" sz="800">
                <a:solidFill>
                  <a:srgbClr val="334155"/>
                </a:solidFill>
                <a:latin typeface="Arial"/>
                <a:ea typeface="Arial" pitchFamily="34" charset="-122"/>
                <a:cs typeface="Arial"/>
              </a:rPr>
              <a:t> </a:t>
            </a:r>
            <a:r>
              <a:rPr lang="en-US" sz="800" err="1">
                <a:solidFill>
                  <a:srgbClr val="334155"/>
                </a:solidFill>
                <a:latin typeface="Arial"/>
                <a:ea typeface="Arial" pitchFamily="34" charset="-122"/>
                <a:cs typeface="Arial"/>
              </a:rPr>
              <a:t>ottimizzato</a:t>
            </a:r>
            <a:r>
              <a:rPr lang="en-US" sz="800">
                <a:solidFill>
                  <a:srgbClr val="334155"/>
                </a:solidFill>
                <a:latin typeface="Arial"/>
                <a:ea typeface="Arial" pitchFamily="34" charset="-122"/>
                <a:cs typeface="Arial"/>
              </a:rPr>
              <a:t>: </a:t>
            </a:r>
            <a:r>
              <a:rPr lang="en-US" sz="800" err="1">
                <a:solidFill>
                  <a:srgbClr val="334155"/>
                </a:solidFill>
                <a:latin typeface="Arial"/>
                <a:ea typeface="Arial" pitchFamily="34" charset="-122"/>
                <a:cs typeface="Arial"/>
              </a:rPr>
              <a:t>numero</a:t>
            </a:r>
            <a:r>
              <a:rPr lang="en-US" sz="800">
                <a:solidFill>
                  <a:srgbClr val="334155"/>
                </a:solidFill>
                <a:latin typeface="Arial"/>
                <a:ea typeface="Arial" pitchFamily="34" charset="-122"/>
                <a:cs typeface="Arial"/>
              </a:rPr>
              <a:t> di cluster fuzzy </a:t>
            </a:r>
            <a:r>
              <a:rPr lang="en-US" sz="800" i="1">
                <a:solidFill>
                  <a:srgbClr val="334155"/>
                </a:solidFill>
                <a:latin typeface="Arial"/>
                <a:ea typeface="Arial" pitchFamily="34" charset="-122"/>
                <a:cs typeface="Arial"/>
              </a:rPr>
              <a:t>k</a:t>
            </a:r>
            <a:r>
              <a:rPr lang="en-US" sz="800">
                <a:solidFill>
                  <a:srgbClr val="334155"/>
                </a:solidFill>
                <a:latin typeface="Arial"/>
                <a:ea typeface="Arial" pitchFamily="34" charset="-122"/>
                <a:cs typeface="Arial"/>
              </a:rPr>
              <a:t>, </a:t>
            </a:r>
            <a:r>
              <a:rPr lang="en-US" sz="800" err="1">
                <a:solidFill>
                  <a:srgbClr val="334155"/>
                </a:solidFill>
                <a:latin typeface="Arial"/>
                <a:ea typeface="Arial" pitchFamily="34" charset="-122"/>
                <a:cs typeface="Arial"/>
              </a:rPr>
              <a:t>filtri</a:t>
            </a:r>
            <a:r>
              <a:rPr lang="en-US" sz="800">
                <a:solidFill>
                  <a:srgbClr val="334155"/>
                </a:solidFill>
                <a:latin typeface="Arial"/>
                <a:ea typeface="Arial" pitchFamily="34" charset="-122"/>
                <a:cs typeface="Arial"/>
              </a:rPr>
              <a:t> Conv2D, </a:t>
            </a:r>
            <a:r>
              <a:rPr lang="en-US" sz="800" err="1">
                <a:solidFill>
                  <a:srgbClr val="334155"/>
                </a:solidFill>
                <a:latin typeface="Arial"/>
                <a:ea typeface="Arial" pitchFamily="34" charset="-122"/>
                <a:cs typeface="Arial"/>
              </a:rPr>
              <a:t>tasso</a:t>
            </a:r>
            <a:r>
              <a:rPr lang="en-US" sz="800">
                <a:solidFill>
                  <a:srgbClr val="334155"/>
                </a:solidFill>
                <a:latin typeface="Arial"/>
                <a:ea typeface="Arial" pitchFamily="34" charset="-122"/>
                <a:cs typeface="Arial"/>
              </a:rPr>
              <a:t> di dropout, learning rate, batch size, </a:t>
            </a:r>
            <a:r>
              <a:rPr lang="en-US" sz="800" err="1">
                <a:solidFill>
                  <a:srgbClr val="334155"/>
                </a:solidFill>
                <a:latin typeface="Arial"/>
                <a:ea typeface="Arial" pitchFamily="34" charset="-122"/>
                <a:cs typeface="Arial"/>
              </a:rPr>
              <a:t>soglia</a:t>
            </a:r>
            <a:r>
              <a:rPr lang="en-US" sz="800">
                <a:solidFill>
                  <a:srgbClr val="334155"/>
                </a:solidFill>
                <a:latin typeface="Arial"/>
                <a:ea typeface="Arial" pitchFamily="34" charset="-122"/>
                <a:cs typeface="Arial"/>
              </a:rPr>
              <a:t> </a:t>
            </a:r>
            <a:r>
              <a:rPr lang="en-US" sz="800" i="1">
                <a:solidFill>
                  <a:srgbClr val="334155"/>
                </a:solidFill>
                <a:latin typeface="Arial"/>
                <a:ea typeface="Arial" pitchFamily="34" charset="-122"/>
                <a:cs typeface="Arial"/>
              </a:rPr>
              <a:t>delta </a:t>
            </a:r>
            <a:r>
              <a:rPr lang="en-US" sz="800">
                <a:solidFill>
                  <a:srgbClr val="334155"/>
                </a:solidFill>
                <a:latin typeface="Arial"/>
                <a:ea typeface="Arial" pitchFamily="34" charset="-122"/>
                <a:cs typeface="Arial"/>
              </a:rPr>
              <a:t>della Huber Loss e target </a:t>
            </a:r>
            <a:r>
              <a:rPr lang="en-US" sz="800" err="1">
                <a:solidFill>
                  <a:srgbClr val="334155"/>
                </a:solidFill>
                <a:latin typeface="Arial"/>
                <a:ea typeface="Arial" pitchFamily="34" charset="-122"/>
                <a:cs typeface="Arial"/>
              </a:rPr>
              <a:t>logaritmico</a:t>
            </a:r>
            <a:r>
              <a:rPr lang="en-US" sz="800">
                <a:solidFill>
                  <a:srgbClr val="334155"/>
                </a:solidFill>
                <a:latin typeface="Arial"/>
                <a:ea typeface="Arial" pitchFamily="34" charset="-122"/>
                <a:cs typeface="Arial"/>
              </a:rPr>
              <a:t>.</a:t>
            </a:r>
            <a:endParaRPr lang="en-US" sz="820">
              <a:latin typeface="Arial"/>
              <a:ea typeface="Calibri" panose="020F0502020204030204"/>
              <a:cs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TEST 1 · VALIDAZIONE EMPIRICA DEI CLUSTER FUZZY</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a:solidFill>
                  <a:srgbClr val="0F2744"/>
                </a:solidFill>
                <a:latin typeface="Arial" pitchFamily="34" charset="0"/>
                <a:ea typeface="Arial" pitchFamily="34" charset="-122"/>
                <a:cs typeface="Arial" pitchFamily="34" charset="-120"/>
              </a:rPr>
              <a:t>Oltre l'Indice Xie-Beni: Scelta di k e Confronto tra Indici Geometrici</a:t>
            </a:r>
            <a:endParaRPr lang="en-US" sz="1850"/>
          </a:p>
        </p:txBody>
      </p:sp>
      <p:sp>
        <p:nvSpPr>
          <p:cNvPr id="4" name="Shape 2"/>
          <p:cNvSpPr/>
          <p:nvPr/>
        </p:nvSpPr>
        <p:spPr>
          <a:xfrm>
            <a:off x="731520" y="1051560"/>
            <a:ext cx="3794760" cy="3611880"/>
          </a:xfrm>
          <a:prstGeom prst="roundRect">
            <a:avLst>
              <a:gd name="adj" fmla="val 2025"/>
            </a:avLst>
          </a:prstGeom>
          <a:solidFill>
            <a:srgbClr val="FFFFFF"/>
          </a:solidFill>
          <a:ln w="12700">
            <a:solidFill>
              <a:srgbClr val="CBD5E1"/>
            </a:solidFill>
            <a:prstDash val="solid"/>
          </a:ln>
        </p:spPr>
        <p:txBody>
          <a:bodyPr/>
          <a:lstStyle/>
          <a:p>
            <a:endParaRPr lang="it-IT"/>
          </a:p>
        </p:txBody>
      </p:sp>
      <p:sp>
        <p:nvSpPr>
          <p:cNvPr id="5" name="Text 3"/>
          <p:cNvSpPr txBox="1"/>
          <p:nvPr/>
        </p:nvSpPr>
        <p:spPr>
          <a:xfrm>
            <a:off x="914400" y="1234440"/>
            <a:ext cx="3429000" cy="182880"/>
          </a:xfrm>
          <a:prstGeom prst="rect">
            <a:avLst/>
          </a:prstGeom>
          <a:noFill/>
          <a:ln/>
        </p:spPr>
        <p:txBody>
          <a:bodyPr wrap="square" lIns="0" tIns="0" rIns="0" bIns="0" rtlCol="0" anchor="ctr"/>
          <a:lstStyle/>
          <a:p>
            <a:pPr marL="0" indent="0">
              <a:buNone/>
            </a:pPr>
            <a:r>
              <a:rPr lang="en-US" sz="800" b="1">
                <a:solidFill>
                  <a:srgbClr val="2563EB"/>
                </a:solidFill>
                <a:latin typeface="Arial" pitchFamily="34" charset="0"/>
                <a:ea typeface="Arial" pitchFamily="34" charset="-122"/>
                <a:cs typeface="Arial" pitchFamily="34" charset="-120"/>
              </a:rPr>
              <a:t>PERCHÉ XIE-BENI FALLISCE &amp; CONFRONTO INDICI</a:t>
            </a:r>
            <a:endParaRPr lang="en-US" sz="800"/>
          </a:p>
        </p:txBody>
      </p:sp>
      <p:sp>
        <p:nvSpPr>
          <p:cNvPr id="6" name="Text 4"/>
          <p:cNvSpPr txBox="1"/>
          <p:nvPr/>
        </p:nvSpPr>
        <p:spPr>
          <a:xfrm>
            <a:off x="914400" y="1444752"/>
            <a:ext cx="3429000" cy="256032"/>
          </a:xfrm>
          <a:prstGeom prst="rect">
            <a:avLst/>
          </a:prstGeom>
          <a:noFill/>
          <a:ln/>
        </p:spPr>
        <p:txBody>
          <a:bodyPr wrap="square" lIns="0" tIns="0" rIns="0" bIns="0" rtlCol="0" anchor="ctr"/>
          <a:lstStyle/>
          <a:p>
            <a:pPr marL="0" indent="0">
              <a:buNone/>
            </a:pPr>
            <a:r>
              <a:rPr lang="en-US" sz="1250" b="1">
                <a:solidFill>
                  <a:srgbClr val="0F2744"/>
                </a:solidFill>
                <a:latin typeface="Arial" pitchFamily="34" charset="0"/>
                <a:ea typeface="Arial" pitchFamily="34" charset="-122"/>
                <a:cs typeface="Arial" pitchFamily="34" charset="-120"/>
              </a:rPr>
              <a:t>Limiti di XB e la Terna Geometrica SOTA</a:t>
            </a:r>
            <a:endParaRPr lang="en-US" sz="1250"/>
          </a:p>
        </p:txBody>
      </p:sp>
      <p:sp>
        <p:nvSpPr>
          <p:cNvPr id="7" name="Text 5"/>
          <p:cNvSpPr txBox="1"/>
          <p:nvPr/>
        </p:nvSpPr>
        <p:spPr>
          <a:xfrm>
            <a:off x="914400" y="1755648"/>
            <a:ext cx="3429000" cy="2788920"/>
          </a:xfrm>
          <a:prstGeom prst="rect">
            <a:avLst/>
          </a:prstGeom>
          <a:noFill/>
          <a:ln/>
        </p:spPr>
        <p:txBody>
          <a:bodyPr wrap="square" lIns="0" tIns="0" rIns="0" bIns="0" rtlCol="0" anchor="t"/>
          <a:lstStyle/>
          <a:p>
            <a:pPr marL="0" indent="0">
              <a:lnSpc>
                <a:spcPts val="1150"/>
              </a:lnSpc>
              <a:buNone/>
            </a:pPr>
            <a:r>
              <a:rPr lang="en-US" sz="760">
                <a:solidFill>
                  <a:srgbClr val="334155"/>
                </a:solidFill>
                <a:latin typeface="Arial" pitchFamily="34" charset="0"/>
                <a:ea typeface="Arial" pitchFamily="34" charset="-122"/>
                <a:cs typeface="Arial" pitchFamily="34" charset="-120"/>
              </a:rPr>
              <a:t>• Xie-Beni (XB) — Limite del Paper Originale:</a:t>
            </a:r>
            <a:endParaRPr lang="en-US" sz="760"/>
          </a:p>
          <a:p>
            <a:pPr marL="0" indent="0">
              <a:lnSpc>
                <a:spcPts val="1150"/>
              </a:lnSpc>
              <a:buNone/>
            </a:pPr>
            <a:r>
              <a:rPr lang="en-US" sz="760">
                <a:solidFill>
                  <a:srgbClr val="334155"/>
                </a:solidFill>
                <a:latin typeface="Arial" pitchFamily="34" charset="0"/>
                <a:ea typeface="Arial" pitchFamily="34" charset="-122"/>
                <a:cs typeface="Arial" pitchFamily="34" charset="-120"/>
              </a:rPr>
              <a:t>  Minimizza l'errore dividendo per la minima distanza tra centroidi (min ||v_i - v_j||²). Nello spazio normalizzato in [0, 1], se due centroidi si avvicinano il denominatore collassa a zero, causando divisioni per zero o un minimo degenere forzato su k=2.</a:t>
            </a:r>
            <a:endParaRPr lang="en-US" sz="760"/>
          </a:p>
          <a:p>
            <a:pPr marL="0" indent="0">
              <a:lnSpc>
                <a:spcPts val="1150"/>
              </a:lnSpc>
              <a:buNone/>
            </a:pPr>
            <a:endParaRPr lang="en-US" sz="760"/>
          </a:p>
          <a:p>
            <a:pPr marL="0" indent="0">
              <a:lnSpc>
                <a:spcPts val="1150"/>
              </a:lnSpc>
              <a:buNone/>
            </a:pPr>
            <a:r>
              <a:rPr lang="en-US" sz="760">
                <a:solidFill>
                  <a:srgbClr val="334155"/>
                </a:solidFill>
                <a:latin typeface="Arial" pitchFamily="34" charset="0"/>
                <a:ea typeface="Arial" pitchFamily="34" charset="-122"/>
                <a:cs typeface="Arial" pitchFamily="34" charset="-120"/>
              </a:rPr>
              <a:t>• Silhouette Score (S ∈ [-1, 1], max è preferibile):</a:t>
            </a:r>
            <a:endParaRPr lang="en-US" sz="760"/>
          </a:p>
          <a:p>
            <a:pPr marL="0" indent="0">
              <a:lnSpc>
                <a:spcPts val="1150"/>
              </a:lnSpc>
              <a:buNone/>
            </a:pPr>
            <a:r>
              <a:rPr lang="en-US" sz="760">
                <a:solidFill>
                  <a:srgbClr val="334155"/>
                </a:solidFill>
                <a:latin typeface="Arial" pitchFamily="34" charset="0"/>
                <a:ea typeface="Arial" pitchFamily="34" charset="-122"/>
                <a:cs typeface="Arial" pitchFamily="34" charset="-120"/>
              </a:rPr>
              <a:t>  Confronta punto per punto la coesione interna con la distanza dal cluster più vicino. È priva di singolarità, ma conservativa: privilegia cluster grandi e partizioni binarie (k=2).</a:t>
            </a:r>
            <a:endParaRPr lang="en-US" sz="760"/>
          </a:p>
          <a:p>
            <a:pPr marL="0" indent="0">
              <a:lnSpc>
                <a:spcPts val="1150"/>
              </a:lnSpc>
              <a:buNone/>
            </a:pPr>
            <a:endParaRPr lang="en-US" sz="760"/>
          </a:p>
          <a:p>
            <a:pPr marL="0" indent="0">
              <a:lnSpc>
                <a:spcPts val="1150"/>
              </a:lnSpc>
              <a:buNone/>
            </a:pPr>
            <a:r>
              <a:rPr lang="en-US" sz="760">
                <a:solidFill>
                  <a:srgbClr val="334155"/>
                </a:solidFill>
                <a:latin typeface="Arial" pitchFamily="34" charset="0"/>
                <a:ea typeface="Arial" pitchFamily="34" charset="-122"/>
                <a:cs typeface="Arial" pitchFamily="34" charset="-120"/>
              </a:rPr>
              <a:t>• Davies-Bouldin Index (DB, min è preferibile):</a:t>
            </a:r>
            <a:endParaRPr lang="en-US" sz="760"/>
          </a:p>
          <a:p>
            <a:pPr marL="0" indent="0">
              <a:lnSpc>
                <a:spcPts val="1150"/>
              </a:lnSpc>
              <a:buNone/>
            </a:pPr>
            <a:r>
              <a:rPr lang="en-US" sz="760">
                <a:solidFill>
                  <a:srgbClr val="334155"/>
                </a:solidFill>
                <a:latin typeface="Arial" pitchFamily="34" charset="0"/>
                <a:ea typeface="Arial" pitchFamily="34" charset="-122"/>
                <a:cs typeface="Arial" pitchFamily="34" charset="-120"/>
              </a:rPr>
              <a:t>  Calcola la similarità media tra cluster affini (dispersione interna su distanza tra baricentri). Penalizza sovrapposizioni ed è immune da asintoti a zero.</a:t>
            </a:r>
            <a:endParaRPr lang="en-US" sz="760"/>
          </a:p>
          <a:p>
            <a:pPr marL="0" indent="0">
              <a:lnSpc>
                <a:spcPts val="1150"/>
              </a:lnSpc>
              <a:buNone/>
            </a:pPr>
            <a:endParaRPr lang="en-US" sz="760"/>
          </a:p>
          <a:p>
            <a:pPr marL="0" indent="0">
              <a:lnSpc>
                <a:spcPts val="1150"/>
              </a:lnSpc>
              <a:buNone/>
            </a:pPr>
            <a:r>
              <a:rPr lang="en-US" sz="760">
                <a:solidFill>
                  <a:srgbClr val="334155"/>
                </a:solidFill>
                <a:latin typeface="Arial" pitchFamily="34" charset="0"/>
                <a:ea typeface="Arial" pitchFamily="34" charset="-122"/>
                <a:cs typeface="Arial" pitchFamily="34" charset="-120"/>
              </a:rPr>
              <a:t>• Calinski-Harabasz Index (CH, max è preferibile):</a:t>
            </a:r>
            <a:endParaRPr lang="en-US" sz="760"/>
          </a:p>
          <a:p>
            <a:pPr marL="0" indent="0">
              <a:lnSpc>
                <a:spcPts val="1150"/>
              </a:lnSpc>
              <a:buNone/>
            </a:pPr>
            <a:r>
              <a:rPr lang="en-US" sz="760">
                <a:solidFill>
                  <a:srgbClr val="334155"/>
                </a:solidFill>
                <a:latin typeface="Arial" pitchFamily="34" charset="0"/>
                <a:ea typeface="Arial" pitchFamily="34" charset="-122"/>
                <a:cs typeface="Arial" pitchFamily="34" charset="-120"/>
              </a:rPr>
              <a:t>  Rapporto di varianza (dispersione inter-cluster su intra-cluster). Premia cluster densi e compatti, favorendo partizioni più articolate (k ≥ 3).</a:t>
            </a:r>
            <a:endParaRPr lang="en-US" sz="760"/>
          </a:p>
        </p:txBody>
      </p:sp>
      <p:sp>
        <p:nvSpPr>
          <p:cNvPr id="8" name="Shape 6"/>
          <p:cNvSpPr/>
          <p:nvPr/>
        </p:nvSpPr>
        <p:spPr>
          <a:xfrm>
            <a:off x="4709160" y="1051560"/>
            <a:ext cx="3794760" cy="3611880"/>
          </a:xfrm>
          <a:prstGeom prst="roundRect">
            <a:avLst>
              <a:gd name="adj" fmla="val 2025"/>
            </a:avLst>
          </a:prstGeom>
          <a:solidFill>
            <a:srgbClr val="FFFFFF"/>
          </a:solidFill>
          <a:ln w="12700">
            <a:solidFill>
              <a:srgbClr val="CBD5E1"/>
            </a:solidFill>
            <a:prstDash val="solid"/>
          </a:ln>
        </p:spPr>
        <p:txBody>
          <a:bodyPr/>
          <a:lstStyle/>
          <a:p>
            <a:endParaRPr lang="it-IT"/>
          </a:p>
        </p:txBody>
      </p:sp>
      <p:sp>
        <p:nvSpPr>
          <p:cNvPr id="9" name="Text 7"/>
          <p:cNvSpPr txBox="1"/>
          <p:nvPr/>
        </p:nvSpPr>
        <p:spPr>
          <a:xfrm>
            <a:off x="4892040" y="1234440"/>
            <a:ext cx="3429000" cy="182880"/>
          </a:xfrm>
          <a:prstGeom prst="rect">
            <a:avLst/>
          </a:prstGeom>
          <a:noFill/>
          <a:ln/>
        </p:spPr>
        <p:txBody>
          <a:bodyPr wrap="square" lIns="0" tIns="0" rIns="0" bIns="0" rtlCol="0" anchor="ctr"/>
          <a:lstStyle/>
          <a:p>
            <a:pPr marL="0" indent="0">
              <a:buNone/>
            </a:pPr>
            <a:r>
              <a:rPr lang="en-US" sz="800" b="1">
                <a:solidFill>
                  <a:srgbClr val="059669"/>
                </a:solidFill>
                <a:latin typeface="Arial" pitchFamily="34" charset="0"/>
                <a:ea typeface="Arial" pitchFamily="34" charset="-122"/>
                <a:cs typeface="Arial" pitchFamily="34" charset="-120"/>
              </a:rPr>
              <a:t>BENCHMARK EMPIRICO SUI 5 DATASET</a:t>
            </a:r>
            <a:endParaRPr lang="en-US" sz="800"/>
          </a:p>
        </p:txBody>
      </p:sp>
      <p:sp>
        <p:nvSpPr>
          <p:cNvPr id="10" name="Text 8"/>
          <p:cNvSpPr txBox="1"/>
          <p:nvPr/>
        </p:nvSpPr>
        <p:spPr>
          <a:xfrm>
            <a:off x="4892040" y="1438910"/>
            <a:ext cx="3429000" cy="256032"/>
          </a:xfrm>
          <a:prstGeom prst="rect">
            <a:avLst/>
          </a:prstGeom>
          <a:noFill/>
          <a:ln/>
        </p:spPr>
        <p:txBody>
          <a:bodyPr wrap="square" lIns="0" tIns="0" rIns="0" bIns="0" rtlCol="0" anchor="ctr"/>
          <a:lstStyle/>
          <a:p>
            <a:pPr marL="0" indent="0">
              <a:buNone/>
            </a:pPr>
            <a:r>
              <a:rPr lang="en-US" sz="1250" b="1">
                <a:solidFill>
                  <a:srgbClr val="0F2744"/>
                </a:solidFill>
                <a:latin typeface="Arial" pitchFamily="34" charset="0"/>
                <a:ea typeface="Arial" pitchFamily="34" charset="-122"/>
                <a:cs typeface="Arial" pitchFamily="34" charset="-120"/>
              </a:rPr>
              <a:t>K </a:t>
            </a:r>
            <a:r>
              <a:rPr lang="en-US" sz="1250" b="1" err="1">
                <a:solidFill>
                  <a:srgbClr val="0F2744"/>
                </a:solidFill>
                <a:latin typeface="Arial" pitchFamily="34" charset="0"/>
                <a:ea typeface="Arial" pitchFamily="34" charset="-122"/>
                <a:cs typeface="Arial" pitchFamily="34" charset="-120"/>
              </a:rPr>
              <a:t>Scelto</a:t>
            </a:r>
            <a:r>
              <a:rPr lang="en-US" sz="1250" b="1">
                <a:solidFill>
                  <a:srgbClr val="0F2744"/>
                </a:solidFill>
                <a:latin typeface="Arial" pitchFamily="34" charset="0"/>
                <a:ea typeface="Arial" pitchFamily="34" charset="-122"/>
                <a:cs typeface="Arial" pitchFamily="34" charset="-120"/>
              </a:rPr>
              <a:t> </a:t>
            </a:r>
            <a:r>
              <a:rPr lang="en-US" sz="1250" b="1" err="1">
                <a:solidFill>
                  <a:srgbClr val="0F2744"/>
                </a:solidFill>
                <a:latin typeface="Arial" pitchFamily="34" charset="0"/>
                <a:ea typeface="Arial" pitchFamily="34" charset="-122"/>
                <a:cs typeface="Arial" pitchFamily="34" charset="-120"/>
              </a:rPr>
              <a:t>dai</a:t>
            </a:r>
            <a:r>
              <a:rPr lang="en-US" sz="1250" b="1">
                <a:solidFill>
                  <a:srgbClr val="0F2744"/>
                </a:solidFill>
                <a:latin typeface="Arial" pitchFamily="34" charset="0"/>
                <a:ea typeface="Arial" pitchFamily="34" charset="-122"/>
                <a:cs typeface="Arial" pitchFamily="34" charset="-120"/>
              </a:rPr>
              <a:t> </a:t>
            </a:r>
            <a:r>
              <a:rPr lang="en-US" sz="1250" b="1" err="1">
                <a:solidFill>
                  <a:srgbClr val="0F2744"/>
                </a:solidFill>
                <a:latin typeface="Arial" pitchFamily="34" charset="0"/>
                <a:ea typeface="Arial" pitchFamily="34" charset="-122"/>
                <a:cs typeface="Arial" pitchFamily="34" charset="-120"/>
              </a:rPr>
              <a:t>Singoli</a:t>
            </a:r>
            <a:r>
              <a:rPr lang="en-US" sz="1250" b="1">
                <a:solidFill>
                  <a:srgbClr val="0F2744"/>
                </a:solidFill>
                <a:latin typeface="Arial" pitchFamily="34" charset="0"/>
                <a:ea typeface="Arial" pitchFamily="34" charset="-122"/>
                <a:cs typeface="Arial" pitchFamily="34" charset="-120"/>
              </a:rPr>
              <a:t> </a:t>
            </a:r>
            <a:r>
              <a:rPr lang="en-US" sz="1250" b="1" err="1">
                <a:solidFill>
                  <a:srgbClr val="0F2744"/>
                </a:solidFill>
                <a:latin typeface="Arial" pitchFamily="34" charset="0"/>
                <a:ea typeface="Arial" pitchFamily="34" charset="-122"/>
                <a:cs typeface="Arial" pitchFamily="34" charset="-120"/>
              </a:rPr>
              <a:t>Indici</a:t>
            </a:r>
            <a:r>
              <a:rPr lang="en-US" sz="1250" b="1">
                <a:solidFill>
                  <a:srgbClr val="0F2744"/>
                </a:solidFill>
                <a:latin typeface="Arial" pitchFamily="34" charset="0"/>
                <a:ea typeface="Arial" pitchFamily="34" charset="-122"/>
                <a:cs typeface="Arial" pitchFamily="34" charset="-120"/>
              </a:rPr>
              <a:t> vs </a:t>
            </a:r>
            <a:r>
              <a:rPr lang="en-US" sz="1250" b="1" err="1">
                <a:solidFill>
                  <a:srgbClr val="0F2744"/>
                </a:solidFill>
                <a:latin typeface="Arial" pitchFamily="34" charset="0"/>
                <a:ea typeface="Arial" pitchFamily="34" charset="-122"/>
                <a:cs typeface="Arial" pitchFamily="34" charset="-120"/>
              </a:rPr>
              <a:t>MedAE</a:t>
            </a:r>
            <a:r>
              <a:rPr lang="en-US" sz="1250" b="1">
                <a:solidFill>
                  <a:srgbClr val="0F2744"/>
                </a:solidFill>
                <a:latin typeface="Arial" pitchFamily="34" charset="0"/>
                <a:ea typeface="Arial" pitchFamily="34" charset="-122"/>
                <a:cs typeface="Arial" pitchFamily="34" charset="-120"/>
              </a:rPr>
              <a:t> Minima</a:t>
            </a:r>
            <a:endParaRPr lang="en-US" sz="1250"/>
          </a:p>
        </p:txBody>
      </p:sp>
      <p:graphicFrame>
        <p:nvGraphicFramePr>
          <p:cNvPr id="11" name="Table 0"/>
          <p:cNvGraphicFramePr>
            <a:graphicFrameLocks noGrp="1"/>
          </p:cNvGraphicFramePr>
          <p:nvPr>
            <p:extLst>
              <p:ext uri="{D42A27DB-BD31-4B8C-83A1-F6EECF244321}">
                <p14:modId xmlns:p14="http://schemas.microsoft.com/office/powerpoint/2010/main" val="1247204122"/>
              </p:ext>
            </p:extLst>
          </p:nvPr>
        </p:nvGraphicFramePr>
        <p:xfrm>
          <a:off x="4800600" y="1786128"/>
          <a:ext cx="3547872" cy="1207008"/>
        </p:xfrm>
        <a:graphic>
          <a:graphicData uri="http://schemas.openxmlformats.org/drawingml/2006/table">
            <a:tbl>
              <a:tblPr/>
              <a:tblGrid>
                <a:gridCol w="777240">
                  <a:extLst>
                    <a:ext uri="{9D8B030D-6E8A-4147-A177-3AD203B41FA5}">
                      <a16:colId xmlns:a16="http://schemas.microsoft.com/office/drawing/2014/main" val="20000"/>
                    </a:ext>
                  </a:extLst>
                </a:gridCol>
                <a:gridCol w="438912">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tblGrid>
              <a:tr h="201168">
                <a:tc>
                  <a:txBody>
                    <a:bodyPr/>
                    <a:lstStyle/>
                    <a:p>
                      <a:pPr marL="0" indent="0" algn="ctr">
                        <a:buNone/>
                      </a:pPr>
                      <a:r>
                        <a:rPr lang="en-US" sz="680" b="1">
                          <a:solidFill>
                            <a:srgbClr val="FFFFFF"/>
                          </a:solidFill>
                        </a:rPr>
                        <a:t>Dataset</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680" b="1">
                          <a:solidFill>
                            <a:srgbClr val="FFFFFF"/>
                          </a:solidFill>
                        </a:rPr>
                        <a:t>k (XB)</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680" b="1">
                          <a:solidFill>
                            <a:srgbClr val="FFFFFF"/>
                          </a:solidFill>
                        </a:rPr>
                        <a:t>k (Silh)</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680" b="1">
                          <a:solidFill>
                            <a:srgbClr val="FFFFFF"/>
                          </a:solidFill>
                        </a:rPr>
                        <a:t>k (DB)</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680" b="1">
                          <a:solidFill>
                            <a:srgbClr val="FFFFFF"/>
                          </a:solidFill>
                        </a:rPr>
                        <a:t>k (CH)</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680" b="1">
                          <a:solidFill>
                            <a:srgbClr val="FFFFFF"/>
                          </a:solidFill>
                        </a:rPr>
                        <a:t>k Min MedAE</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extLst>
                  <a:ext uri="{0D108BD9-81ED-4DB2-BD59-A6C34878D82A}">
                    <a16:rowId xmlns:a16="http://schemas.microsoft.com/office/drawing/2014/main" val="10000"/>
                  </a:ext>
                </a:extLst>
              </a:tr>
              <a:tr h="201168">
                <a:tc>
                  <a:txBody>
                    <a:bodyPr/>
                    <a:lstStyle/>
                    <a:p>
                      <a:pPr marL="0" indent="0" algn="ctr">
                        <a:buNone/>
                      </a:pPr>
                      <a:r>
                        <a:rPr lang="en-US" sz="680" b="1">
                          <a:solidFill>
                            <a:srgbClr val="000000"/>
                          </a:solidFill>
                        </a:rPr>
                        <a:t>China</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b="1">
                          <a:solidFill>
                            <a:srgbClr val="2563EB"/>
                          </a:solidFill>
                        </a:rPr>
                        <a:t>k = 5 (117 h)*</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01168">
                <a:tc>
                  <a:txBody>
                    <a:bodyPr/>
                    <a:lstStyle/>
                    <a:p>
                      <a:pPr marL="0" indent="0" algn="ctr">
                        <a:buNone/>
                      </a:pPr>
                      <a:r>
                        <a:rPr lang="en-US" sz="680" b="1">
                          <a:solidFill>
                            <a:srgbClr val="000000"/>
                          </a:solidFill>
                        </a:rPr>
                        <a:t>COCOMO-81</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b="1">
                          <a:solidFill>
                            <a:srgbClr val="059669"/>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indent="0" algn="ctr">
                        <a:buNone/>
                      </a:pPr>
                      <a:r>
                        <a:rPr lang="en-US" sz="680">
                          <a:solidFill>
                            <a:srgbClr val="000000"/>
                          </a:solidFill>
                        </a:rPr>
                        <a:t>k = 4</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b="1">
                          <a:solidFill>
                            <a:srgbClr val="059669"/>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indent="0" algn="ctr">
                        <a:buNone/>
                      </a:pPr>
                      <a:r>
                        <a:rPr lang="en-US" sz="680" b="1">
                          <a:solidFill>
                            <a:srgbClr val="000000"/>
                          </a:solidFill>
                        </a:rPr>
                        <a:t>k = 2 (125 m)</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201168">
                <a:tc>
                  <a:txBody>
                    <a:bodyPr/>
                    <a:lstStyle/>
                    <a:p>
                      <a:pPr marL="0" indent="0" algn="ctr">
                        <a:buNone/>
                      </a:pPr>
                      <a:r>
                        <a:rPr lang="en-US" sz="680" b="1">
                          <a:solidFill>
                            <a:srgbClr val="000000"/>
                          </a:solidFill>
                        </a:rPr>
                        <a:t>Albrecht</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b="1">
                          <a:solidFill>
                            <a:srgbClr val="059669"/>
                          </a:solidFill>
                        </a:rPr>
                        <a:t>k = 3</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indent="0" algn="ctr">
                        <a:buNone/>
                      </a:pPr>
                      <a:r>
                        <a:rPr lang="en-US" sz="680" b="1">
                          <a:solidFill>
                            <a:srgbClr val="000000"/>
                          </a:solidFill>
                        </a:rPr>
                        <a:t>k = 3 (3.6 m)</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201168">
                <a:tc>
                  <a:txBody>
                    <a:bodyPr/>
                    <a:lstStyle/>
                    <a:p>
                      <a:pPr marL="0" indent="0" algn="ctr">
                        <a:buNone/>
                      </a:pPr>
                      <a:r>
                        <a:rPr lang="en-US" sz="680" b="1">
                          <a:solidFill>
                            <a:srgbClr val="000000"/>
                          </a:solidFill>
                        </a:rPr>
                        <a:t>Desharnais</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b="1">
                          <a:solidFill>
                            <a:srgbClr val="059669"/>
                          </a:solidFill>
                        </a:rPr>
                        <a:t>k = 3</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b="1">
                          <a:solidFill>
                            <a:srgbClr val="059669"/>
                          </a:solidFill>
                        </a:rPr>
                        <a:t>k = 3</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b="1">
                          <a:solidFill>
                            <a:srgbClr val="000000"/>
                          </a:solidFill>
                        </a:rPr>
                        <a:t>k = 3 (1434 h)</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201168">
                <a:tc>
                  <a:txBody>
                    <a:bodyPr/>
                    <a:lstStyle/>
                    <a:p>
                      <a:pPr marL="0" indent="0" algn="ctr">
                        <a:buNone/>
                      </a:pPr>
                      <a:r>
                        <a:rPr lang="en-US" sz="680" b="1">
                          <a:solidFill>
                            <a:srgbClr val="000000"/>
                          </a:solidFill>
                        </a:rPr>
                        <a:t>Maxwell</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6</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a:solidFill>
                            <a:srgbClr val="000000"/>
                          </a:solidFill>
                        </a:rPr>
                        <a:t>k = 2</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680" b="1">
                          <a:solidFill>
                            <a:srgbClr val="2563EB"/>
                          </a:solidFill>
                        </a:rPr>
                        <a:t>k = 4 (2468 h)</a:t>
                      </a:r>
                      <a:endParaRPr lang="en-US" sz="6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Shape 9"/>
          <p:cNvSpPr/>
          <p:nvPr/>
        </p:nvSpPr>
        <p:spPr>
          <a:xfrm>
            <a:off x="4800600" y="3158744"/>
            <a:ext cx="3547872" cy="1344168"/>
          </a:xfrm>
          <a:prstGeom prst="roundRect">
            <a:avLst>
              <a:gd name="adj" fmla="val 3529"/>
            </a:avLst>
          </a:prstGeom>
          <a:solidFill>
            <a:srgbClr val="F5F3FF"/>
          </a:solidFill>
          <a:ln w="10160">
            <a:solidFill>
              <a:srgbClr val="DDD6FE"/>
            </a:solidFill>
            <a:prstDash val="solid"/>
          </a:ln>
        </p:spPr>
        <p:txBody>
          <a:bodyPr/>
          <a:lstStyle/>
          <a:p>
            <a:endParaRPr lang="it-IT"/>
          </a:p>
        </p:txBody>
      </p:sp>
      <p:sp>
        <p:nvSpPr>
          <p:cNvPr id="13" name="Text 10"/>
          <p:cNvSpPr txBox="1"/>
          <p:nvPr/>
        </p:nvSpPr>
        <p:spPr>
          <a:xfrm>
            <a:off x="4892040" y="3230626"/>
            <a:ext cx="3364992" cy="164592"/>
          </a:xfrm>
          <a:prstGeom prst="rect">
            <a:avLst/>
          </a:prstGeom>
          <a:noFill/>
          <a:ln/>
        </p:spPr>
        <p:txBody>
          <a:bodyPr wrap="square" lIns="0" tIns="0" rIns="0" bIns="0" rtlCol="0" anchor="ctr"/>
          <a:lstStyle/>
          <a:p>
            <a:pPr marL="0" indent="0">
              <a:buNone/>
            </a:pPr>
            <a:r>
              <a:rPr lang="en-US" sz="720" b="1">
                <a:solidFill>
                  <a:srgbClr val="7C3AED"/>
                </a:solidFill>
                <a:latin typeface="Arial" pitchFamily="34" charset="0"/>
                <a:ea typeface="Arial" pitchFamily="34" charset="-122"/>
                <a:cs typeface="Arial" pitchFamily="34" charset="-120"/>
              </a:rPr>
              <a:t>EVIDENZA EMPIRICA: LA GEOMETRIA PURA NON BASTA</a:t>
            </a:r>
            <a:endParaRPr lang="en-US" sz="720"/>
          </a:p>
        </p:txBody>
      </p:sp>
      <p:sp>
        <p:nvSpPr>
          <p:cNvPr id="14" name="Text 11"/>
          <p:cNvSpPr txBox="1"/>
          <p:nvPr/>
        </p:nvSpPr>
        <p:spPr>
          <a:xfrm>
            <a:off x="4892040" y="3479800"/>
            <a:ext cx="3364992" cy="924560"/>
          </a:xfrm>
          <a:prstGeom prst="rect">
            <a:avLst/>
          </a:prstGeom>
          <a:noFill/>
          <a:ln/>
        </p:spPr>
        <p:txBody>
          <a:bodyPr wrap="square" lIns="0" tIns="0" rIns="0" bIns="0" rtlCol="0" anchor="t"/>
          <a:lstStyle/>
          <a:p>
            <a:pPr marL="0" indent="0">
              <a:lnSpc>
                <a:spcPts val="1100"/>
              </a:lnSpc>
              <a:buNone/>
            </a:pPr>
            <a:r>
              <a:rPr lang="en-US" sz="740">
                <a:solidFill>
                  <a:srgbClr val="0F2744"/>
                </a:solidFill>
                <a:latin typeface="Arial" pitchFamily="34" charset="0"/>
                <a:ea typeface="Arial" pitchFamily="34" charset="-122"/>
                <a:cs typeface="Arial" pitchFamily="34" charset="-120"/>
              </a:rPr>
              <a:t>• In </a:t>
            </a:r>
            <a:r>
              <a:rPr lang="en-US" sz="740" err="1">
                <a:solidFill>
                  <a:srgbClr val="0F2744"/>
                </a:solidFill>
                <a:latin typeface="Arial" pitchFamily="34" charset="0"/>
                <a:ea typeface="Arial" pitchFamily="34" charset="-122"/>
                <a:cs typeface="Arial" pitchFamily="34" charset="-120"/>
              </a:rPr>
              <a:t>verde</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sono</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evidenziati</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gli</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indici</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che</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hanno</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individuato</a:t>
            </a:r>
            <a:r>
              <a:rPr lang="en-US" sz="740">
                <a:solidFill>
                  <a:srgbClr val="0F2744"/>
                </a:solidFill>
                <a:latin typeface="Arial" pitchFamily="34" charset="0"/>
                <a:ea typeface="Arial" pitchFamily="34" charset="-122"/>
                <a:cs typeface="Arial" pitchFamily="34" charset="-120"/>
              </a:rPr>
              <a:t> il k a </a:t>
            </a:r>
            <a:r>
              <a:rPr lang="en-US" sz="740" err="1">
                <a:solidFill>
                  <a:srgbClr val="0F2744"/>
                </a:solidFill>
                <a:latin typeface="Arial" pitchFamily="34" charset="0"/>
                <a:ea typeface="Arial" pitchFamily="34" charset="-122"/>
                <a:cs typeface="Arial" pitchFamily="34" charset="-120"/>
              </a:rPr>
              <a:t>MedAE</a:t>
            </a:r>
            <a:r>
              <a:rPr lang="en-US" sz="740">
                <a:solidFill>
                  <a:srgbClr val="0F2744"/>
                </a:solidFill>
                <a:latin typeface="Arial" pitchFamily="34" charset="0"/>
                <a:ea typeface="Arial" pitchFamily="34" charset="-122"/>
                <a:cs typeface="Arial" pitchFamily="34" charset="-120"/>
              </a:rPr>
              <a:t> minima: </a:t>
            </a:r>
            <a:r>
              <a:rPr lang="en-US" sz="740" err="1">
                <a:solidFill>
                  <a:srgbClr val="0F2744"/>
                </a:solidFill>
                <a:latin typeface="Arial" pitchFamily="34" charset="0"/>
                <a:ea typeface="Arial" pitchFamily="34" charset="-122"/>
                <a:cs typeface="Arial" pitchFamily="34" charset="-120"/>
              </a:rPr>
              <a:t>Calinski-Harabasz</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su</a:t>
            </a:r>
            <a:r>
              <a:rPr lang="en-US" sz="740">
                <a:solidFill>
                  <a:srgbClr val="0F2744"/>
                </a:solidFill>
                <a:latin typeface="Arial" pitchFamily="34" charset="0"/>
                <a:ea typeface="Arial" pitchFamily="34" charset="-122"/>
                <a:cs typeface="Arial" pitchFamily="34" charset="-120"/>
              </a:rPr>
              <a:t> Albrecht (k=3), Silhouette e CH </a:t>
            </a:r>
            <a:r>
              <a:rPr lang="en-US" sz="740" err="1">
                <a:solidFill>
                  <a:srgbClr val="0F2744"/>
                </a:solidFill>
                <a:latin typeface="Arial" pitchFamily="34" charset="0"/>
                <a:ea typeface="Arial" pitchFamily="34" charset="-122"/>
                <a:cs typeface="Arial" pitchFamily="34" charset="-120"/>
              </a:rPr>
              <a:t>su</a:t>
            </a:r>
            <a:r>
              <a:rPr lang="en-US" sz="740">
                <a:solidFill>
                  <a:srgbClr val="0F2744"/>
                </a:solidFill>
                <a:latin typeface="Arial" pitchFamily="34" charset="0"/>
                <a:ea typeface="Arial" pitchFamily="34" charset="-122"/>
                <a:cs typeface="Arial" pitchFamily="34" charset="-120"/>
              </a:rPr>
              <a:t> COCOMO (k=2), DB e XB </a:t>
            </a:r>
            <a:r>
              <a:rPr lang="en-US" sz="740" err="1">
                <a:solidFill>
                  <a:srgbClr val="0F2744"/>
                </a:solidFill>
                <a:latin typeface="Arial" pitchFamily="34" charset="0"/>
                <a:ea typeface="Arial" pitchFamily="34" charset="-122"/>
                <a:cs typeface="Arial" pitchFamily="34" charset="-120"/>
              </a:rPr>
              <a:t>su</a:t>
            </a:r>
            <a:r>
              <a:rPr lang="en-US" sz="740">
                <a:solidFill>
                  <a:srgbClr val="0F2744"/>
                </a:solidFill>
                <a:latin typeface="Arial" pitchFamily="34" charset="0"/>
                <a:ea typeface="Arial" pitchFamily="34" charset="-122"/>
                <a:cs typeface="Arial" pitchFamily="34" charset="-120"/>
              </a:rPr>
              <a:t> Desharnais (k=3).</a:t>
            </a:r>
            <a:endParaRPr lang="en-US" sz="740"/>
          </a:p>
          <a:p>
            <a:pPr marL="0" indent="0">
              <a:lnSpc>
                <a:spcPts val="1100"/>
              </a:lnSpc>
              <a:buNone/>
            </a:pPr>
            <a:r>
              <a:rPr lang="en-US" sz="740">
                <a:solidFill>
                  <a:srgbClr val="0F2744"/>
                </a:solidFill>
                <a:latin typeface="Arial" pitchFamily="34" charset="0"/>
                <a:ea typeface="Arial" pitchFamily="34" charset="-122"/>
                <a:cs typeface="Arial" pitchFamily="34" charset="-120"/>
              </a:rPr>
              <a:t>• Su China e Maxwell la </a:t>
            </a:r>
            <a:r>
              <a:rPr lang="en-US" sz="740" err="1">
                <a:solidFill>
                  <a:srgbClr val="0F2744"/>
                </a:solidFill>
                <a:latin typeface="Arial" pitchFamily="34" charset="0"/>
                <a:ea typeface="Arial" pitchFamily="34" charset="-122"/>
                <a:cs typeface="Arial" pitchFamily="34" charset="-120"/>
              </a:rPr>
              <a:t>geometria</a:t>
            </a:r>
            <a:r>
              <a:rPr lang="en-US" sz="740">
                <a:solidFill>
                  <a:srgbClr val="0F2744"/>
                </a:solidFill>
                <a:latin typeface="Arial" pitchFamily="34" charset="0"/>
                <a:ea typeface="Arial" pitchFamily="34" charset="-122"/>
                <a:cs typeface="Arial" pitchFamily="34" charset="-120"/>
              </a:rPr>
              <a:t> pura </a:t>
            </a:r>
            <a:r>
              <a:rPr lang="en-US" sz="740" err="1">
                <a:solidFill>
                  <a:srgbClr val="0F2744"/>
                </a:solidFill>
                <a:latin typeface="Arial" pitchFamily="34" charset="0"/>
                <a:ea typeface="Arial" pitchFamily="34" charset="-122"/>
                <a:cs typeface="Arial" pitchFamily="34" charset="-120"/>
              </a:rPr>
              <a:t>privilegia</a:t>
            </a:r>
            <a:r>
              <a:rPr lang="en-US" sz="740">
                <a:solidFill>
                  <a:srgbClr val="0F2744"/>
                </a:solidFill>
                <a:latin typeface="Arial" pitchFamily="34" charset="0"/>
                <a:ea typeface="Arial" pitchFamily="34" charset="-122"/>
                <a:cs typeface="Arial" pitchFamily="34" charset="-120"/>
              </a:rPr>
              <a:t> k=2 (cluster </a:t>
            </a:r>
            <a:r>
              <a:rPr lang="en-US" sz="740" err="1">
                <a:solidFill>
                  <a:srgbClr val="0F2744"/>
                </a:solidFill>
                <a:latin typeface="Arial" pitchFamily="34" charset="0"/>
                <a:ea typeface="Arial" pitchFamily="34" charset="-122"/>
                <a:cs typeface="Arial" pitchFamily="34" charset="-120"/>
              </a:rPr>
              <a:t>grandi</a:t>
            </a:r>
            <a:r>
              <a:rPr lang="en-US" sz="740">
                <a:solidFill>
                  <a:srgbClr val="0F2744"/>
                </a:solidFill>
                <a:latin typeface="Arial" pitchFamily="34" charset="0"/>
                <a:ea typeface="Arial" pitchFamily="34" charset="-122"/>
                <a:cs typeface="Arial" pitchFamily="34" charset="-120"/>
              </a:rPr>
              <a:t>), ma la Conv2D </a:t>
            </a:r>
            <a:r>
              <a:rPr lang="en-US" sz="740" err="1">
                <a:solidFill>
                  <a:srgbClr val="0F2744"/>
                </a:solidFill>
                <a:latin typeface="Arial" pitchFamily="34" charset="0"/>
                <a:ea typeface="Arial" pitchFamily="34" charset="-122"/>
                <a:cs typeface="Arial" pitchFamily="34" charset="-120"/>
              </a:rPr>
              <a:t>richiede</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una</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matrice</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più</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larga</a:t>
            </a:r>
            <a:r>
              <a:rPr lang="en-US" sz="740">
                <a:solidFill>
                  <a:srgbClr val="0F2744"/>
                </a:solidFill>
                <a:latin typeface="Arial" pitchFamily="34" charset="0"/>
                <a:ea typeface="Arial" pitchFamily="34" charset="-122"/>
                <a:cs typeface="Arial" pitchFamily="34" charset="-120"/>
              </a:rPr>
              <a:t> (k=4..5) per </a:t>
            </a:r>
            <a:r>
              <a:rPr lang="en-US" sz="740" err="1">
                <a:solidFill>
                  <a:srgbClr val="0F2744"/>
                </a:solidFill>
                <a:latin typeface="Arial" pitchFamily="34" charset="0"/>
                <a:ea typeface="Arial" pitchFamily="34" charset="-122"/>
                <a:cs typeface="Arial" pitchFamily="34" charset="-120"/>
              </a:rPr>
              <a:t>estrarre</a:t>
            </a:r>
            <a:r>
              <a:rPr lang="en-US" sz="740">
                <a:solidFill>
                  <a:srgbClr val="0F2744"/>
                </a:solidFill>
                <a:latin typeface="Arial" pitchFamily="34" charset="0"/>
                <a:ea typeface="Arial" pitchFamily="34" charset="-122"/>
                <a:cs typeface="Arial" pitchFamily="34" charset="-120"/>
              </a:rPr>
              <a:t> pattern </a:t>
            </a:r>
            <a:r>
              <a:rPr lang="en-US" sz="740" err="1">
                <a:solidFill>
                  <a:srgbClr val="0F2744"/>
                </a:solidFill>
                <a:latin typeface="Arial" pitchFamily="34" charset="0"/>
                <a:ea typeface="Arial" pitchFamily="34" charset="-122"/>
                <a:cs typeface="Arial" pitchFamily="34" charset="-120"/>
              </a:rPr>
              <a:t>utili</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abbattendo</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l'errore</a:t>
            </a:r>
            <a:r>
              <a:rPr lang="en-US" sz="740">
                <a:solidFill>
                  <a:srgbClr val="0F2744"/>
                </a:solidFill>
                <a:latin typeface="Arial" pitchFamily="34" charset="0"/>
                <a:ea typeface="Arial" pitchFamily="34" charset="-122"/>
                <a:cs typeface="Arial" pitchFamily="34" charset="-120"/>
              </a:rPr>
              <a:t> </a:t>
            </a:r>
            <a:r>
              <a:rPr lang="en-US" sz="740" err="1">
                <a:solidFill>
                  <a:srgbClr val="0F2744"/>
                </a:solidFill>
                <a:latin typeface="Arial" pitchFamily="34" charset="0"/>
                <a:ea typeface="Arial" pitchFamily="34" charset="-122"/>
                <a:cs typeface="Arial" pitchFamily="34" charset="-120"/>
              </a:rPr>
              <a:t>reale</a:t>
            </a:r>
            <a:r>
              <a:rPr lang="en-US" sz="740">
                <a:solidFill>
                  <a:srgbClr val="0F2744"/>
                </a:solidFill>
                <a:latin typeface="Arial" pitchFamily="34" charset="0"/>
                <a:ea typeface="Arial" pitchFamily="34" charset="-122"/>
                <a:cs typeface="Arial" pitchFamily="34" charset="-120"/>
              </a:rPr>
              <a:t> a 117 ore (*con tuning SOTA).</a:t>
            </a:r>
          </a:p>
          <a:p>
            <a:pPr marL="0" indent="0">
              <a:lnSpc>
                <a:spcPts val="1100"/>
              </a:lnSpc>
              <a:buNone/>
            </a:pPr>
            <a:endParaRPr lang="en-US" sz="74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IL NOSTRO CONTRIBUTO · FASE 2</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err="1">
                <a:solidFill>
                  <a:srgbClr val="0F2744"/>
                </a:solidFill>
                <a:latin typeface="Arial" pitchFamily="34" charset="0"/>
                <a:ea typeface="Arial" pitchFamily="34" charset="-122"/>
                <a:cs typeface="Arial" pitchFamily="34" charset="-120"/>
              </a:rPr>
              <a:t>Ottimizzazione</a:t>
            </a:r>
            <a:r>
              <a:rPr lang="en-US" sz="1850" b="1">
                <a:solidFill>
                  <a:srgbClr val="0F2744"/>
                </a:solidFill>
                <a:latin typeface="Arial" pitchFamily="34" charset="0"/>
                <a:ea typeface="Arial" pitchFamily="34" charset="-122"/>
                <a:cs typeface="Arial" pitchFamily="34" charset="-120"/>
              </a:rPr>
              <a:t> della Rete: Dead Neurons e </a:t>
            </a:r>
            <a:r>
              <a:rPr lang="en-US" sz="1850" b="1" err="1">
                <a:solidFill>
                  <a:srgbClr val="0F2744"/>
                </a:solidFill>
                <a:latin typeface="Arial" pitchFamily="34" charset="0"/>
                <a:ea typeface="Arial" pitchFamily="34" charset="-122"/>
                <a:cs typeface="Arial" pitchFamily="34" charset="-120"/>
              </a:rPr>
              <a:t>Iperparametri</a:t>
            </a:r>
            <a:endParaRPr lang="en-US" sz="1850"/>
          </a:p>
        </p:txBody>
      </p:sp>
      <p:sp>
        <p:nvSpPr>
          <p:cNvPr id="4" name="Shape 2"/>
          <p:cNvSpPr/>
          <p:nvPr/>
        </p:nvSpPr>
        <p:spPr>
          <a:xfrm>
            <a:off x="731520" y="1051560"/>
            <a:ext cx="3703320" cy="3566160"/>
          </a:xfrm>
          <a:prstGeom prst="roundRect">
            <a:avLst>
              <a:gd name="adj" fmla="val 2051"/>
            </a:avLst>
          </a:prstGeom>
          <a:solidFill>
            <a:srgbClr val="FFFFFF"/>
          </a:solidFill>
          <a:ln w="12700">
            <a:solidFill>
              <a:srgbClr val="CBD5E1"/>
            </a:solidFill>
            <a:prstDash val="solid"/>
          </a:ln>
        </p:spPr>
        <p:txBody>
          <a:bodyPr/>
          <a:lstStyle/>
          <a:p>
            <a:endParaRPr lang="it-IT"/>
          </a:p>
        </p:txBody>
      </p:sp>
      <p:sp>
        <p:nvSpPr>
          <p:cNvPr id="5" name="Text 3"/>
          <p:cNvSpPr txBox="1"/>
          <p:nvPr/>
        </p:nvSpPr>
        <p:spPr>
          <a:xfrm>
            <a:off x="914400" y="1234440"/>
            <a:ext cx="3337560" cy="182880"/>
          </a:xfrm>
          <a:prstGeom prst="rect">
            <a:avLst/>
          </a:prstGeom>
          <a:noFill/>
          <a:ln/>
        </p:spPr>
        <p:txBody>
          <a:bodyPr wrap="square" lIns="0" tIns="0" rIns="0" bIns="0" rtlCol="0" anchor="ctr"/>
          <a:lstStyle/>
          <a:p>
            <a:pPr marL="0" indent="0">
              <a:buNone/>
            </a:pPr>
            <a:r>
              <a:rPr lang="en-US" sz="800" b="1">
                <a:solidFill>
                  <a:srgbClr val="059669"/>
                </a:solidFill>
                <a:latin typeface="Arial" pitchFamily="34" charset="0"/>
                <a:ea typeface="Arial" pitchFamily="34" charset="-122"/>
                <a:cs typeface="Arial" pitchFamily="34" charset="-120"/>
              </a:rPr>
              <a:t>TEST 2: ELIMINAZIONE DEI DEAD NEURONS</a:t>
            </a:r>
            <a:endParaRPr lang="en-US" sz="800"/>
          </a:p>
        </p:txBody>
      </p:sp>
      <p:sp>
        <p:nvSpPr>
          <p:cNvPr id="6" name="Text 4"/>
          <p:cNvSpPr txBox="1"/>
          <p:nvPr/>
        </p:nvSpPr>
        <p:spPr>
          <a:xfrm>
            <a:off x="914400" y="1444752"/>
            <a:ext cx="3337560" cy="256032"/>
          </a:xfrm>
          <a:prstGeom prst="rect">
            <a:avLst/>
          </a:prstGeom>
          <a:noFill/>
          <a:ln/>
        </p:spPr>
        <p:txBody>
          <a:bodyPr wrap="square" lIns="0" tIns="0" rIns="0" bIns="0" rtlCol="0" anchor="ctr"/>
          <a:lstStyle/>
          <a:p>
            <a:pPr marL="0" indent="0">
              <a:buNone/>
            </a:pPr>
            <a:r>
              <a:rPr lang="en-US" sz="1250" b="1">
                <a:solidFill>
                  <a:srgbClr val="0F2744"/>
                </a:solidFill>
                <a:latin typeface="Arial" pitchFamily="34" charset="0"/>
                <a:ea typeface="Arial" pitchFamily="34" charset="-122"/>
                <a:cs typeface="Arial" pitchFamily="34" charset="-120"/>
              </a:rPr>
              <a:t>Test di diverse </a:t>
            </a:r>
            <a:r>
              <a:rPr lang="en-US" sz="1250" b="1" err="1">
                <a:solidFill>
                  <a:srgbClr val="0F2744"/>
                </a:solidFill>
                <a:latin typeface="Arial" pitchFamily="34" charset="0"/>
                <a:ea typeface="Arial" pitchFamily="34" charset="-122"/>
                <a:cs typeface="Arial" pitchFamily="34" charset="-120"/>
              </a:rPr>
              <a:t>funzioni</a:t>
            </a:r>
            <a:r>
              <a:rPr lang="en-US" sz="1250" b="1">
                <a:solidFill>
                  <a:srgbClr val="0F2744"/>
                </a:solidFill>
                <a:latin typeface="Arial" pitchFamily="34" charset="0"/>
                <a:ea typeface="Arial" pitchFamily="34" charset="-122"/>
                <a:cs typeface="Arial" pitchFamily="34" charset="-120"/>
              </a:rPr>
              <a:t> di output</a:t>
            </a:r>
            <a:endParaRPr lang="en-US" sz="1250"/>
          </a:p>
        </p:txBody>
      </p:sp>
      <p:sp>
        <p:nvSpPr>
          <p:cNvPr id="7" name="Text 5"/>
          <p:cNvSpPr txBox="1"/>
          <p:nvPr/>
        </p:nvSpPr>
        <p:spPr>
          <a:xfrm>
            <a:off x="914400" y="1737360"/>
            <a:ext cx="3337560" cy="502920"/>
          </a:xfrm>
          <a:prstGeom prst="rect">
            <a:avLst/>
          </a:prstGeom>
          <a:noFill/>
          <a:ln/>
        </p:spPr>
        <p:txBody>
          <a:bodyPr wrap="square" lIns="0" tIns="0" rIns="0" bIns="0" rtlCol="0" anchor="ctr"/>
          <a:lstStyle/>
          <a:p>
            <a:pPr marL="0" indent="0">
              <a:lnSpc>
                <a:spcPts val="1150"/>
              </a:lnSpc>
              <a:buNone/>
            </a:pPr>
            <a:r>
              <a:rPr lang="en-US" sz="820" err="1">
                <a:solidFill>
                  <a:srgbClr val="334155"/>
                </a:solidFill>
                <a:latin typeface="Arial" pitchFamily="34" charset="0"/>
                <a:ea typeface="Arial" pitchFamily="34" charset="-122"/>
                <a:cs typeface="Arial" pitchFamily="34" charset="-120"/>
              </a:rPr>
              <a:t>Rimuovere</a:t>
            </a:r>
            <a:r>
              <a:rPr lang="en-US" sz="820">
                <a:solidFill>
                  <a:srgbClr val="334155"/>
                </a:solidFill>
                <a:latin typeface="Arial" pitchFamily="34" charset="0"/>
                <a:ea typeface="Arial" pitchFamily="34" charset="-122"/>
                <a:cs typeface="Arial" pitchFamily="34" charset="-120"/>
              </a:rPr>
              <a:t> il </a:t>
            </a:r>
            <a:r>
              <a:rPr lang="en-US" sz="820" err="1">
                <a:solidFill>
                  <a:srgbClr val="334155"/>
                </a:solidFill>
                <a:latin typeface="Arial" pitchFamily="34" charset="0"/>
                <a:ea typeface="Arial" pitchFamily="34" charset="-122"/>
                <a:cs typeface="Arial" pitchFamily="34" charset="-120"/>
              </a:rPr>
              <a:t>vincolo</a:t>
            </a:r>
            <a:r>
              <a:rPr lang="en-US" sz="820">
                <a:solidFill>
                  <a:srgbClr val="334155"/>
                </a:solidFill>
                <a:latin typeface="Arial" pitchFamily="34" charset="0"/>
                <a:ea typeface="Arial" pitchFamily="34" charset="-122"/>
                <a:cs typeface="Arial" pitchFamily="34" charset="-120"/>
              </a:rPr>
              <a:t> di non-</a:t>
            </a:r>
            <a:r>
              <a:rPr lang="en-US" sz="820" err="1">
                <a:solidFill>
                  <a:srgbClr val="334155"/>
                </a:solidFill>
                <a:latin typeface="Arial" pitchFamily="34" charset="0"/>
                <a:ea typeface="Arial" pitchFamily="34" charset="-122"/>
                <a:cs typeface="Arial" pitchFamily="34" charset="-120"/>
              </a:rPr>
              <a:t>negatività</a:t>
            </a:r>
            <a:r>
              <a:rPr lang="en-US" sz="820">
                <a:solidFill>
                  <a:srgbClr val="334155"/>
                </a:solidFill>
                <a:latin typeface="Arial" pitchFamily="34" charset="0"/>
                <a:ea typeface="Arial" pitchFamily="34" charset="-122"/>
                <a:cs typeface="Arial" pitchFamily="34" charset="-120"/>
              </a:rPr>
              <a:t> </a:t>
            </a:r>
            <a:r>
              <a:rPr lang="en-US" sz="820" err="1">
                <a:solidFill>
                  <a:srgbClr val="334155"/>
                </a:solidFill>
                <a:latin typeface="Arial" pitchFamily="34" charset="0"/>
                <a:ea typeface="Arial" pitchFamily="34" charset="-122"/>
                <a:cs typeface="Arial" pitchFamily="34" charset="-120"/>
              </a:rPr>
              <a:t>dei</a:t>
            </a:r>
            <a:r>
              <a:rPr lang="en-US" sz="820">
                <a:solidFill>
                  <a:srgbClr val="334155"/>
                </a:solidFill>
                <a:latin typeface="Arial" pitchFamily="34" charset="0"/>
                <a:ea typeface="Arial" pitchFamily="34" charset="-122"/>
                <a:cs typeface="Arial" pitchFamily="34" charset="-120"/>
              </a:rPr>
              <a:t> gradient </a:t>
            </a:r>
            <a:r>
              <a:rPr lang="en-US" sz="820" err="1">
                <a:solidFill>
                  <a:srgbClr val="334155"/>
                </a:solidFill>
                <a:latin typeface="Arial" pitchFamily="34" charset="0"/>
                <a:ea typeface="Arial" pitchFamily="34" charset="-122"/>
                <a:cs typeface="Arial" pitchFamily="34" charset="-120"/>
              </a:rPr>
              <a:t>dall'addestramento</a:t>
            </a:r>
            <a:r>
              <a:rPr lang="en-US" sz="820">
                <a:solidFill>
                  <a:srgbClr val="334155"/>
                </a:solidFill>
                <a:latin typeface="Arial" pitchFamily="34" charset="0"/>
                <a:ea typeface="Arial" pitchFamily="34" charset="-122"/>
                <a:cs typeface="Arial" pitchFamily="34" charset="-120"/>
              </a:rPr>
              <a:t> della rete. Lasciando passare liberamente i gradienti negativi, e </a:t>
            </a:r>
            <a:r>
              <a:rPr lang="en-US" sz="820" err="1">
                <a:solidFill>
                  <a:srgbClr val="334155"/>
                </a:solidFill>
                <a:latin typeface="Arial" pitchFamily="34" charset="0"/>
                <a:ea typeface="Arial" pitchFamily="34" charset="-122"/>
                <a:cs typeface="Arial" pitchFamily="34" charset="-120"/>
              </a:rPr>
              <a:t>cercare</a:t>
            </a:r>
            <a:r>
              <a:rPr lang="en-US" sz="820">
                <a:solidFill>
                  <a:srgbClr val="334155"/>
                </a:solidFill>
                <a:latin typeface="Arial" pitchFamily="34" charset="0"/>
                <a:ea typeface="Arial" pitchFamily="34" charset="-122"/>
                <a:cs typeface="Arial" pitchFamily="34" charset="-120"/>
              </a:rPr>
              <a:t> la </a:t>
            </a:r>
            <a:r>
              <a:rPr lang="en-US" sz="820" err="1">
                <a:solidFill>
                  <a:srgbClr val="334155"/>
                </a:solidFill>
                <a:latin typeface="Arial" pitchFamily="34" charset="0"/>
                <a:ea typeface="Arial" pitchFamily="34" charset="-122"/>
                <a:cs typeface="Arial" pitchFamily="34" charset="-120"/>
              </a:rPr>
              <a:t>funzione</a:t>
            </a:r>
            <a:r>
              <a:rPr lang="en-US" sz="820">
                <a:solidFill>
                  <a:srgbClr val="334155"/>
                </a:solidFill>
                <a:latin typeface="Arial" pitchFamily="34" charset="0"/>
                <a:ea typeface="Arial" pitchFamily="34" charset="-122"/>
                <a:cs typeface="Arial" pitchFamily="34" charset="-120"/>
              </a:rPr>
              <a:t> di output </a:t>
            </a:r>
            <a:r>
              <a:rPr lang="en-US" sz="820" err="1">
                <a:solidFill>
                  <a:srgbClr val="334155"/>
                </a:solidFill>
                <a:latin typeface="Arial" pitchFamily="34" charset="0"/>
                <a:ea typeface="Arial" pitchFamily="34" charset="-122"/>
                <a:cs typeface="Arial" pitchFamily="34" charset="-120"/>
              </a:rPr>
              <a:t>che</a:t>
            </a:r>
            <a:r>
              <a:rPr lang="en-US" sz="820">
                <a:solidFill>
                  <a:srgbClr val="334155"/>
                </a:solidFill>
                <a:latin typeface="Arial" pitchFamily="34" charset="0"/>
                <a:ea typeface="Arial" pitchFamily="34" charset="-122"/>
                <a:cs typeface="Arial" pitchFamily="34" charset="-120"/>
              </a:rPr>
              <a:t> </a:t>
            </a:r>
            <a:r>
              <a:rPr lang="en-US" sz="820" err="1">
                <a:solidFill>
                  <a:srgbClr val="334155"/>
                </a:solidFill>
                <a:latin typeface="Arial" pitchFamily="34" charset="0"/>
                <a:ea typeface="Arial" pitchFamily="34" charset="-122"/>
                <a:cs typeface="Arial" pitchFamily="34" charset="-120"/>
              </a:rPr>
              <a:t>performa</a:t>
            </a:r>
            <a:r>
              <a:rPr lang="en-US" sz="820">
                <a:solidFill>
                  <a:srgbClr val="334155"/>
                </a:solidFill>
                <a:latin typeface="Arial" pitchFamily="34" charset="0"/>
                <a:ea typeface="Arial" pitchFamily="34" charset="-122"/>
                <a:cs typeface="Arial" pitchFamily="34" charset="-120"/>
              </a:rPr>
              <a:t> </a:t>
            </a:r>
            <a:r>
              <a:rPr lang="en-US" sz="820" err="1">
                <a:solidFill>
                  <a:srgbClr val="334155"/>
                </a:solidFill>
                <a:latin typeface="Arial" pitchFamily="34" charset="0"/>
                <a:ea typeface="Arial" pitchFamily="34" charset="-122"/>
                <a:cs typeface="Arial" pitchFamily="34" charset="-120"/>
              </a:rPr>
              <a:t>meglio</a:t>
            </a:r>
            <a:r>
              <a:rPr lang="en-US" sz="820">
                <a:solidFill>
                  <a:srgbClr val="334155"/>
                </a:solidFill>
                <a:latin typeface="Arial" pitchFamily="34" charset="0"/>
                <a:ea typeface="Arial" pitchFamily="34" charset="-122"/>
                <a:cs typeface="Arial" pitchFamily="34" charset="-120"/>
              </a:rPr>
              <a:t>, </a:t>
            </a:r>
            <a:r>
              <a:rPr lang="en-US" sz="820" err="1">
                <a:solidFill>
                  <a:srgbClr val="334155"/>
                </a:solidFill>
                <a:latin typeface="Arial" pitchFamily="34" charset="0"/>
                <a:ea typeface="Arial" pitchFamily="34" charset="-122"/>
                <a:cs typeface="Arial" pitchFamily="34" charset="-120"/>
              </a:rPr>
              <a:t>risultato</a:t>
            </a:r>
            <a:r>
              <a:rPr lang="en-US" sz="820">
                <a:solidFill>
                  <a:srgbClr val="334155"/>
                </a:solidFill>
                <a:latin typeface="Arial" pitchFamily="34" charset="0"/>
                <a:ea typeface="Arial" pitchFamily="34" charset="-122"/>
                <a:cs typeface="Arial" pitchFamily="34" charset="-120"/>
              </a:rPr>
              <a:t> </a:t>
            </a:r>
            <a:r>
              <a:rPr lang="en-US" sz="820" err="1">
                <a:solidFill>
                  <a:srgbClr val="334155"/>
                </a:solidFill>
                <a:latin typeface="Arial" pitchFamily="34" charset="0"/>
                <a:ea typeface="Arial" pitchFamily="34" charset="-122"/>
                <a:cs typeface="Arial" pitchFamily="34" charset="-120"/>
              </a:rPr>
              <a:t>nessun</a:t>
            </a:r>
            <a:r>
              <a:rPr lang="en-US" sz="820">
                <a:solidFill>
                  <a:srgbClr val="334155"/>
                </a:solidFill>
                <a:latin typeface="Arial" pitchFamily="34" charset="0"/>
                <a:ea typeface="Arial" pitchFamily="34" charset="-122"/>
                <a:cs typeface="Arial" pitchFamily="34" charset="-120"/>
              </a:rPr>
              <a:t> neurone muore durante la backpropagation.</a:t>
            </a:r>
            <a:endParaRPr lang="en-US" sz="820"/>
          </a:p>
        </p:txBody>
      </p:sp>
      <p:graphicFrame>
        <p:nvGraphicFramePr>
          <p:cNvPr id="8" name="Chart 0"/>
          <p:cNvGraphicFramePr/>
          <p:nvPr>
            <p:extLst>
              <p:ext uri="{D42A27DB-BD31-4B8C-83A1-F6EECF244321}">
                <p14:modId xmlns:p14="http://schemas.microsoft.com/office/powerpoint/2010/main" val="1081009256"/>
              </p:ext>
            </p:extLst>
          </p:nvPr>
        </p:nvGraphicFramePr>
        <p:xfrm>
          <a:off x="868680" y="2304048"/>
          <a:ext cx="3429000" cy="15087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68680" y="3886200"/>
            <a:ext cx="3429000" cy="621792"/>
          </a:xfrm>
          <a:prstGeom prst="roundRect">
            <a:avLst>
              <a:gd name="adj" fmla="val 8824"/>
            </a:avLst>
          </a:prstGeom>
          <a:solidFill>
            <a:srgbClr val="F0FDF4"/>
          </a:solidFill>
          <a:ln w="12700">
            <a:solidFill>
              <a:srgbClr val="BBF7D0"/>
            </a:solidFill>
            <a:prstDash val="solid"/>
          </a:ln>
        </p:spPr>
        <p:txBody>
          <a:bodyPr/>
          <a:lstStyle/>
          <a:p>
            <a:endParaRPr lang="it-IT"/>
          </a:p>
        </p:txBody>
      </p:sp>
      <p:sp>
        <p:nvSpPr>
          <p:cNvPr id="10" name="Text 7"/>
          <p:cNvSpPr txBox="1"/>
          <p:nvPr/>
        </p:nvSpPr>
        <p:spPr>
          <a:xfrm>
            <a:off x="960120" y="3950208"/>
            <a:ext cx="3246120" cy="502920"/>
          </a:xfrm>
          <a:prstGeom prst="rect">
            <a:avLst/>
          </a:prstGeom>
          <a:noFill/>
          <a:ln/>
        </p:spPr>
        <p:txBody>
          <a:bodyPr wrap="square" lIns="0" tIns="0" rIns="0" bIns="0" rtlCol="0" anchor="ctr"/>
          <a:lstStyle/>
          <a:p>
            <a:pPr>
              <a:lnSpc>
                <a:spcPts val="1050"/>
              </a:lnSpc>
            </a:pPr>
            <a:r>
              <a:rPr lang="en-US" sz="750" b="1">
                <a:solidFill>
                  <a:srgbClr val="065F46"/>
                </a:solidFill>
                <a:latin typeface="Arial"/>
                <a:ea typeface="Arial" pitchFamily="34" charset="-122"/>
                <a:cs typeface="Arial"/>
              </a:rPr>
              <a:t>LA NOSTRA SOLUZIONE: Output lineare durante il training + clipping non-negativo solo all'inferenza. Risultato: </a:t>
            </a:r>
            <a:r>
              <a:rPr lang="en-US" sz="750" b="1" err="1">
                <a:solidFill>
                  <a:srgbClr val="065F46"/>
                </a:solidFill>
                <a:latin typeface="Arial"/>
                <a:ea typeface="Arial" pitchFamily="34" charset="-122"/>
                <a:cs typeface="Arial"/>
              </a:rPr>
              <a:t>neuroni</a:t>
            </a:r>
            <a:r>
              <a:rPr lang="en-US" sz="750" b="1">
                <a:solidFill>
                  <a:srgbClr val="065F46"/>
                </a:solidFill>
                <a:latin typeface="Arial"/>
                <a:ea typeface="Arial" pitchFamily="34" charset="-122"/>
                <a:cs typeface="Arial"/>
              </a:rPr>
              <a:t> </a:t>
            </a:r>
            <a:r>
              <a:rPr lang="en-US" sz="750" b="1" err="1">
                <a:solidFill>
                  <a:srgbClr val="065F46"/>
                </a:solidFill>
                <a:latin typeface="Arial"/>
                <a:ea typeface="Arial" pitchFamily="34" charset="-122"/>
                <a:cs typeface="Arial"/>
              </a:rPr>
              <a:t>morti</a:t>
            </a:r>
            <a:r>
              <a:rPr lang="en-US" sz="750" b="1">
                <a:solidFill>
                  <a:srgbClr val="065F46"/>
                </a:solidFill>
                <a:latin typeface="Arial"/>
                <a:ea typeface="Arial" pitchFamily="34" charset="-122"/>
                <a:cs typeface="Arial"/>
              </a:rPr>
              <a:t> </a:t>
            </a:r>
            <a:r>
              <a:rPr lang="en-US" sz="750" b="1" err="1">
                <a:solidFill>
                  <a:srgbClr val="065F46"/>
                </a:solidFill>
                <a:latin typeface="Arial"/>
                <a:ea typeface="Arial" pitchFamily="34" charset="-122"/>
                <a:cs typeface="Arial"/>
              </a:rPr>
              <a:t>azzerati</a:t>
            </a:r>
            <a:r>
              <a:rPr lang="en-US" sz="750" b="1">
                <a:solidFill>
                  <a:srgbClr val="065F46"/>
                </a:solidFill>
                <a:latin typeface="Arial"/>
                <a:ea typeface="Arial" pitchFamily="34" charset="-122"/>
                <a:cs typeface="Arial"/>
              </a:rPr>
              <a:t> e </a:t>
            </a:r>
            <a:r>
              <a:rPr lang="en-US" sz="750" b="1" err="1">
                <a:solidFill>
                  <a:srgbClr val="065F46"/>
                </a:solidFill>
                <a:latin typeface="Arial"/>
                <a:ea typeface="Arial" pitchFamily="34" charset="-122"/>
                <a:cs typeface="Arial"/>
              </a:rPr>
              <a:t>minimo</a:t>
            </a:r>
            <a:r>
              <a:rPr lang="en-US" sz="750" b="1">
                <a:solidFill>
                  <a:srgbClr val="065F46"/>
                </a:solidFill>
                <a:latin typeface="Arial"/>
                <a:ea typeface="Arial" pitchFamily="34" charset="-122"/>
                <a:cs typeface="Arial"/>
              </a:rPr>
              <a:t> </a:t>
            </a:r>
            <a:r>
              <a:rPr lang="en-US" sz="750" b="1" err="1">
                <a:solidFill>
                  <a:srgbClr val="065F46"/>
                </a:solidFill>
                <a:latin typeface="Arial"/>
                <a:ea typeface="Arial" pitchFamily="34" charset="-122"/>
                <a:cs typeface="Arial"/>
              </a:rPr>
              <a:t>MedAE</a:t>
            </a:r>
            <a:r>
              <a:rPr lang="en-US" sz="750" b="1">
                <a:solidFill>
                  <a:srgbClr val="065F46"/>
                </a:solidFill>
                <a:latin typeface="Arial"/>
                <a:ea typeface="Arial" pitchFamily="34" charset="-122"/>
                <a:cs typeface="Arial"/>
              </a:rPr>
              <a:t> (547.6 ore).</a:t>
            </a:r>
            <a:endParaRPr lang="en-US" sz="750">
              <a:latin typeface="Arial"/>
              <a:cs typeface="Arial"/>
            </a:endParaRPr>
          </a:p>
        </p:txBody>
      </p:sp>
      <p:sp>
        <p:nvSpPr>
          <p:cNvPr id="11" name="Shape 8"/>
          <p:cNvSpPr/>
          <p:nvPr/>
        </p:nvSpPr>
        <p:spPr>
          <a:xfrm>
            <a:off x="4709160" y="1051560"/>
            <a:ext cx="3703320" cy="3566160"/>
          </a:xfrm>
          <a:prstGeom prst="roundRect">
            <a:avLst>
              <a:gd name="adj" fmla="val 2051"/>
            </a:avLst>
          </a:prstGeom>
          <a:solidFill>
            <a:srgbClr val="FFFFFF"/>
          </a:solidFill>
          <a:ln w="12700">
            <a:solidFill>
              <a:srgbClr val="CBD5E1"/>
            </a:solidFill>
            <a:prstDash val="solid"/>
          </a:ln>
        </p:spPr>
        <p:txBody>
          <a:bodyPr/>
          <a:lstStyle/>
          <a:p>
            <a:endParaRPr lang="it-IT"/>
          </a:p>
        </p:txBody>
      </p:sp>
      <p:sp>
        <p:nvSpPr>
          <p:cNvPr id="12" name="Text 9"/>
          <p:cNvSpPr txBox="1"/>
          <p:nvPr/>
        </p:nvSpPr>
        <p:spPr>
          <a:xfrm>
            <a:off x="4892040" y="1234440"/>
            <a:ext cx="3337560" cy="182880"/>
          </a:xfrm>
          <a:prstGeom prst="rect">
            <a:avLst/>
          </a:prstGeom>
          <a:noFill/>
          <a:ln/>
        </p:spPr>
        <p:txBody>
          <a:bodyPr wrap="square" lIns="0" tIns="0" rIns="0" bIns="0" rtlCol="0" anchor="ctr"/>
          <a:lstStyle/>
          <a:p>
            <a:pPr marL="0" indent="0">
              <a:buNone/>
            </a:pPr>
            <a:r>
              <a:rPr lang="en-US" sz="800" b="1">
                <a:solidFill>
                  <a:srgbClr val="2563EB"/>
                </a:solidFill>
                <a:latin typeface="Arial" pitchFamily="34" charset="0"/>
                <a:ea typeface="Arial" pitchFamily="34" charset="-122"/>
                <a:cs typeface="Arial" pitchFamily="34" charset="-120"/>
              </a:rPr>
              <a:t>TEST 3: GRID SEARCH A DUE STADI (-85% TEMPO)</a:t>
            </a:r>
            <a:endParaRPr lang="en-US" sz="800"/>
          </a:p>
        </p:txBody>
      </p:sp>
      <p:sp>
        <p:nvSpPr>
          <p:cNvPr id="13" name="Text 10"/>
          <p:cNvSpPr txBox="1"/>
          <p:nvPr/>
        </p:nvSpPr>
        <p:spPr>
          <a:xfrm>
            <a:off x="4892040" y="1444752"/>
            <a:ext cx="3337560" cy="256032"/>
          </a:xfrm>
          <a:prstGeom prst="rect">
            <a:avLst/>
          </a:prstGeom>
          <a:noFill/>
          <a:ln/>
        </p:spPr>
        <p:txBody>
          <a:bodyPr wrap="square" lIns="0" tIns="0" rIns="0" bIns="0" rtlCol="0" anchor="ctr"/>
          <a:lstStyle/>
          <a:p>
            <a:pPr marL="0" indent="0">
              <a:buNone/>
            </a:pPr>
            <a:r>
              <a:rPr lang="en-US" sz="1250" b="1" err="1">
                <a:solidFill>
                  <a:srgbClr val="0F2744"/>
                </a:solidFill>
                <a:latin typeface="Arial" pitchFamily="34" charset="0"/>
                <a:ea typeface="Arial" pitchFamily="34" charset="-122"/>
                <a:cs typeface="Arial" pitchFamily="34" charset="-120"/>
              </a:rPr>
              <a:t>Topologia</a:t>
            </a:r>
            <a:r>
              <a:rPr lang="en-US" sz="1250" b="1">
                <a:solidFill>
                  <a:srgbClr val="0F2744"/>
                </a:solidFill>
                <a:latin typeface="Arial" pitchFamily="34" charset="0"/>
                <a:ea typeface="Arial" pitchFamily="34" charset="-122"/>
                <a:cs typeface="Arial" pitchFamily="34" charset="-120"/>
              </a:rPr>
              <a:t> e Learning della Rete</a:t>
            </a:r>
            <a:endParaRPr lang="en-US" sz="1250"/>
          </a:p>
        </p:txBody>
      </p:sp>
      <p:sp>
        <p:nvSpPr>
          <p:cNvPr id="14" name="Text 11"/>
          <p:cNvSpPr txBox="1"/>
          <p:nvPr/>
        </p:nvSpPr>
        <p:spPr>
          <a:xfrm>
            <a:off x="4892040" y="1719072"/>
            <a:ext cx="3337560" cy="475488"/>
          </a:xfrm>
          <a:prstGeom prst="rect">
            <a:avLst/>
          </a:prstGeom>
          <a:noFill/>
          <a:ln/>
        </p:spPr>
        <p:txBody>
          <a:bodyPr wrap="square" lIns="0" tIns="0" rIns="0" bIns="0" rtlCol="0" anchor="ctr"/>
          <a:lstStyle/>
          <a:p>
            <a:pPr marL="0" indent="0">
              <a:lnSpc>
                <a:spcPts val="1100"/>
              </a:lnSpc>
              <a:buNone/>
            </a:pPr>
            <a:r>
              <a:rPr lang="en-US" sz="800">
                <a:solidFill>
                  <a:srgbClr val="334155"/>
                </a:solidFill>
                <a:latin typeface="Arial" pitchFamily="34" charset="0"/>
                <a:ea typeface="Arial" pitchFamily="34" charset="-122"/>
                <a:cs typeface="Arial" pitchFamily="34" charset="-120"/>
              </a:rPr>
              <a:t>Ricerca disaccoppiata per abbattere i tempi dell'85%:</a:t>
            </a:r>
            <a:endParaRPr lang="en-US" sz="800"/>
          </a:p>
          <a:p>
            <a:pPr marL="0" indent="0">
              <a:lnSpc>
                <a:spcPts val="1100"/>
              </a:lnSpc>
              <a:buNone/>
            </a:pPr>
            <a:r>
              <a:rPr lang="en-US" sz="800">
                <a:solidFill>
                  <a:srgbClr val="334155"/>
                </a:solidFill>
                <a:latin typeface="Arial" pitchFamily="34" charset="0"/>
                <a:ea typeface="Arial" pitchFamily="34" charset="-122"/>
                <a:cs typeface="Arial" pitchFamily="34" charset="-120"/>
              </a:rPr>
              <a:t>• Stadio 1: Topologia (filtri 8..32, dropout 0.1..0.3, weight decay).</a:t>
            </a:r>
            <a:endParaRPr lang="en-US" sz="800"/>
          </a:p>
          <a:p>
            <a:pPr marL="0" indent="0">
              <a:lnSpc>
                <a:spcPts val="1100"/>
              </a:lnSpc>
              <a:buNone/>
            </a:pPr>
            <a:r>
              <a:rPr lang="en-US" sz="800">
                <a:solidFill>
                  <a:srgbClr val="334155"/>
                </a:solidFill>
                <a:latin typeface="Arial" pitchFamily="34" charset="0"/>
                <a:ea typeface="Arial" pitchFamily="34" charset="-122"/>
                <a:cs typeface="Arial" pitchFamily="34" charset="-120"/>
              </a:rPr>
              <a:t>• Stadio 2: Training (learning rate, batch size, early stopping).</a:t>
            </a:r>
            <a:endParaRPr lang="en-US" sz="80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846320" y="2240280"/>
          <a:ext cx="3429000" cy="1371600"/>
        </p:xfrm>
        <a:graphic>
          <a:graphicData uri="http://schemas.openxmlformats.org/drawingml/2006/table">
            <a:tbl>
              <a:tblPr/>
              <a:tblGrid>
                <a:gridCol w="960120">
                  <a:extLst>
                    <a:ext uri="{9D8B030D-6E8A-4147-A177-3AD203B41FA5}">
                      <a16:colId xmlns:a16="http://schemas.microsoft.com/office/drawing/2014/main" val="20000"/>
                    </a:ext>
                  </a:extLst>
                </a:gridCol>
                <a:gridCol w="41148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274320">
                <a:tc>
                  <a:txBody>
                    <a:bodyPr/>
                    <a:lstStyle/>
                    <a:p>
                      <a:pPr marL="0" indent="0" algn="ctr">
                        <a:buNone/>
                      </a:pPr>
                      <a:r>
                        <a:rPr lang="en-US" sz="800" b="1">
                          <a:solidFill>
                            <a:srgbClr val="FFFFFF"/>
                          </a:solidFill>
                        </a:rPr>
                        <a:t>Dataset</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00" b="1">
                          <a:solidFill>
                            <a:srgbClr val="FFFFFF"/>
                          </a:solidFill>
                        </a:rPr>
                        <a:t>Filtri</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00" b="1">
                          <a:solidFill>
                            <a:srgbClr val="FFFFFF"/>
                          </a:solidFill>
                        </a:rPr>
                        <a:t>Drop</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00" b="1">
                          <a:solidFill>
                            <a:srgbClr val="FFFFFF"/>
                          </a:solidFill>
                        </a:rPr>
                        <a:t>LR</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00" b="1">
                          <a:solidFill>
                            <a:srgbClr val="FFFFFF"/>
                          </a:solidFill>
                        </a:rPr>
                        <a:t>BS</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800" b="1">
                          <a:solidFill>
                            <a:srgbClr val="FFFFFF"/>
                          </a:solidFill>
                        </a:rPr>
                        <a:t>MedAE</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extLst>
                  <a:ext uri="{0D108BD9-81ED-4DB2-BD59-A6C34878D82A}">
                    <a16:rowId xmlns:a16="http://schemas.microsoft.com/office/drawing/2014/main" val="10000"/>
                  </a:ext>
                </a:extLst>
              </a:tr>
              <a:tr h="274320">
                <a:tc>
                  <a:txBody>
                    <a:bodyPr/>
                    <a:lstStyle/>
                    <a:p>
                      <a:pPr marL="0" indent="0" algn="ctr">
                        <a:buNone/>
                      </a:pPr>
                      <a:r>
                        <a:rPr lang="en-US" sz="800" b="1">
                          <a:solidFill>
                            <a:srgbClr val="000000"/>
                          </a:solidFill>
                        </a:rPr>
                        <a:t>COCOMO-81</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8</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0.3</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0.0005</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16</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b="1">
                          <a:solidFill>
                            <a:srgbClr val="059669"/>
                          </a:solidFill>
                        </a:rPr>
                        <a:t>71.75 m</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800" b="1">
                          <a:solidFill>
                            <a:srgbClr val="000000"/>
                          </a:solidFill>
                        </a:rPr>
                        <a:t>Albrecht</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32</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0.3</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0.0050</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32</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b="1">
                          <a:solidFill>
                            <a:srgbClr val="059669"/>
                          </a:solidFill>
                        </a:rPr>
                        <a:t>3.11 m</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800" b="1">
                          <a:solidFill>
                            <a:srgbClr val="000000"/>
                          </a:solidFill>
                        </a:rPr>
                        <a:t>China</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32</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0.1</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0.0010</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16</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b="1">
                          <a:solidFill>
                            <a:srgbClr val="059669"/>
                          </a:solidFill>
                        </a:rPr>
                        <a:t>288.78 h</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ctr">
                        <a:buNone/>
                      </a:pPr>
                      <a:r>
                        <a:rPr lang="en-US" sz="800" b="1">
                          <a:solidFill>
                            <a:srgbClr val="000000"/>
                          </a:solidFill>
                        </a:rPr>
                        <a:t>Desharnais</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8</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0.2</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0.0005</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a:solidFill>
                            <a:srgbClr val="000000"/>
                          </a:solidFill>
                        </a:rPr>
                        <a:t>32</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800" b="1">
                          <a:solidFill>
                            <a:srgbClr val="059669"/>
                          </a:solidFill>
                        </a:rPr>
                        <a:t>995.24 h</a:t>
                      </a:r>
                      <a:endParaRPr lang="en-US" sz="80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Shape 12"/>
          <p:cNvSpPr/>
          <p:nvPr/>
        </p:nvSpPr>
        <p:spPr>
          <a:xfrm>
            <a:off x="4846320" y="3749040"/>
            <a:ext cx="3429000" cy="749808"/>
          </a:xfrm>
          <a:prstGeom prst="roundRect">
            <a:avLst>
              <a:gd name="adj" fmla="val 7317"/>
            </a:avLst>
          </a:prstGeom>
          <a:solidFill>
            <a:srgbClr val="FFFFFF"/>
          </a:solidFill>
          <a:ln w="12700">
            <a:solidFill>
              <a:srgbClr val="CBD5E1"/>
            </a:solidFill>
            <a:prstDash val="solid"/>
          </a:ln>
        </p:spPr>
        <p:txBody>
          <a:bodyPr/>
          <a:lstStyle/>
          <a:p>
            <a:endParaRPr lang="it-IT"/>
          </a:p>
        </p:txBody>
      </p:sp>
      <p:sp>
        <p:nvSpPr>
          <p:cNvPr id="17" name="Text 13"/>
          <p:cNvSpPr txBox="1"/>
          <p:nvPr/>
        </p:nvSpPr>
        <p:spPr>
          <a:xfrm>
            <a:off x="4937760" y="3822192"/>
            <a:ext cx="3246120" cy="621792"/>
          </a:xfrm>
          <a:prstGeom prst="rect">
            <a:avLst/>
          </a:prstGeom>
          <a:noFill/>
          <a:ln/>
        </p:spPr>
        <p:txBody>
          <a:bodyPr wrap="square" lIns="0" tIns="0" rIns="0" bIns="0" rtlCol="0" anchor="ctr"/>
          <a:lstStyle/>
          <a:p>
            <a:pPr>
              <a:lnSpc>
                <a:spcPts val="1050"/>
              </a:lnSpc>
            </a:pPr>
            <a:r>
              <a:rPr lang="en-US" sz="750">
                <a:solidFill>
                  <a:srgbClr val="334155"/>
                </a:solidFill>
                <a:latin typeface="Arial"/>
                <a:ea typeface="Arial" pitchFamily="34" charset="-122"/>
                <a:cs typeface="Arial"/>
              </a:rPr>
              <a:t>EVIDENZA ARCHITETTURALE: Dataset </a:t>
            </a:r>
            <a:r>
              <a:rPr lang="en-US" sz="750" err="1">
                <a:solidFill>
                  <a:srgbClr val="334155"/>
                </a:solidFill>
                <a:latin typeface="Arial"/>
                <a:ea typeface="Arial" pitchFamily="34" charset="-122"/>
                <a:cs typeface="Arial"/>
              </a:rPr>
              <a:t>piccoli</a:t>
            </a:r>
            <a:r>
              <a:rPr lang="en-US" sz="750">
                <a:solidFill>
                  <a:srgbClr val="334155"/>
                </a:solidFill>
                <a:latin typeface="Arial"/>
                <a:ea typeface="Arial" pitchFamily="34" charset="-122"/>
                <a:cs typeface="Arial"/>
              </a:rPr>
              <a:t> (COCOMO, Desharnais) </a:t>
            </a:r>
            <a:r>
              <a:rPr lang="en-US" sz="750" err="1">
                <a:solidFill>
                  <a:srgbClr val="334155"/>
                </a:solidFill>
                <a:latin typeface="Arial"/>
                <a:ea typeface="Arial" pitchFamily="34" charset="-122"/>
                <a:cs typeface="Arial"/>
              </a:rPr>
              <a:t>richiedono</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reti</a:t>
            </a:r>
            <a:r>
              <a:rPr lang="en-US" sz="750">
                <a:solidFill>
                  <a:srgbClr val="334155"/>
                </a:solidFill>
                <a:latin typeface="Arial"/>
                <a:ea typeface="Arial" pitchFamily="34" charset="-122"/>
                <a:cs typeface="Arial"/>
              </a:rPr>
              <a:t> piccole (8 </a:t>
            </a:r>
            <a:r>
              <a:rPr lang="en-US" sz="750" err="1">
                <a:solidFill>
                  <a:srgbClr val="334155"/>
                </a:solidFill>
                <a:latin typeface="Arial"/>
                <a:ea typeface="Arial" pitchFamily="34" charset="-122"/>
                <a:cs typeface="Arial"/>
              </a:rPr>
              <a:t>filtri</a:t>
            </a:r>
            <a:r>
              <a:rPr lang="en-US" sz="750">
                <a:solidFill>
                  <a:srgbClr val="334155"/>
                </a:solidFill>
                <a:latin typeface="Arial"/>
                <a:ea typeface="Arial" pitchFamily="34" charset="-122"/>
                <a:cs typeface="Arial"/>
              </a:rPr>
              <a:t>) e dropout alto (0.3) per </a:t>
            </a:r>
            <a:r>
              <a:rPr lang="en-US" sz="750" err="1">
                <a:solidFill>
                  <a:srgbClr val="334155"/>
                </a:solidFill>
                <a:latin typeface="Arial"/>
                <a:ea typeface="Arial" pitchFamily="34" charset="-122"/>
                <a:cs typeface="Arial"/>
              </a:rPr>
              <a:t>bloccare</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l'overfitting</a:t>
            </a:r>
            <a:r>
              <a:rPr lang="en-US" sz="750">
                <a:solidFill>
                  <a:srgbClr val="334155"/>
                </a:solidFill>
                <a:latin typeface="Arial"/>
                <a:ea typeface="Arial" pitchFamily="34" charset="-122"/>
                <a:cs typeface="Arial"/>
              </a:rPr>
              <a:t>. Dataset </a:t>
            </a:r>
            <a:r>
              <a:rPr lang="en-US" sz="750" err="1">
                <a:solidFill>
                  <a:srgbClr val="334155"/>
                </a:solidFill>
                <a:latin typeface="Arial"/>
                <a:ea typeface="Arial" pitchFamily="34" charset="-122"/>
                <a:cs typeface="Arial"/>
              </a:rPr>
              <a:t>ricchi</a:t>
            </a:r>
            <a:r>
              <a:rPr lang="en-US" sz="750">
                <a:solidFill>
                  <a:srgbClr val="334155"/>
                </a:solidFill>
                <a:latin typeface="Arial"/>
                <a:ea typeface="Arial" pitchFamily="34" charset="-122"/>
                <a:cs typeface="Arial"/>
              </a:rPr>
              <a:t> (China) </a:t>
            </a:r>
            <a:r>
              <a:rPr lang="en-US" sz="750" err="1">
                <a:solidFill>
                  <a:srgbClr val="334155"/>
                </a:solidFill>
                <a:latin typeface="Arial"/>
                <a:ea typeface="Arial" pitchFamily="34" charset="-122"/>
                <a:cs typeface="Arial"/>
              </a:rPr>
              <a:t>sfruttano</a:t>
            </a:r>
            <a:r>
              <a:rPr lang="en-US" sz="750">
                <a:solidFill>
                  <a:srgbClr val="334155"/>
                </a:solidFill>
                <a:latin typeface="Arial"/>
                <a:ea typeface="Arial" pitchFamily="34" charset="-122"/>
                <a:cs typeface="Arial"/>
              </a:rPr>
              <a:t> a </a:t>
            </a:r>
            <a:r>
              <a:rPr lang="en-US" sz="750" err="1">
                <a:solidFill>
                  <a:srgbClr val="334155"/>
                </a:solidFill>
                <a:latin typeface="Arial"/>
                <a:ea typeface="Arial" pitchFamily="34" charset="-122"/>
                <a:cs typeface="Arial"/>
              </a:rPr>
              <a:t>pieno</a:t>
            </a:r>
            <a:r>
              <a:rPr lang="en-US" sz="750">
                <a:solidFill>
                  <a:srgbClr val="334155"/>
                </a:solidFill>
                <a:latin typeface="Arial"/>
                <a:ea typeface="Arial" pitchFamily="34" charset="-122"/>
                <a:cs typeface="Arial"/>
              </a:rPr>
              <a:t> 32 </a:t>
            </a:r>
            <a:r>
              <a:rPr lang="en-US" sz="750" err="1">
                <a:solidFill>
                  <a:srgbClr val="334155"/>
                </a:solidFill>
                <a:latin typeface="Arial"/>
                <a:ea typeface="Arial" pitchFamily="34" charset="-122"/>
                <a:cs typeface="Arial"/>
              </a:rPr>
              <a:t>filtri</a:t>
            </a:r>
            <a:r>
              <a:rPr lang="en-US" sz="750">
                <a:solidFill>
                  <a:srgbClr val="334155"/>
                </a:solidFill>
                <a:latin typeface="Arial"/>
                <a:ea typeface="Arial" pitchFamily="34" charset="-122"/>
                <a:cs typeface="Arial"/>
              </a:rPr>
              <a:t> per </a:t>
            </a:r>
            <a:r>
              <a:rPr lang="en-US" sz="750" err="1">
                <a:solidFill>
                  <a:srgbClr val="334155"/>
                </a:solidFill>
                <a:latin typeface="Arial"/>
                <a:ea typeface="Arial" pitchFamily="34" charset="-122"/>
                <a:cs typeface="Arial"/>
              </a:rPr>
              <a:t>cogliere</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relazioni</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complesse</a:t>
            </a:r>
            <a:r>
              <a:rPr lang="en-US" sz="750">
                <a:solidFill>
                  <a:srgbClr val="334155"/>
                </a:solidFill>
                <a:latin typeface="Arial"/>
                <a:ea typeface="Arial" pitchFamily="34" charset="-122"/>
                <a:cs typeface="Arial"/>
              </a:rPr>
              <a:t>.</a:t>
            </a:r>
            <a:endParaRPr lang="en-US" sz="75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VALIDAZIONE GLOBALE &amp; BENCHMARK SOTA</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a:solidFill>
                  <a:srgbClr val="0F2744"/>
                </a:solidFill>
                <a:latin typeface="Arial" pitchFamily="34" charset="0"/>
                <a:ea typeface="Arial" pitchFamily="34" charset="-122"/>
                <a:cs typeface="Arial" pitchFamily="34" charset="-120"/>
              </a:rPr>
              <a:t>Confronto con le Baseline: Di Martino (SLR), Random Forest e SVM</a:t>
            </a:r>
            <a:endParaRPr lang="en-US" sz="1850"/>
          </a:p>
        </p:txBody>
      </p:sp>
      <p:sp>
        <p:nvSpPr>
          <p:cNvPr id="4" name="Text 2"/>
          <p:cNvSpPr txBox="1"/>
          <p:nvPr/>
        </p:nvSpPr>
        <p:spPr>
          <a:xfrm>
            <a:off x="731520" y="1051560"/>
            <a:ext cx="7680960" cy="256032"/>
          </a:xfrm>
          <a:prstGeom prst="rect">
            <a:avLst/>
          </a:prstGeom>
          <a:noFill/>
          <a:ln/>
        </p:spPr>
        <p:txBody>
          <a:bodyPr wrap="square" lIns="0" tIns="0" rIns="0" bIns="0" rtlCol="0" anchor="ctr"/>
          <a:lstStyle/>
          <a:p>
            <a:pPr>
              <a:defRPr sz="900">
                <a:solidFill>
                  <a:srgbClr val="334155"/>
                </a:solidFill>
                <a:latin typeface="Arial"/>
              </a:defRPr>
            </a:pPr>
            <a:r>
              <a:t>Abbiamo implementato ed eseguito sotto identici protocolli (LOOCV / 10-Fold CV, seed 42) i modelli baseline; F-DCNN validata su 5 seed per robustezza stocastica.</a:t>
            </a:r>
            <a:endParaRPr lang="en-US" sz="900"/>
          </a:p>
        </p:txBody>
      </p:sp>
      <p:graphicFrame>
        <p:nvGraphicFramePr>
          <p:cNvPr id="13" name="Table 0"/>
          <p:cNvGraphicFramePr>
            <a:graphicFrameLocks noGrp="1"/>
          </p:cNvGraphicFramePr>
          <p:nvPr>
            <p:extLst>
              <p:ext uri="{D42A27DB-BD31-4B8C-83A1-F6EECF244321}">
                <p14:modId xmlns:p14="http://schemas.microsoft.com/office/powerpoint/2010/main" val="340764765"/>
              </p:ext>
            </p:extLst>
          </p:nvPr>
        </p:nvGraphicFramePr>
        <p:xfrm>
          <a:off x="731520" y="1353312"/>
          <a:ext cx="7680960" cy="2121408"/>
        </p:xfrm>
        <a:graphic>
          <a:graphicData uri="http://schemas.openxmlformats.org/drawingml/2006/table">
            <a:tbl>
              <a:tblPr/>
              <a:tblGrid>
                <a:gridCol w="105156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tblGrid>
              <a:tr h="353568">
                <a:tc>
                  <a:txBody>
                    <a:bodyPr/>
                    <a:lstStyle/>
                    <a:p>
                      <a:pPr marL="0" indent="0" algn="ctr">
                        <a:buNone/>
                      </a:pPr>
                      <a:r>
                        <a:rPr lang="en-US" sz="750" b="1">
                          <a:solidFill>
                            <a:srgbClr val="FFFFFF"/>
                          </a:solidFill>
                        </a:rPr>
                        <a:t>Dataset</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750" b="1" err="1">
                          <a:solidFill>
                            <a:srgbClr val="FFFFFF"/>
                          </a:solidFill>
                        </a:rPr>
                        <a:t>Validazione</a:t>
                      </a:r>
                      <a:endParaRPr lang="en-US" sz="750" err="1"/>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750" b="1">
                          <a:solidFill>
                            <a:srgbClr val="FFFFFF"/>
                          </a:solidFill>
                        </a:rPr>
                        <a:t>Di Martino (SLR)</a:t>
                      </a:r>
                      <a:endParaRPr lang="en-US" sz="750"/>
                    </a:p>
                    <a:p>
                      <a:pPr marL="0" indent="0" algn="ctr">
                        <a:buNone/>
                      </a:pPr>
                      <a:r>
                        <a:rPr lang="en-US" sz="750" b="1" err="1">
                          <a:solidFill>
                            <a:srgbClr val="FFFFFF"/>
                          </a:solidFill>
                        </a:rPr>
                        <a:t>MedAE</a:t>
                      </a:r>
                      <a:endParaRPr lang="en-US" sz="750" err="1"/>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750" b="1">
                          <a:solidFill>
                            <a:srgbClr val="FFFFFF"/>
                          </a:solidFill>
                        </a:rPr>
                        <a:t>Random Forest</a:t>
                      </a:r>
                      <a:endParaRPr lang="en-US" sz="750"/>
                    </a:p>
                    <a:p>
                      <a:pPr marL="0" indent="0" algn="ctr">
                        <a:buNone/>
                      </a:pPr>
                      <a:r>
                        <a:rPr lang="en-US" sz="750" b="1" err="1">
                          <a:solidFill>
                            <a:srgbClr val="FFFFFF"/>
                          </a:solidFill>
                        </a:rPr>
                        <a:t>MedAE</a:t>
                      </a:r>
                      <a:endParaRPr lang="en-US" sz="750" err="1"/>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750" b="1">
                          <a:solidFill>
                            <a:srgbClr val="FFFFFF"/>
                          </a:solidFill>
                        </a:rPr>
                        <a:t>SVM (SVR)</a:t>
                      </a:r>
                      <a:endParaRPr lang="en-US" sz="750"/>
                    </a:p>
                    <a:p>
                      <a:pPr marL="0" indent="0" algn="ctr">
                        <a:buNone/>
                      </a:pPr>
                      <a:r>
                        <a:rPr lang="en-US" sz="750" b="1" err="1">
                          <a:solidFill>
                            <a:srgbClr val="FFFFFF"/>
                          </a:solidFill>
                        </a:rPr>
                        <a:t>MedAE</a:t>
                      </a:r>
                      <a:endParaRPr lang="en-US" sz="750" err="1"/>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750" b="1">
                          <a:solidFill>
                            <a:srgbClr val="FFFFFF"/>
                          </a:solidFill>
                        </a:rPr>
                        <a:t>Nostro F-DCNN</a:t>
                      </a:r>
                      <a:endParaRPr lang="en-US" sz="750"/>
                    </a:p>
                    <a:p>
                      <a:pPr marL="0" indent="0" algn="ctr">
                        <a:buNone/>
                      </a:pPr>
                      <a:r>
                        <a:rPr lang="en-US" sz="750" b="1" err="1">
                          <a:solidFill>
                            <a:srgbClr val="FFFFFF"/>
                          </a:solidFill>
                        </a:rPr>
                        <a:t>MedAE</a:t>
                      </a:r>
                      <a:endParaRPr lang="en-US" sz="750" err="1"/>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750" b="1">
                          <a:solidFill>
                            <a:srgbClr val="FFFFFF"/>
                          </a:solidFill>
                        </a:rPr>
                        <a:t>Nostro SA (%)</a:t>
                      </a:r>
                      <a:endParaRPr lang="en-US" sz="750"/>
                    </a:p>
                    <a:p>
                      <a:pPr marL="0" indent="0" algn="ctr">
                        <a:buNone/>
                      </a:pPr>
                      <a:r>
                        <a:rPr lang="en-US" sz="750" b="1" err="1">
                          <a:solidFill>
                            <a:srgbClr val="FFFFFF"/>
                          </a:solidFill>
                        </a:rPr>
                        <a:t>Accuratezza</a:t>
                      </a:r>
                      <a:endParaRPr lang="en-US" sz="750" err="1"/>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tc>
                  <a:txBody>
                    <a:bodyPr/>
                    <a:lstStyle/>
                    <a:p>
                      <a:pPr marL="0" indent="0" algn="ctr">
                        <a:buNone/>
                      </a:pPr>
                      <a:r>
                        <a:rPr lang="en-US" sz="750" b="1" err="1">
                          <a:solidFill>
                            <a:srgbClr val="FFFFFF"/>
                          </a:solidFill>
                        </a:rPr>
                        <a:t>Esito</a:t>
                      </a: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744"/>
                    </a:solidFill>
                  </a:tcPr>
                </a:tc>
                <a:extLst>
                  <a:ext uri="{0D108BD9-81ED-4DB2-BD59-A6C34878D82A}">
                    <a16:rowId xmlns:a16="http://schemas.microsoft.com/office/drawing/2014/main" val="10000"/>
                  </a:ext>
                </a:extLst>
              </a:tr>
              <a:tr h="353568">
                <a:tc>
                  <a:txBody>
                    <a:bodyPr/>
                    <a:lstStyle/>
                    <a:p>
                      <a:pPr marL="0" indent="0" algn="ctr">
                        <a:buNone/>
                      </a:pPr>
                      <a:r>
                        <a:rPr lang="en-US" sz="750" b="1">
                          <a:solidFill>
                            <a:srgbClr val="000000"/>
                          </a:solidFill>
                        </a:rPr>
                        <a:t>China</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10-Fold</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1757.98 h</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528.10 h</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226.88 h</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b="1">
                          <a:solidFill>
                            <a:srgbClr val="059669"/>
                          </a:solidFill>
                        </a:rPr>
                        <a:t>117.09 h</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indent="0" algn="ctr">
                        <a:buNone/>
                      </a:pPr>
                      <a:r>
                        <a:rPr lang="en-US" sz="750" b="1">
                          <a:solidFill>
                            <a:srgbClr val="000000"/>
                          </a:solidFill>
                        </a:rPr>
                        <a:t>83.0%</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b="1" err="1">
                          <a:solidFill>
                            <a:srgbClr val="059669"/>
                          </a:solidFill>
                        </a:rPr>
                        <a:t>Miglior</a:t>
                      </a:r>
                      <a:r>
                        <a:rPr lang="en-US" sz="750" b="1">
                          <a:solidFill>
                            <a:srgbClr val="059669"/>
                          </a:solidFill>
                        </a:rPr>
                        <a:t> </a:t>
                      </a:r>
                      <a:r>
                        <a:rPr lang="en-US" sz="750" b="1" err="1">
                          <a:solidFill>
                            <a:srgbClr val="059669"/>
                          </a:solidFill>
                        </a:rPr>
                        <a:t>Risultato</a:t>
                      </a:r>
                      <a:endParaRPr lang="en-US" sz="750" err="1"/>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53568">
                <a:tc>
                  <a:txBody>
                    <a:bodyPr/>
                    <a:lstStyle/>
                    <a:p>
                      <a:pPr marL="0" indent="0" algn="ctr">
                        <a:buNone/>
                      </a:pPr>
                      <a:r>
                        <a:rPr lang="en-US" sz="750" b="1">
                          <a:solidFill>
                            <a:srgbClr val="000000"/>
                          </a:solidFill>
                        </a:rPr>
                        <a:t>COCOMO-81</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LOOCV</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185.87 m</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196.19 m</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161.99 m</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b="1">
                          <a:solidFill>
                            <a:srgbClr val="059669"/>
                          </a:solidFill>
                        </a:rPr>
                        <a:t>78.79 m</a:t>
                      </a:r>
                      <a:endParaRPr lang="en-US" sz="7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lvl="0" indent="0" algn="ctr">
                        <a:buNone/>
                      </a:pPr>
                      <a:r>
                        <a:rPr lang="en-US" sz="750">
                          <a:solidFill>
                            <a:srgbClr val="000000"/>
                          </a:solidFill>
                        </a:rPr>
                        <a:t>47.0%</a:t>
                      </a:r>
                      <a:endParaRPr lang="en-US"/>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b="1" err="1">
                          <a:solidFill>
                            <a:srgbClr val="059669"/>
                          </a:solidFill>
                        </a:rPr>
                        <a:t>Miglior</a:t>
                      </a:r>
                      <a:r>
                        <a:rPr lang="en-US" sz="750" b="1">
                          <a:solidFill>
                            <a:srgbClr val="059669"/>
                          </a:solidFill>
                        </a:rPr>
                        <a:t> </a:t>
                      </a:r>
                      <a:r>
                        <a:rPr lang="en-US" sz="750" b="1" err="1">
                          <a:solidFill>
                            <a:srgbClr val="059669"/>
                          </a:solidFill>
                        </a:rPr>
                        <a:t>Risultato</a:t>
                      </a:r>
                      <a:endParaRPr lang="en-US" sz="750" err="1"/>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53568">
                <a:tc>
                  <a:txBody>
                    <a:bodyPr/>
                    <a:lstStyle/>
                    <a:p>
                      <a:pPr marL="0" indent="0" algn="ctr">
                        <a:buNone/>
                      </a:pPr>
                      <a:r>
                        <a:rPr lang="en-US" sz="750" b="1">
                          <a:solidFill>
                            <a:srgbClr val="000000"/>
                          </a:solidFill>
                        </a:rPr>
                        <a:t>Albrecht</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LOOCV</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7.58 m</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4.29 m</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defTabSz="914400" rtl="0" eaLnBrk="1" latinLnBrk="0" hangingPunct="1">
                        <a:buNone/>
                      </a:pPr>
                      <a:r>
                        <a:rPr lang="en-US" sz="750" b="1" kern="1200">
                          <a:solidFill>
                            <a:srgbClr val="059669"/>
                          </a:solidFill>
                          <a:latin typeface="+mn-lt"/>
                          <a:ea typeface="+mn-ea"/>
                          <a:cs typeface="+mn-cs"/>
                        </a:rPr>
                        <a:t>4.13 m</a:t>
                      </a: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indent="0" algn="ctr" defTabSz="914400" rtl="0" eaLnBrk="1" latinLnBrk="0" hangingPunct="1">
                        <a:buNone/>
                      </a:pPr>
                      <a:r>
                        <a:rPr lang="en-US" sz="750" b="1" kern="1200">
                          <a:solidFill>
                            <a:srgbClr val="2563EB"/>
                          </a:solidFill>
                          <a:latin typeface="+mn-lt"/>
                          <a:ea typeface="+mn-ea"/>
                          <a:cs typeface="+mn-cs"/>
                        </a:rPr>
                        <a:t>6.30 m</a:t>
                      </a: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noFill/>
                  </a:tcPr>
                </a:tc>
                <a:tc>
                  <a:txBody>
                    <a:bodyPr/>
                    <a:lstStyle/>
                    <a:p>
                      <a:pPr marL="0" lvl="0" indent="0" algn="ctr">
                        <a:buNone/>
                      </a:pPr>
                      <a:r>
                        <a:rPr lang="en-US" sz="750">
                          <a:solidFill>
                            <a:srgbClr val="000000"/>
                          </a:solidFill>
                        </a:rPr>
                        <a:t>60.0%</a:t>
                      </a:r>
                      <a:endParaRPr lang="en-US"/>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lvl="0" indent="0" algn="ctr">
                        <a:buNone/>
                      </a:pPr>
                      <a:r>
                        <a:rPr lang="en-US" sz="700" b="1" i="0" u="none" strike="noStrike" noProof="0" err="1">
                          <a:solidFill>
                            <a:srgbClr val="2563EB"/>
                          </a:solidFill>
                          <a:latin typeface="Calibri"/>
                          <a:ea typeface="Calibri"/>
                          <a:cs typeface="Calibri"/>
                        </a:rPr>
                        <a:t>Competitivo</a:t>
                      </a:r>
                      <a:endParaRPr lang="en-US" err="1"/>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53568">
                <a:tc>
                  <a:txBody>
                    <a:bodyPr/>
                    <a:lstStyle/>
                    <a:p>
                      <a:pPr marL="0" indent="0" algn="ctr">
                        <a:buNone/>
                      </a:pPr>
                      <a:r>
                        <a:rPr lang="en-US" sz="750" b="1">
                          <a:solidFill>
                            <a:srgbClr val="000000"/>
                          </a:solidFill>
                        </a:rPr>
                        <a:t>Desharnais</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LOOCV</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1267.56 h</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1375.61 h</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defTabSz="914400" rtl="0" eaLnBrk="1" latinLnBrk="0" hangingPunct="1">
                        <a:buNone/>
                      </a:pPr>
                      <a:r>
                        <a:rPr lang="en-US" sz="750" b="1" kern="1200">
                          <a:solidFill>
                            <a:srgbClr val="059669"/>
                          </a:solidFill>
                          <a:latin typeface="+mn-lt"/>
                          <a:ea typeface="+mn-ea"/>
                          <a:cs typeface="+mn-cs"/>
                        </a:rPr>
                        <a:t>1094.91 h</a:t>
                      </a: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indent="0" algn="ctr" defTabSz="914400" rtl="0" eaLnBrk="1" latinLnBrk="0" hangingPunct="1">
                        <a:buNone/>
                      </a:pPr>
                      <a:r>
                        <a:rPr lang="en-US" sz="750" b="1" kern="1200">
                          <a:solidFill>
                            <a:srgbClr val="2563EB"/>
                          </a:solidFill>
                          <a:latin typeface="+mn-lt"/>
                          <a:ea typeface="+mn-ea"/>
                          <a:cs typeface="+mn-cs"/>
                        </a:rPr>
                        <a:t>1409.01 h</a:t>
                      </a: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noFill/>
                  </a:tcPr>
                </a:tc>
                <a:tc>
                  <a:txBody>
                    <a:bodyPr/>
                    <a:lstStyle/>
                    <a:p>
                      <a:pPr marL="0" lvl="0" indent="0" algn="ctr">
                        <a:buNone/>
                      </a:pPr>
                      <a:r>
                        <a:rPr lang="en-US" sz="750">
                          <a:solidFill>
                            <a:srgbClr val="000000"/>
                          </a:solidFill>
                        </a:rPr>
                        <a:t>45.0%</a:t>
                      </a:r>
                      <a:endParaRPr lang="en-US"/>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lvl="0" indent="0" algn="ctr">
                        <a:buNone/>
                      </a:pPr>
                      <a:r>
                        <a:rPr lang="en-US" sz="700" b="1" i="0" u="none" strike="noStrike" noProof="0">
                          <a:solidFill>
                            <a:srgbClr val="FF0000"/>
                          </a:solidFill>
                          <a:latin typeface="Calibri"/>
                          <a:ea typeface="Calibri"/>
                          <a:cs typeface="Calibri"/>
                        </a:rPr>
                        <a:t>Peggiore</a:t>
                      </a:r>
                      <a:endParaRPr lang="en-US">
                        <a:solidFill>
                          <a:srgbClr val="FF0000"/>
                        </a:solidFill>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53568">
                <a:tc>
                  <a:txBody>
                    <a:bodyPr/>
                    <a:lstStyle/>
                    <a:p>
                      <a:pPr marL="0" indent="0" algn="ctr">
                        <a:buNone/>
                      </a:pPr>
                      <a:r>
                        <a:rPr lang="en-US" sz="750" b="1">
                          <a:solidFill>
                            <a:srgbClr val="000000"/>
                          </a:solidFill>
                        </a:rPr>
                        <a:t>Maxwell</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LOOCV</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2503.58 h</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defTabSz="914400" rtl="0" eaLnBrk="1" latinLnBrk="0" hangingPunct="1">
                        <a:buNone/>
                      </a:pPr>
                      <a:r>
                        <a:rPr lang="en-US" sz="750" kern="1200">
                          <a:solidFill>
                            <a:srgbClr val="000000"/>
                          </a:solidFill>
                          <a:latin typeface="+mn-lt"/>
                          <a:ea typeface="+mn-ea"/>
                          <a:cs typeface="+mn-cs"/>
                        </a:rPr>
                        <a:t>2099.73 h</a:t>
                      </a: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b="1" kern="1200">
                          <a:solidFill>
                            <a:srgbClr val="059669"/>
                          </a:solidFill>
                          <a:latin typeface="+mn-lt"/>
                          <a:ea typeface="+mn-ea"/>
                          <a:cs typeface="+mn-cs"/>
                        </a:rPr>
                        <a:t>1732.94 h</a:t>
                      </a: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DF4"/>
                    </a:solidFill>
                  </a:tcPr>
                </a:tc>
                <a:tc>
                  <a:txBody>
                    <a:bodyPr/>
                    <a:lstStyle/>
                    <a:p>
                      <a:pPr marL="0" indent="0" algn="ctr">
                        <a:buNone/>
                      </a:pPr>
                      <a:r>
                        <a:rPr lang="en-US" sz="750" b="1">
                          <a:solidFill>
                            <a:srgbClr val="2563EB"/>
                          </a:solidFill>
                        </a:rPr>
                        <a:t>2183.86 h</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50">
                          <a:solidFill>
                            <a:srgbClr val="000000"/>
                          </a:solidFill>
                        </a:rPr>
                        <a:t>56.0%</a:t>
                      </a:r>
                      <a:endParaRPr lang="en-US" sz="75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780" b="1" err="1">
                          <a:solidFill>
                            <a:srgbClr val="2563EB"/>
                          </a:solidFill>
                        </a:rPr>
                        <a:t>Competitivo</a:t>
                      </a:r>
                      <a:endParaRPr lang="en-US" sz="780"/>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731520" y="3611880"/>
            <a:ext cx="2423160" cy="1005840"/>
          </a:xfrm>
          <a:prstGeom prst="roundRect">
            <a:avLst>
              <a:gd name="adj" fmla="val 7273"/>
            </a:avLst>
          </a:prstGeom>
          <a:solidFill>
            <a:srgbClr val="FFFFFF"/>
          </a:solidFill>
          <a:ln w="12700">
            <a:solidFill>
              <a:srgbClr val="BBF7D0"/>
            </a:solidFill>
            <a:prstDash val="solid"/>
          </a:ln>
        </p:spPr>
        <p:txBody>
          <a:bodyPr/>
          <a:lstStyle/>
          <a:p>
            <a:endParaRPr lang="it-IT"/>
          </a:p>
        </p:txBody>
      </p:sp>
      <p:sp>
        <p:nvSpPr>
          <p:cNvPr id="7" name="Text 4"/>
          <p:cNvSpPr txBox="1"/>
          <p:nvPr/>
        </p:nvSpPr>
        <p:spPr>
          <a:xfrm>
            <a:off x="914400" y="3721608"/>
            <a:ext cx="2057400" cy="228600"/>
          </a:xfrm>
          <a:prstGeom prst="rect">
            <a:avLst/>
          </a:prstGeom>
          <a:noFill/>
          <a:ln/>
        </p:spPr>
        <p:txBody>
          <a:bodyPr wrap="square" lIns="0" tIns="0" rIns="0" bIns="0" rtlCol="0" anchor="ctr"/>
          <a:lstStyle/>
          <a:p>
            <a:pPr marL="0" indent="0">
              <a:buNone/>
            </a:pPr>
            <a:r>
              <a:rPr lang="en-US" sz="1100" b="1">
                <a:solidFill>
                  <a:srgbClr val="059669"/>
                </a:solidFill>
                <a:latin typeface="Arial" pitchFamily="34" charset="0"/>
                <a:ea typeface="Arial" pitchFamily="34" charset="-122"/>
                <a:cs typeface="Arial" pitchFamily="34" charset="-120"/>
              </a:rPr>
              <a:t>SUPERIORITÀ SU CHINA</a:t>
            </a:r>
            <a:endParaRPr lang="en-US" sz="1100"/>
          </a:p>
        </p:txBody>
      </p:sp>
      <p:sp>
        <p:nvSpPr>
          <p:cNvPr id="8" name="Text 5"/>
          <p:cNvSpPr txBox="1"/>
          <p:nvPr/>
        </p:nvSpPr>
        <p:spPr>
          <a:xfrm>
            <a:off x="914400" y="3959352"/>
            <a:ext cx="2057400" cy="594360"/>
          </a:xfrm>
          <a:prstGeom prst="rect">
            <a:avLst/>
          </a:prstGeom>
          <a:noFill/>
          <a:ln/>
        </p:spPr>
        <p:txBody>
          <a:bodyPr wrap="square" lIns="0" tIns="0" rIns="0" bIns="0" rtlCol="0" anchor="ctr"/>
          <a:lstStyle/>
          <a:p>
            <a:pPr marL="0" indent="0">
              <a:lnSpc>
                <a:spcPts val="1050"/>
              </a:lnSpc>
              <a:buNone/>
            </a:pPr>
            <a:r>
              <a:rPr lang="en-US" sz="750" err="1">
                <a:solidFill>
                  <a:srgbClr val="334155"/>
                </a:solidFill>
                <a:latin typeface="Arial"/>
                <a:ea typeface="Arial" pitchFamily="34" charset="-122"/>
                <a:cs typeface="Arial"/>
              </a:rPr>
              <a:t>MedAE</a:t>
            </a:r>
            <a:r>
              <a:rPr lang="en-US" sz="750">
                <a:solidFill>
                  <a:srgbClr val="334155"/>
                </a:solidFill>
                <a:latin typeface="Arial"/>
                <a:ea typeface="Arial" pitchFamily="34" charset="-122"/>
                <a:cs typeface="Arial"/>
              </a:rPr>
              <a:t> a 117 h </a:t>
            </a:r>
            <a:r>
              <a:rPr lang="en-US" sz="750" err="1">
                <a:solidFill>
                  <a:srgbClr val="334155"/>
                </a:solidFill>
                <a:latin typeface="Arial"/>
                <a:ea typeface="Arial" pitchFamily="34" charset="-122"/>
                <a:cs typeface="Arial"/>
              </a:rPr>
              <a:t>contro</a:t>
            </a:r>
            <a:r>
              <a:rPr lang="en-US" sz="750">
                <a:solidFill>
                  <a:srgbClr val="334155"/>
                </a:solidFill>
                <a:latin typeface="Arial"/>
                <a:ea typeface="Arial" pitchFamily="34" charset="-122"/>
                <a:cs typeface="Arial"/>
              </a:rPr>
              <a:t> 1758 h di </a:t>
            </a:r>
            <a:r>
              <a:rPr lang="en-US" sz="750" err="1">
                <a:solidFill>
                  <a:srgbClr val="334155"/>
                </a:solidFill>
                <a:latin typeface="Arial"/>
                <a:ea typeface="Arial" pitchFamily="34" charset="-122"/>
                <a:cs typeface="Arial"/>
              </a:rPr>
              <a:t>Di</a:t>
            </a:r>
            <a:r>
              <a:rPr lang="en-US" sz="750">
                <a:solidFill>
                  <a:srgbClr val="334155"/>
                </a:solidFill>
                <a:latin typeface="Arial"/>
                <a:ea typeface="Arial" pitchFamily="34" charset="-122"/>
                <a:cs typeface="Arial"/>
              </a:rPr>
              <a:t> Martino (SLR), 528 h di Random Forest e 227 h di SVM.</a:t>
            </a:r>
            <a:endParaRPr lang="en-US" sz="750">
              <a:latin typeface="Arial"/>
              <a:cs typeface="Arial"/>
            </a:endParaRPr>
          </a:p>
        </p:txBody>
      </p:sp>
      <p:sp>
        <p:nvSpPr>
          <p:cNvPr id="9" name="Shape 6"/>
          <p:cNvSpPr/>
          <p:nvPr/>
        </p:nvSpPr>
        <p:spPr>
          <a:xfrm>
            <a:off x="3355848" y="3611880"/>
            <a:ext cx="2423160" cy="1005840"/>
          </a:xfrm>
          <a:prstGeom prst="roundRect">
            <a:avLst>
              <a:gd name="adj" fmla="val 7273"/>
            </a:avLst>
          </a:prstGeom>
          <a:solidFill>
            <a:srgbClr val="FFFFFF"/>
          </a:solidFill>
          <a:ln w="12700">
            <a:solidFill>
              <a:srgbClr val="2563EB"/>
            </a:solidFill>
            <a:prstDash val="solid"/>
          </a:ln>
        </p:spPr>
        <p:txBody>
          <a:bodyPr/>
          <a:lstStyle/>
          <a:p>
            <a:endParaRPr lang="it-IT"/>
          </a:p>
        </p:txBody>
      </p:sp>
      <p:sp>
        <p:nvSpPr>
          <p:cNvPr id="10" name="Text 7"/>
          <p:cNvSpPr txBox="1"/>
          <p:nvPr/>
        </p:nvSpPr>
        <p:spPr>
          <a:xfrm>
            <a:off x="3538728" y="3721608"/>
            <a:ext cx="2057400" cy="228600"/>
          </a:xfrm>
          <a:prstGeom prst="rect">
            <a:avLst/>
          </a:prstGeom>
          <a:noFill/>
          <a:ln/>
        </p:spPr>
        <p:txBody>
          <a:bodyPr wrap="square" lIns="0" tIns="0" rIns="0" bIns="0" rtlCol="0" anchor="ctr"/>
          <a:lstStyle/>
          <a:p>
            <a:pPr marL="0" indent="0">
              <a:buNone/>
            </a:pPr>
            <a:r>
              <a:rPr lang="en-US" sz="1100" b="1">
                <a:solidFill>
                  <a:srgbClr val="2563EB"/>
                </a:solidFill>
                <a:latin typeface="Arial" pitchFamily="34" charset="0"/>
                <a:ea typeface="Arial" pitchFamily="34" charset="-122"/>
                <a:cs typeface="Arial" pitchFamily="34" charset="-120"/>
              </a:rPr>
              <a:t>DIMEZZATO SU COCOMO</a:t>
            </a:r>
            <a:endParaRPr lang="en-US" sz="1100"/>
          </a:p>
        </p:txBody>
      </p:sp>
      <p:sp>
        <p:nvSpPr>
          <p:cNvPr id="11" name="Text 8"/>
          <p:cNvSpPr txBox="1"/>
          <p:nvPr/>
        </p:nvSpPr>
        <p:spPr>
          <a:xfrm>
            <a:off x="3538728" y="3959352"/>
            <a:ext cx="2057400" cy="594360"/>
          </a:xfrm>
          <a:prstGeom prst="rect">
            <a:avLst/>
          </a:prstGeom>
          <a:noFill/>
          <a:ln/>
        </p:spPr>
        <p:txBody>
          <a:bodyPr wrap="square" lIns="0" tIns="0" rIns="0" bIns="0" rtlCol="0" anchor="ctr"/>
          <a:lstStyle/>
          <a:p>
            <a:pPr>
              <a:lnSpc>
                <a:spcPts val="1050"/>
              </a:lnSpc>
            </a:pPr>
            <a:r>
              <a:rPr lang="en-US" sz="750" err="1">
                <a:solidFill>
                  <a:srgbClr val="334155"/>
                </a:solidFill>
                <a:latin typeface="Arial"/>
                <a:ea typeface="Arial" pitchFamily="34" charset="-122"/>
                <a:cs typeface="Arial"/>
              </a:rPr>
              <a:t>MedAE</a:t>
            </a:r>
            <a:r>
              <a:rPr lang="en-US" sz="750">
                <a:solidFill>
                  <a:srgbClr val="334155"/>
                </a:solidFill>
                <a:latin typeface="Arial"/>
                <a:ea typeface="Arial" pitchFamily="34" charset="-122"/>
                <a:cs typeface="Arial"/>
              </a:rPr>
              <a:t> a 79 </a:t>
            </a:r>
            <a:r>
              <a:rPr lang="en-US" sz="750" err="1">
                <a:solidFill>
                  <a:srgbClr val="334155"/>
                </a:solidFill>
                <a:latin typeface="Arial"/>
                <a:ea typeface="Arial" pitchFamily="34" charset="-122"/>
                <a:cs typeface="Arial"/>
              </a:rPr>
              <a:t>mesi</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contro</a:t>
            </a:r>
            <a:r>
              <a:rPr lang="en-US" sz="750">
                <a:solidFill>
                  <a:srgbClr val="334155"/>
                </a:solidFill>
                <a:latin typeface="Arial"/>
                <a:ea typeface="Arial" pitchFamily="34" charset="-122"/>
                <a:cs typeface="Arial"/>
              </a:rPr>
              <a:t> 186 m di SLR, 196 m della Random Forest e 162 m delle SVM. Il </a:t>
            </a:r>
            <a:r>
              <a:rPr lang="en-US" sz="750" err="1">
                <a:solidFill>
                  <a:srgbClr val="334155"/>
                </a:solidFill>
                <a:latin typeface="Arial"/>
                <a:ea typeface="Arial" pitchFamily="34" charset="-122"/>
                <a:cs typeface="Arial"/>
              </a:rPr>
              <a:t>modello</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domina</a:t>
            </a:r>
            <a:r>
              <a:rPr lang="en-US" sz="750">
                <a:solidFill>
                  <a:srgbClr val="334155"/>
                </a:solidFill>
                <a:latin typeface="Arial"/>
                <a:ea typeface="Arial" pitchFamily="34" charset="-122"/>
                <a:cs typeface="Arial"/>
              </a:rPr>
              <a:t> sui dataset </a:t>
            </a:r>
            <a:r>
              <a:rPr lang="en-US" sz="750" err="1">
                <a:solidFill>
                  <a:srgbClr val="334155"/>
                </a:solidFill>
                <a:latin typeface="Arial"/>
                <a:ea typeface="Arial" pitchFamily="34" charset="-122"/>
                <a:cs typeface="Arial"/>
              </a:rPr>
              <a:t>più</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grandi</a:t>
            </a:r>
            <a:r>
              <a:rPr lang="en-US" sz="750">
                <a:solidFill>
                  <a:srgbClr val="334155"/>
                </a:solidFill>
                <a:latin typeface="Arial"/>
                <a:ea typeface="Arial" pitchFamily="34" charset="-122"/>
                <a:cs typeface="Arial"/>
              </a:rPr>
              <a:t>.</a:t>
            </a:r>
            <a:endParaRPr lang="en-US" sz="750">
              <a:latin typeface="Arial"/>
              <a:cs typeface="Arial"/>
            </a:endParaRPr>
          </a:p>
        </p:txBody>
      </p:sp>
      <p:sp>
        <p:nvSpPr>
          <p:cNvPr id="12" name="Shape 9"/>
          <p:cNvSpPr/>
          <p:nvPr/>
        </p:nvSpPr>
        <p:spPr>
          <a:xfrm>
            <a:off x="5989320" y="3611880"/>
            <a:ext cx="2423160" cy="1005840"/>
          </a:xfrm>
          <a:prstGeom prst="roundRect">
            <a:avLst>
              <a:gd name="adj" fmla="val 7273"/>
            </a:avLst>
          </a:prstGeom>
          <a:solidFill>
            <a:srgbClr val="FFFFFF"/>
          </a:solidFill>
          <a:ln w="12700">
            <a:solidFill>
              <a:srgbClr val="CBD5E1"/>
            </a:solidFill>
            <a:prstDash val="solid"/>
          </a:ln>
        </p:spPr>
        <p:txBody>
          <a:bodyPr/>
          <a:lstStyle/>
          <a:p>
            <a:endParaRPr lang="it-IT"/>
          </a:p>
        </p:txBody>
      </p:sp>
      <p:sp>
        <p:nvSpPr>
          <p:cNvPr id="5" name="Text 10"/>
          <p:cNvSpPr txBox="1"/>
          <p:nvPr/>
        </p:nvSpPr>
        <p:spPr>
          <a:xfrm>
            <a:off x="6172200" y="3721608"/>
            <a:ext cx="2057400" cy="228600"/>
          </a:xfrm>
          <a:prstGeom prst="rect">
            <a:avLst/>
          </a:prstGeom>
          <a:noFill/>
          <a:ln/>
        </p:spPr>
        <p:txBody>
          <a:bodyPr wrap="square" lIns="0" tIns="0" rIns="0" bIns="0" rtlCol="0" anchor="ctr"/>
          <a:lstStyle/>
          <a:p>
            <a:pPr marL="0" indent="0">
              <a:buNone/>
            </a:pPr>
            <a:r>
              <a:rPr lang="en-US" sz="1100" b="1">
                <a:solidFill>
                  <a:srgbClr val="0F2744"/>
                </a:solidFill>
                <a:latin typeface="Arial" pitchFamily="34" charset="0"/>
                <a:ea typeface="Arial" pitchFamily="34" charset="-122"/>
                <a:cs typeface="Arial" pitchFamily="34" charset="-120"/>
              </a:rPr>
              <a:t>ACCURATEZZA SA SOTA</a:t>
            </a:r>
            <a:endParaRPr lang="en-US" sz="1100"/>
          </a:p>
        </p:txBody>
      </p:sp>
      <p:sp>
        <p:nvSpPr>
          <p:cNvPr id="14" name="Text 11"/>
          <p:cNvSpPr txBox="1"/>
          <p:nvPr/>
        </p:nvSpPr>
        <p:spPr>
          <a:xfrm>
            <a:off x="6172200" y="3959352"/>
            <a:ext cx="2057400" cy="594360"/>
          </a:xfrm>
          <a:prstGeom prst="rect">
            <a:avLst/>
          </a:prstGeom>
          <a:noFill/>
          <a:ln/>
        </p:spPr>
        <p:txBody>
          <a:bodyPr wrap="square" lIns="0" tIns="0" rIns="0" bIns="0" rtlCol="0" anchor="ctr"/>
          <a:lstStyle/>
          <a:p>
            <a:pPr marL="0" indent="0">
              <a:lnSpc>
                <a:spcPts val="1050"/>
              </a:lnSpc>
              <a:buNone/>
            </a:pPr>
            <a:r>
              <a:rPr lang="en-US" sz="750">
                <a:solidFill>
                  <a:srgbClr val="334155"/>
                </a:solidFill>
                <a:latin typeface="Arial"/>
                <a:ea typeface="Arial" pitchFamily="34" charset="-122"/>
                <a:cs typeface="Arial"/>
              </a:rPr>
              <a:t>Standardized Accuracy all'83% </a:t>
            </a:r>
            <a:r>
              <a:rPr lang="en-US" sz="750" err="1">
                <a:solidFill>
                  <a:srgbClr val="334155"/>
                </a:solidFill>
                <a:latin typeface="Arial"/>
                <a:ea typeface="Arial" pitchFamily="34" charset="-122"/>
                <a:cs typeface="Arial"/>
              </a:rPr>
              <a:t>su</a:t>
            </a:r>
            <a:r>
              <a:rPr lang="en-US" sz="750">
                <a:solidFill>
                  <a:srgbClr val="334155"/>
                </a:solidFill>
                <a:latin typeface="Arial"/>
                <a:ea typeface="Arial" pitchFamily="34" charset="-122"/>
                <a:cs typeface="Arial"/>
              </a:rPr>
              <a:t> China: </a:t>
            </a:r>
            <a:r>
              <a:rPr lang="en-US" sz="750" err="1">
                <a:solidFill>
                  <a:srgbClr val="334155"/>
                </a:solidFill>
                <a:latin typeface="Arial"/>
                <a:ea typeface="Arial" pitchFamily="34" charset="-122"/>
                <a:cs typeface="Arial"/>
              </a:rPr>
              <a:t>netto</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distacco</a:t>
            </a:r>
            <a:r>
              <a:rPr lang="en-US" sz="750">
                <a:solidFill>
                  <a:srgbClr val="334155"/>
                </a:solidFill>
                <a:latin typeface="Arial"/>
                <a:ea typeface="Arial" pitchFamily="34" charset="-122"/>
                <a:cs typeface="Arial"/>
              </a:rPr>
              <a:t> da tutti </a:t>
            </a:r>
            <a:r>
              <a:rPr lang="en-US" sz="750" err="1">
                <a:solidFill>
                  <a:srgbClr val="334155"/>
                </a:solidFill>
                <a:latin typeface="Arial"/>
                <a:ea typeface="Arial" pitchFamily="34" charset="-122"/>
                <a:cs typeface="Arial"/>
              </a:rPr>
              <a:t>i</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modelli</a:t>
            </a:r>
            <a:r>
              <a:rPr lang="en-US" sz="750">
                <a:solidFill>
                  <a:srgbClr val="334155"/>
                </a:solidFill>
                <a:latin typeface="Arial"/>
                <a:ea typeface="Arial" pitchFamily="34" charset="-122"/>
                <a:cs typeface="Arial"/>
              </a:rPr>
              <a:t> </a:t>
            </a:r>
            <a:r>
              <a:rPr lang="en-US" sz="750" err="1">
                <a:solidFill>
                  <a:srgbClr val="334155"/>
                </a:solidFill>
                <a:latin typeface="Arial"/>
                <a:ea typeface="Arial" pitchFamily="34" charset="-122"/>
                <a:cs typeface="Arial"/>
              </a:rPr>
              <a:t>classici</a:t>
            </a:r>
            <a:r>
              <a:rPr lang="en-US" sz="750">
                <a:solidFill>
                  <a:srgbClr val="334155"/>
                </a:solidFill>
                <a:latin typeface="Arial"/>
                <a:ea typeface="Arial" pitchFamily="34" charset="-122"/>
                <a:cs typeface="Arial"/>
              </a:rPr>
              <a:t>.</a:t>
            </a:r>
            <a:endParaRPr lang="en-US" sz="75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ANALISI METODOLOGICA DEI RESIDUI</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a:solidFill>
                  <a:srgbClr val="0F2744"/>
                </a:solidFill>
                <a:latin typeface="Arial" pitchFamily="34" charset="0"/>
                <a:ea typeface="Arial" pitchFamily="34" charset="-122"/>
                <a:cs typeface="Arial" pitchFamily="34" charset="-120"/>
              </a:rPr>
              <a:t>La Metrica Onesta: Perché MedAE Supera il MAE</a:t>
            </a:r>
            <a:endParaRPr lang="en-US" sz="1850"/>
          </a:p>
        </p:txBody>
      </p:sp>
      <p:sp>
        <p:nvSpPr>
          <p:cNvPr id="4" name="Shape 2"/>
          <p:cNvSpPr/>
          <p:nvPr/>
        </p:nvSpPr>
        <p:spPr>
          <a:xfrm>
            <a:off x="731520" y="1051560"/>
            <a:ext cx="3749040" cy="3566160"/>
          </a:xfrm>
          <a:prstGeom prst="roundRect">
            <a:avLst>
              <a:gd name="adj" fmla="val 2051"/>
            </a:avLst>
          </a:prstGeom>
          <a:solidFill>
            <a:srgbClr val="FFFFFF"/>
          </a:solidFill>
          <a:ln w="12700">
            <a:solidFill>
              <a:srgbClr val="CBD5E1"/>
            </a:solidFill>
            <a:prstDash val="solid"/>
          </a:ln>
        </p:spPr>
        <p:txBody>
          <a:bodyPr/>
          <a:lstStyle/>
          <a:p>
            <a:endParaRPr lang="it-IT"/>
          </a:p>
        </p:txBody>
      </p:sp>
      <p:sp>
        <p:nvSpPr>
          <p:cNvPr id="5" name="Text 3"/>
          <p:cNvSpPr txBox="1"/>
          <p:nvPr/>
        </p:nvSpPr>
        <p:spPr>
          <a:xfrm>
            <a:off x="914400" y="1234440"/>
            <a:ext cx="3383280" cy="182880"/>
          </a:xfrm>
          <a:prstGeom prst="rect">
            <a:avLst/>
          </a:prstGeom>
          <a:noFill/>
          <a:ln/>
        </p:spPr>
        <p:txBody>
          <a:bodyPr wrap="square" lIns="0" tIns="0" rIns="0" bIns="0" rtlCol="0" anchor="ctr"/>
          <a:lstStyle/>
          <a:p>
            <a:pPr marL="0" indent="0">
              <a:buNone/>
            </a:pPr>
            <a:r>
              <a:rPr lang="en-US" sz="800" b="1">
                <a:solidFill>
                  <a:srgbClr val="DC2626"/>
                </a:solidFill>
                <a:latin typeface="Arial" pitchFamily="34" charset="0"/>
                <a:ea typeface="Arial" pitchFamily="34" charset="-122"/>
                <a:cs typeface="Arial" pitchFamily="34" charset="-120"/>
              </a:rPr>
              <a:t>L'INGANNO DELLA MEDIA NELLA SDEE</a:t>
            </a:r>
            <a:endParaRPr lang="en-US" sz="800"/>
          </a:p>
        </p:txBody>
      </p:sp>
      <p:sp>
        <p:nvSpPr>
          <p:cNvPr id="6" name="Text 4"/>
          <p:cNvSpPr txBox="1"/>
          <p:nvPr/>
        </p:nvSpPr>
        <p:spPr>
          <a:xfrm>
            <a:off x="914400" y="1444752"/>
            <a:ext cx="3383280" cy="274320"/>
          </a:xfrm>
          <a:prstGeom prst="rect">
            <a:avLst/>
          </a:prstGeom>
          <a:noFill/>
          <a:ln/>
        </p:spPr>
        <p:txBody>
          <a:bodyPr wrap="square" lIns="0" tIns="0" rIns="0" bIns="0" rtlCol="0" anchor="ctr"/>
          <a:lstStyle/>
          <a:p>
            <a:pPr marL="0" indent="0">
              <a:buNone/>
            </a:pPr>
            <a:r>
              <a:rPr lang="en-US" sz="1300" b="1">
                <a:solidFill>
                  <a:srgbClr val="0F2744"/>
                </a:solidFill>
                <a:latin typeface="Arial" pitchFamily="34" charset="0"/>
                <a:ea typeface="Arial" pitchFamily="34" charset="-122"/>
                <a:cs typeface="Arial" pitchFamily="34" charset="-120"/>
              </a:rPr>
              <a:t>5 Progetti Generano il 67% dell'Errore</a:t>
            </a:r>
            <a:endParaRPr lang="en-US" sz="1300"/>
          </a:p>
        </p:txBody>
      </p:sp>
      <p:sp>
        <p:nvSpPr>
          <p:cNvPr id="7" name="Text 5"/>
          <p:cNvSpPr txBox="1"/>
          <p:nvPr/>
        </p:nvSpPr>
        <p:spPr>
          <a:xfrm>
            <a:off x="914400" y="1783080"/>
            <a:ext cx="3383280" cy="2651760"/>
          </a:xfrm>
          <a:prstGeom prst="rect">
            <a:avLst/>
          </a:prstGeom>
          <a:noFill/>
          <a:ln/>
        </p:spPr>
        <p:txBody>
          <a:bodyPr wrap="square" lIns="0" tIns="0" rIns="0" bIns="0" rtlCol="0" anchor="t"/>
          <a:lstStyle/>
          <a:p>
            <a:pPr marL="0" indent="0">
              <a:lnSpc>
                <a:spcPts val="1200"/>
              </a:lnSpc>
              <a:buNone/>
            </a:pPr>
            <a:r>
              <a:rPr lang="en-US" sz="850">
                <a:solidFill>
                  <a:srgbClr val="334155"/>
                </a:solidFill>
                <a:latin typeface="Arial" pitchFamily="34" charset="0"/>
                <a:ea typeface="Arial" pitchFamily="34" charset="-122"/>
                <a:cs typeface="Arial" pitchFamily="34" charset="-120"/>
              </a:rPr>
              <a:t>Analizzando le predizioni fold per fold, abbiamo scoperto un fenomeno metodologico cruciale che la letteratura spesso nasconde:</a:t>
            </a:r>
            <a:endParaRPr lang="en-US" sz="850"/>
          </a:p>
          <a:p>
            <a:pPr marL="0" indent="0">
              <a:lnSpc>
                <a:spcPts val="1200"/>
              </a:lnSpc>
              <a:buNone/>
            </a:pPr>
            <a:endParaRPr lang="en-US" sz="850"/>
          </a:p>
          <a:p>
            <a:pPr marL="0" indent="0">
              <a:lnSpc>
                <a:spcPts val="1200"/>
              </a:lnSpc>
              <a:buNone/>
            </a:pPr>
            <a:r>
              <a:rPr lang="en-US" sz="850">
                <a:solidFill>
                  <a:srgbClr val="334155"/>
                </a:solidFill>
                <a:latin typeface="Arial" pitchFamily="34" charset="0"/>
                <a:ea typeface="Arial" pitchFamily="34" charset="-122"/>
                <a:cs typeface="Arial" pitchFamily="34" charset="-120"/>
              </a:rPr>
              <a:t>• Su COCOMO-81 (N=63 progetti):</a:t>
            </a:r>
            <a:endParaRPr lang="en-US" sz="850"/>
          </a:p>
          <a:p>
            <a:pPr marL="0" indent="0">
              <a:lnSpc>
                <a:spcPts val="1200"/>
              </a:lnSpc>
              <a:buNone/>
            </a:pPr>
            <a:r>
              <a:rPr lang="en-US" sz="850">
                <a:solidFill>
                  <a:srgbClr val="334155"/>
                </a:solidFill>
                <a:latin typeface="Arial" pitchFamily="34" charset="0"/>
                <a:ea typeface="Arial" pitchFamily="34" charset="-122"/>
                <a:cs typeface="Arial" pitchFamily="34" charset="-120"/>
              </a:rPr>
              <a:t>  L'errore assoluto totale sommato è di 37.086 mesi-uomo.</a:t>
            </a:r>
            <a:endParaRPr lang="en-US" sz="850"/>
          </a:p>
          <a:p>
            <a:pPr marL="0" indent="0">
              <a:lnSpc>
                <a:spcPts val="1200"/>
              </a:lnSpc>
              <a:buNone/>
            </a:pPr>
            <a:r>
              <a:rPr lang="en-US" sz="850">
                <a:solidFill>
                  <a:srgbClr val="334155"/>
                </a:solidFill>
                <a:latin typeface="Arial" pitchFamily="34" charset="0"/>
                <a:ea typeface="Arial" pitchFamily="34" charset="-122"/>
                <a:cs typeface="Arial" pitchFamily="34" charset="-120"/>
              </a:rPr>
              <a:t>  Soli 5 progetti su 63 sono responsabili del 67.4% di tutto l'errore!</a:t>
            </a:r>
            <a:endParaRPr lang="en-US" sz="850"/>
          </a:p>
          <a:p>
            <a:pPr marL="0" indent="0">
              <a:lnSpc>
                <a:spcPts val="1200"/>
              </a:lnSpc>
              <a:buNone/>
            </a:pPr>
            <a:r>
              <a:rPr lang="en-US" sz="850">
                <a:solidFill>
                  <a:srgbClr val="334155"/>
                </a:solidFill>
                <a:latin typeface="Arial" pitchFamily="34" charset="0"/>
                <a:ea typeface="Arial" pitchFamily="34" charset="-122"/>
                <a:cs typeface="Arial" pitchFamily="34" charset="-120"/>
              </a:rPr>
              <a:t>  In particolare, un singolo mega-progetto (11.400 mesi) produce da solo un residuo di 10.951 mesi-uomo.</a:t>
            </a:r>
            <a:endParaRPr lang="en-US" sz="850"/>
          </a:p>
          <a:p>
            <a:pPr marL="0" indent="0">
              <a:lnSpc>
                <a:spcPts val="1200"/>
              </a:lnSpc>
              <a:buNone/>
            </a:pPr>
            <a:endParaRPr lang="en-US" sz="850"/>
          </a:p>
          <a:p>
            <a:pPr marL="0" indent="0">
              <a:lnSpc>
                <a:spcPts val="1200"/>
              </a:lnSpc>
              <a:buNone/>
            </a:pPr>
            <a:r>
              <a:rPr lang="en-US" sz="850">
                <a:solidFill>
                  <a:srgbClr val="334155"/>
                </a:solidFill>
                <a:latin typeface="Arial" pitchFamily="34" charset="0"/>
                <a:ea typeface="Arial" pitchFamily="34" charset="-122"/>
                <a:cs typeface="Arial" pitchFamily="34" charset="-120"/>
              </a:rPr>
              <a:t>• Su China (N=499 progetti):</a:t>
            </a:r>
            <a:endParaRPr lang="en-US" sz="850"/>
          </a:p>
          <a:p>
            <a:pPr marL="0" indent="0">
              <a:lnSpc>
                <a:spcPts val="1200"/>
              </a:lnSpc>
              <a:buNone/>
            </a:pPr>
            <a:r>
              <a:rPr lang="en-US" sz="850">
                <a:solidFill>
                  <a:srgbClr val="334155"/>
                </a:solidFill>
                <a:latin typeface="Arial" pitchFamily="34" charset="0"/>
                <a:ea typeface="Arial" pitchFamily="34" charset="-122"/>
                <a:cs typeface="Arial" pitchFamily="34" charset="-120"/>
              </a:rPr>
              <a:t>  Un singolo macro-progetto da 54.620 ore causa 47.677 ore di errore isolato, portando il MAE medio a 817 ore.</a:t>
            </a:r>
            <a:endParaRPr lang="en-US" sz="850"/>
          </a:p>
          <a:p>
            <a:pPr marL="0" indent="0">
              <a:lnSpc>
                <a:spcPts val="1200"/>
              </a:lnSpc>
              <a:buNone/>
            </a:pPr>
            <a:endParaRPr lang="en-US" sz="850"/>
          </a:p>
          <a:p>
            <a:pPr marL="0" indent="0">
              <a:lnSpc>
                <a:spcPts val="1200"/>
              </a:lnSpc>
              <a:buNone/>
            </a:pPr>
            <a:r>
              <a:rPr lang="en-US" sz="850">
                <a:solidFill>
                  <a:srgbClr val="334155"/>
                </a:solidFill>
                <a:latin typeface="Arial" pitchFamily="34" charset="0"/>
                <a:ea typeface="Arial" pitchFamily="34" charset="-122"/>
                <a:cs typeface="Arial" pitchFamily="34" charset="-120"/>
              </a:rPr>
              <a:t>La Mediana dell'Errore (MedAE) sterilizza questi estremi e si attesta a 117 ore reali!</a:t>
            </a:r>
            <a:endParaRPr lang="en-US" sz="850"/>
          </a:p>
        </p:txBody>
      </p:sp>
      <p:graphicFrame>
        <p:nvGraphicFramePr>
          <p:cNvPr id="8" name="Chart 0"/>
          <p:cNvGraphicFramePr/>
          <p:nvPr>
            <p:extLst>
              <p:ext uri="{D42A27DB-BD31-4B8C-83A1-F6EECF244321}">
                <p14:modId xmlns:p14="http://schemas.microsoft.com/office/powerpoint/2010/main" val="3012923515"/>
              </p:ext>
            </p:extLst>
          </p:nvPr>
        </p:nvGraphicFramePr>
        <p:xfrm>
          <a:off x="4709160" y="1051560"/>
          <a:ext cx="370332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4709160" y="3611880"/>
            <a:ext cx="3703320" cy="1005840"/>
          </a:xfrm>
          <a:prstGeom prst="roundRect">
            <a:avLst>
              <a:gd name="adj" fmla="val 7273"/>
            </a:avLst>
          </a:prstGeom>
          <a:solidFill>
            <a:srgbClr val="FFFFFF"/>
          </a:solidFill>
          <a:ln w="15240">
            <a:solidFill>
              <a:srgbClr val="2563EB"/>
            </a:solidFill>
            <a:prstDash val="solid"/>
          </a:ln>
        </p:spPr>
        <p:txBody>
          <a:bodyPr/>
          <a:lstStyle/>
          <a:p>
            <a:endParaRPr lang="it-IT"/>
          </a:p>
        </p:txBody>
      </p:sp>
      <p:sp>
        <p:nvSpPr>
          <p:cNvPr id="10" name="Text 7"/>
          <p:cNvSpPr txBox="1"/>
          <p:nvPr/>
        </p:nvSpPr>
        <p:spPr>
          <a:xfrm>
            <a:off x="4846320" y="3730752"/>
            <a:ext cx="3429000" cy="182880"/>
          </a:xfrm>
          <a:prstGeom prst="rect">
            <a:avLst/>
          </a:prstGeom>
          <a:noFill/>
          <a:ln/>
        </p:spPr>
        <p:txBody>
          <a:bodyPr wrap="square" lIns="0" tIns="0" rIns="0" bIns="0" rtlCol="0" anchor="ctr"/>
          <a:lstStyle/>
          <a:p>
            <a:pPr marL="0" indent="0">
              <a:buNone/>
            </a:pPr>
            <a:r>
              <a:rPr lang="en-US" sz="800" b="1">
                <a:solidFill>
                  <a:srgbClr val="2563EB"/>
                </a:solidFill>
                <a:latin typeface="Arial" pitchFamily="34" charset="0"/>
                <a:ea typeface="Arial" pitchFamily="34" charset="-122"/>
                <a:cs typeface="Arial" pitchFamily="34" charset="-120"/>
              </a:rPr>
              <a:t>CONCLUSIONI METODOLOGICHE PER IL MANAGER:</a:t>
            </a:r>
            <a:endParaRPr lang="en-US" sz="800"/>
          </a:p>
        </p:txBody>
      </p:sp>
      <p:sp>
        <p:nvSpPr>
          <p:cNvPr id="11" name="Text 8"/>
          <p:cNvSpPr txBox="1"/>
          <p:nvPr/>
        </p:nvSpPr>
        <p:spPr>
          <a:xfrm>
            <a:off x="4846320" y="3931920"/>
            <a:ext cx="3429000" cy="594360"/>
          </a:xfrm>
          <a:prstGeom prst="rect">
            <a:avLst/>
          </a:prstGeom>
          <a:noFill/>
          <a:ln/>
        </p:spPr>
        <p:txBody>
          <a:bodyPr wrap="square" lIns="0" tIns="0" rIns="0" bIns="0" rtlCol="0" anchor="ctr"/>
          <a:lstStyle/>
          <a:p>
            <a:pPr marL="0" indent="0">
              <a:lnSpc>
                <a:spcPts val="1150"/>
              </a:lnSpc>
              <a:buNone/>
            </a:pPr>
            <a:r>
              <a:rPr lang="en-US" sz="820">
                <a:solidFill>
                  <a:srgbClr val="0F2744"/>
                </a:solidFill>
                <a:latin typeface="Arial" pitchFamily="34" charset="0"/>
                <a:ea typeface="Arial" pitchFamily="34" charset="-122"/>
                <a:cs typeface="Arial" pitchFamily="34" charset="-120"/>
              </a:rPr>
              <a:t>Valutare la Software Effort Estimation solo col MAE è scientificamente fuorviante: misura l'errore dei 2 progetti più anomali dell'azienda. La MedAE descrive fedelmente l'esperienza del PM sul 90%+ dei progetti ordinari.</a:t>
            </a:r>
            <a:endParaRPr lang="en-US" sz="82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55" name="Shape 2">
            <a:extLst>
              <a:ext uri="{FF2B5EF4-FFF2-40B4-BE49-F238E27FC236}">
                <a16:creationId xmlns:a16="http://schemas.microsoft.com/office/drawing/2014/main" id="{72867D24-A395-84FF-B2AF-E9599363EE7A}"/>
              </a:ext>
            </a:extLst>
          </p:cNvPr>
          <p:cNvSpPr/>
          <p:nvPr/>
        </p:nvSpPr>
        <p:spPr>
          <a:xfrm>
            <a:off x="731520" y="1104900"/>
            <a:ext cx="2148840" cy="2720340"/>
          </a:xfrm>
          <a:prstGeom prst="roundRect">
            <a:avLst>
              <a:gd name="adj" fmla="val 3019"/>
            </a:avLst>
          </a:prstGeom>
          <a:solidFill>
            <a:schemeClr val="bg1"/>
          </a:solidFill>
          <a:ln w="12700">
            <a:solidFill>
              <a:srgbClr val="CBD5E1"/>
            </a:solidFill>
            <a:prstDash val="solid"/>
          </a:ln>
        </p:spPr>
        <p:txBody>
          <a:bodyPr/>
          <a:lstStyle/>
          <a:p>
            <a:endParaRPr lang="it-IT"/>
          </a:p>
        </p:txBody>
      </p:sp>
      <p:sp>
        <p:nvSpPr>
          <p:cNvPr id="56" name="Shape 2">
            <a:extLst>
              <a:ext uri="{FF2B5EF4-FFF2-40B4-BE49-F238E27FC236}">
                <a16:creationId xmlns:a16="http://schemas.microsoft.com/office/drawing/2014/main" id="{162495C1-8554-8E67-4C0D-7BFB9FA9C0D8}"/>
              </a:ext>
            </a:extLst>
          </p:cNvPr>
          <p:cNvSpPr/>
          <p:nvPr/>
        </p:nvSpPr>
        <p:spPr>
          <a:xfrm>
            <a:off x="5532119" y="1120140"/>
            <a:ext cx="2880360" cy="2720340"/>
          </a:xfrm>
          <a:prstGeom prst="roundRect">
            <a:avLst>
              <a:gd name="adj" fmla="val 3019"/>
            </a:avLst>
          </a:prstGeom>
          <a:solidFill>
            <a:schemeClr val="bg1"/>
          </a:solidFill>
          <a:ln w="12700">
            <a:solidFill>
              <a:srgbClr val="93C5FD"/>
            </a:solidFill>
            <a:prstDash val="solid"/>
          </a:ln>
        </p:spPr>
        <p:txBody>
          <a:bodyPr/>
          <a:lstStyle/>
          <a:p>
            <a:endParaRPr lang="it-IT"/>
          </a:p>
        </p:txBody>
      </p:sp>
      <p:sp>
        <p:nvSpPr>
          <p:cNvPr id="46" name="Rounded Rectangle 26"/>
          <p:cNvSpPr/>
          <p:nvPr/>
        </p:nvSpPr>
        <p:spPr>
          <a:xfrm>
            <a:off x="5641848" y="2744796"/>
            <a:ext cx="2660904" cy="1024128"/>
          </a:xfrm>
          <a:prstGeom prst="roundRect">
            <a:avLst>
              <a:gd name="adj" fmla="val 9581"/>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Shape 2">
            <a:extLst>
              <a:ext uri="{FF2B5EF4-FFF2-40B4-BE49-F238E27FC236}">
                <a16:creationId xmlns:a16="http://schemas.microsoft.com/office/drawing/2014/main" id="{68473868-0755-8C53-A095-C769D7CB6AEA}"/>
              </a:ext>
            </a:extLst>
          </p:cNvPr>
          <p:cNvSpPr/>
          <p:nvPr/>
        </p:nvSpPr>
        <p:spPr>
          <a:xfrm>
            <a:off x="3246120" y="1120140"/>
            <a:ext cx="1965960" cy="2720340"/>
          </a:xfrm>
          <a:prstGeom prst="roundRect">
            <a:avLst>
              <a:gd name="adj" fmla="val 3019"/>
            </a:avLst>
          </a:prstGeom>
          <a:noFill/>
          <a:ln w="12700">
            <a:solidFill>
              <a:srgbClr val="CBD5E1"/>
            </a:solidFill>
            <a:prstDash val="solid"/>
          </a:ln>
        </p:spPr>
        <p:txBody>
          <a:bodyPr/>
          <a:lstStyle/>
          <a:p>
            <a:endParaRPr lang="it-IT"/>
          </a:p>
        </p:txBody>
      </p:sp>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DELIVERABLE INGEGNERISTICO</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a:defRPr sz="2200" b="1">
                <a:solidFill>
                  <a:srgbClr val="0F2744"/>
                </a:solidFill>
                <a:latin typeface="Arial"/>
              </a:defRPr>
            </a:pPr>
            <a:r>
              <a:t>Architettura del Prototipo Web a Doppio Motore</a:t>
            </a:r>
          </a:p>
        </p:txBody>
      </p:sp>
      <p:sp>
        <p:nvSpPr>
          <p:cNvPr id="4" name="TextBox 3"/>
          <p:cNvSpPr txBox="1"/>
          <p:nvPr/>
        </p:nvSpPr>
        <p:spPr>
          <a:xfrm>
            <a:off x="731520" y="868680"/>
            <a:ext cx="7680960" cy="219456"/>
          </a:xfrm>
          <a:prstGeom prst="rect">
            <a:avLst/>
          </a:prstGeom>
          <a:noFill/>
        </p:spPr>
        <p:txBody>
          <a:bodyPr wrap="square" lIns="0" tIns="0" rIns="0" bIns="0">
            <a:spAutoFit/>
          </a:bodyPr>
          <a:lstStyle/>
          <a:p>
            <a:pPr>
              <a:defRPr sz="1000">
                <a:solidFill>
                  <a:srgbClr val="64748B"/>
                </a:solidFill>
                <a:latin typeface="Arial"/>
              </a:defRPr>
            </a:pPr>
            <a:r>
              <a:t>Workflow di stima in tempo reale (&lt; 5 ms): dall'immissione delle metriche funzionali al confronto dual-engine</a:t>
            </a:r>
          </a:p>
        </p:txBody>
      </p:sp>
      <p:sp>
        <p:nvSpPr>
          <p:cNvPr id="6" name="TextBox 5"/>
          <p:cNvSpPr txBox="1"/>
          <p:nvPr/>
        </p:nvSpPr>
        <p:spPr>
          <a:xfrm>
            <a:off x="841248" y="1216152"/>
            <a:ext cx="1929384" cy="457200"/>
          </a:xfrm>
          <a:prstGeom prst="rect">
            <a:avLst/>
          </a:prstGeom>
          <a:noFill/>
        </p:spPr>
        <p:txBody>
          <a:bodyPr wrap="square" lIns="0" tIns="0" rIns="0" bIns="0">
            <a:spAutoFit/>
          </a:bodyPr>
          <a:lstStyle/>
          <a:p>
            <a:pPr>
              <a:defRPr sz="850" b="1">
                <a:solidFill>
                  <a:srgbClr val="2563EB"/>
                </a:solidFill>
                <a:latin typeface="Arial"/>
              </a:defRPr>
            </a:pPr>
            <a:r>
              <a:t>CLIENT LAYER · FRONTEND</a:t>
            </a:r>
          </a:p>
          <a:p>
            <a:pPr>
              <a:defRPr sz="1150" b="1">
                <a:solidFill>
                  <a:srgbClr val="0F2744"/>
                </a:solidFill>
                <a:latin typeface="Arial"/>
              </a:defRPr>
            </a:pPr>
            <a:r>
              <a:t>Dashboard Web Interattiva</a:t>
            </a:r>
          </a:p>
        </p:txBody>
      </p:sp>
      <p:sp>
        <p:nvSpPr>
          <p:cNvPr id="7" name="Rounded Rectangle 6"/>
          <p:cNvSpPr/>
          <p:nvPr/>
        </p:nvSpPr>
        <p:spPr>
          <a:xfrm>
            <a:off x="841248" y="1702962"/>
            <a:ext cx="1929384" cy="960120"/>
          </a:xfrm>
          <a:prstGeom prst="roundRect">
            <a:avLst>
              <a:gd name="adj" fmla="val 7597"/>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01368"/>
            <a:ext cx="1783080" cy="841248"/>
          </a:xfrm>
          <a:prstGeom prst="rect">
            <a:avLst/>
          </a:prstGeom>
          <a:noFill/>
        </p:spPr>
        <p:txBody>
          <a:bodyPr wrap="square" lIns="0" tIns="0" rIns="0" bIns="0">
            <a:spAutoFit/>
          </a:bodyPr>
          <a:lstStyle/>
          <a:p>
            <a:pPr>
              <a:defRPr sz="950" b="1">
                <a:solidFill>
                  <a:srgbClr val="1E293B"/>
                </a:solidFill>
                <a:latin typeface="Arial"/>
              </a:defRPr>
            </a:pPr>
            <a:r>
              <a:t>Input Metriche Funzionali</a:t>
            </a:r>
          </a:p>
          <a:p>
            <a:pPr>
              <a:defRPr sz="800">
                <a:solidFill>
                  <a:srgbClr val="334155"/>
                </a:solidFill>
                <a:latin typeface="Arial"/>
              </a:defRPr>
            </a:pPr>
            <a:r>
              <a:t>• 5 FP IFPUG (EI, EO, EQ, ILF, EIF)</a:t>
            </a:r>
          </a:p>
          <a:p>
            <a:pPr>
              <a:defRPr sz="800">
                <a:solidFill>
                  <a:srgbClr val="334155"/>
                </a:solidFill>
                <a:latin typeface="Arial"/>
              </a:defRPr>
            </a:pPr>
            <a:r>
              <a:t>• Parametri evolutivi (Add, Chg, Del)</a:t>
            </a:r>
          </a:p>
        </p:txBody>
      </p:sp>
      <p:sp>
        <p:nvSpPr>
          <p:cNvPr id="9" name="Rounded Rectangle 8"/>
          <p:cNvSpPr/>
          <p:nvPr/>
        </p:nvSpPr>
        <p:spPr>
          <a:xfrm>
            <a:off x="841248" y="2779776"/>
            <a:ext cx="1929384" cy="960120"/>
          </a:xfrm>
          <a:prstGeom prst="roundRect">
            <a:avLst>
              <a:gd name="adj" fmla="val 9108"/>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834640"/>
            <a:ext cx="1783080" cy="841248"/>
          </a:xfrm>
          <a:prstGeom prst="rect">
            <a:avLst/>
          </a:prstGeom>
          <a:noFill/>
        </p:spPr>
        <p:txBody>
          <a:bodyPr wrap="square" lIns="0" tIns="0" rIns="0" bIns="0">
            <a:spAutoFit/>
          </a:bodyPr>
          <a:lstStyle/>
          <a:p>
            <a:pPr>
              <a:defRPr sz="950" b="1">
                <a:solidFill>
                  <a:srgbClr val="1E293B"/>
                </a:solidFill>
                <a:latin typeface="Arial"/>
              </a:defRPr>
            </a:pPr>
            <a:r>
              <a:rPr err="1"/>
              <a:t>Visualizzazione</a:t>
            </a:r>
            <a:r>
              <a:t> </a:t>
            </a:r>
            <a:r>
              <a:rPr err="1"/>
              <a:t>Reattiva</a:t>
            </a:r>
          </a:p>
          <a:p>
            <a:pPr>
              <a:defRPr sz="800">
                <a:solidFill>
                  <a:srgbClr val="334155"/>
                </a:solidFill>
                <a:latin typeface="Arial"/>
              </a:defRPr>
            </a:pPr>
            <a:r>
              <a:t>• Grafici </a:t>
            </a:r>
            <a:r>
              <a:rPr err="1"/>
              <a:t>comparativi</a:t>
            </a:r>
            <a:r>
              <a:t> (Chart.js)</a:t>
            </a:r>
          </a:p>
          <a:p>
            <a:pPr>
              <a:defRPr sz="800">
                <a:solidFill>
                  <a:srgbClr val="334155"/>
                </a:solidFill>
                <a:latin typeface="Arial"/>
              </a:defRPr>
            </a:pPr>
            <a:r>
              <a:t>• Confronto testa-a-testa immediato</a:t>
            </a:r>
          </a:p>
        </p:txBody>
      </p:sp>
      <p:sp>
        <p:nvSpPr>
          <p:cNvPr id="11" name="Right Arrow 10"/>
          <p:cNvSpPr/>
          <p:nvPr/>
        </p:nvSpPr>
        <p:spPr>
          <a:xfrm>
            <a:off x="2926080" y="2194560"/>
            <a:ext cx="274320" cy="146304"/>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80360" y="1993392"/>
            <a:ext cx="365760" cy="182880"/>
          </a:xfrm>
          <a:prstGeom prst="rect">
            <a:avLst/>
          </a:prstGeom>
          <a:noFill/>
        </p:spPr>
        <p:txBody>
          <a:bodyPr wrap="none" lIns="0" tIns="0" rIns="0" bIns="0">
            <a:spAutoFit/>
          </a:bodyPr>
          <a:lstStyle/>
          <a:p>
            <a:pPr algn="ctr">
              <a:defRPr sz="700" b="1">
                <a:solidFill>
                  <a:srgbClr val="2563EB"/>
                </a:solidFill>
                <a:latin typeface="Arial"/>
              </a:defRPr>
            </a:pPr>
            <a:r>
              <a:t>JSON</a:t>
            </a:r>
          </a:p>
        </p:txBody>
      </p:sp>
      <p:sp>
        <p:nvSpPr>
          <p:cNvPr id="13" name="Left Arrow 12"/>
          <p:cNvSpPr/>
          <p:nvPr/>
        </p:nvSpPr>
        <p:spPr>
          <a:xfrm>
            <a:off x="2926080" y="2468880"/>
            <a:ext cx="274320" cy="128016"/>
          </a:xfrm>
          <a:prstGeom prst="leftArrow">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80360" y="2615184"/>
            <a:ext cx="365760" cy="182880"/>
          </a:xfrm>
          <a:prstGeom prst="rect">
            <a:avLst/>
          </a:prstGeom>
          <a:noFill/>
        </p:spPr>
        <p:txBody>
          <a:bodyPr wrap="none" lIns="0" tIns="0" rIns="0" bIns="0">
            <a:spAutoFit/>
          </a:bodyPr>
          <a:lstStyle/>
          <a:p>
            <a:pPr algn="ctr">
              <a:defRPr sz="650" b="1">
                <a:solidFill>
                  <a:srgbClr val="059669"/>
                </a:solidFill>
                <a:latin typeface="Arial"/>
              </a:defRPr>
            </a:pPr>
            <a:r>
              <a:t>&lt; 5 ms</a:t>
            </a:r>
          </a:p>
        </p:txBody>
      </p:sp>
      <p:sp>
        <p:nvSpPr>
          <p:cNvPr id="16" name="TextBox 15"/>
          <p:cNvSpPr txBox="1"/>
          <p:nvPr/>
        </p:nvSpPr>
        <p:spPr>
          <a:xfrm>
            <a:off x="3355848" y="1216152"/>
            <a:ext cx="1746504" cy="457200"/>
          </a:xfrm>
          <a:prstGeom prst="rect">
            <a:avLst/>
          </a:prstGeom>
          <a:noFill/>
        </p:spPr>
        <p:txBody>
          <a:bodyPr wrap="square" lIns="0" tIns="0" rIns="0" bIns="0">
            <a:spAutoFit/>
          </a:bodyPr>
          <a:lstStyle/>
          <a:p>
            <a:pPr>
              <a:defRPr sz="850" b="1">
                <a:solidFill>
                  <a:srgbClr val="0284C7"/>
                </a:solidFill>
                <a:latin typeface="Arial"/>
              </a:defRPr>
            </a:pPr>
            <a:r>
              <a:t>BACKEND · CONTROLLER</a:t>
            </a:r>
          </a:p>
          <a:p>
            <a:pPr>
              <a:defRPr sz="1100" b="1">
                <a:solidFill>
                  <a:srgbClr val="0F2744"/>
                </a:solidFill>
                <a:latin typeface="Arial"/>
              </a:defRPr>
            </a:pPr>
            <a:r>
              <a:t>Flask Controller (app.py)</a:t>
            </a:r>
          </a:p>
        </p:txBody>
      </p:sp>
      <p:sp>
        <p:nvSpPr>
          <p:cNvPr id="17" name="Rounded Rectangle 16"/>
          <p:cNvSpPr/>
          <p:nvPr/>
        </p:nvSpPr>
        <p:spPr>
          <a:xfrm>
            <a:off x="3355848" y="1710219"/>
            <a:ext cx="1746504" cy="960120"/>
          </a:xfrm>
          <a:prstGeom prst="roundRect">
            <a:avLst>
              <a:gd name="adj" fmla="val 10620"/>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10712" y="1801368"/>
            <a:ext cx="1636776" cy="841248"/>
          </a:xfrm>
          <a:prstGeom prst="rect">
            <a:avLst/>
          </a:prstGeom>
          <a:noFill/>
        </p:spPr>
        <p:txBody>
          <a:bodyPr wrap="square" lIns="0" tIns="0" rIns="0" bIns="0">
            <a:spAutoFit/>
          </a:bodyPr>
          <a:lstStyle/>
          <a:p>
            <a:pPr>
              <a:defRPr sz="950" b="1">
                <a:solidFill>
                  <a:srgbClr val="1E293B"/>
                </a:solidFill>
                <a:latin typeface="Arial"/>
              </a:defRPr>
            </a:pPr>
            <a:r>
              <a:t>Endpoint &amp; Validazione</a:t>
            </a:r>
          </a:p>
          <a:p>
            <a:pPr>
              <a:defRPr sz="800">
                <a:solidFill>
                  <a:srgbClr val="334155"/>
                </a:solidFill>
                <a:latin typeface="Arial"/>
              </a:defRPr>
            </a:pPr>
            <a:r>
              <a:t>• POST /predict (routing REST)</a:t>
            </a:r>
          </a:p>
          <a:p>
            <a:pPr>
              <a:defRPr sz="800">
                <a:solidFill>
                  <a:srgbClr val="334155"/>
                </a:solidFill>
                <a:latin typeface="Arial"/>
              </a:defRPr>
            </a:pPr>
            <a:r>
              <a:t>• Controllo vincoli non-negativi</a:t>
            </a:r>
          </a:p>
        </p:txBody>
      </p:sp>
      <p:sp>
        <p:nvSpPr>
          <p:cNvPr id="19" name="Rounded Rectangle 18"/>
          <p:cNvSpPr/>
          <p:nvPr/>
        </p:nvSpPr>
        <p:spPr>
          <a:xfrm>
            <a:off x="3355848" y="2779776"/>
            <a:ext cx="1746504" cy="960120"/>
          </a:xfrm>
          <a:prstGeom prst="roundRect">
            <a:avLst>
              <a:gd name="adj" fmla="val 9108"/>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10712" y="2834640"/>
            <a:ext cx="1636776" cy="841248"/>
          </a:xfrm>
          <a:prstGeom prst="rect">
            <a:avLst/>
          </a:prstGeom>
          <a:noFill/>
        </p:spPr>
        <p:txBody>
          <a:bodyPr wrap="square" lIns="0" tIns="0" rIns="0" bIns="0">
            <a:spAutoFit/>
          </a:bodyPr>
          <a:lstStyle/>
          <a:p>
            <a:pPr>
              <a:defRPr sz="950" b="1">
                <a:solidFill>
                  <a:srgbClr val="1E293B"/>
                </a:solidFill>
                <a:latin typeface="Arial"/>
              </a:defRPr>
            </a:pPr>
            <a:r>
              <a:t>Dual Dispatcher</a:t>
            </a:r>
          </a:p>
          <a:p>
            <a:pPr>
              <a:defRPr sz="800">
                <a:solidFill>
                  <a:srgbClr val="334155"/>
                </a:solidFill>
                <a:latin typeface="Arial"/>
              </a:defRPr>
            </a:pPr>
            <a:r>
              <a:t>• Invocazione parallela ai motori</a:t>
            </a:r>
          </a:p>
          <a:p>
            <a:pPr>
              <a:defRPr sz="800">
                <a:solidFill>
                  <a:srgbClr val="334155"/>
                </a:solidFill>
                <a:latin typeface="Arial"/>
              </a:defRPr>
            </a:pPr>
            <a:r>
              <a:t>• Aggregazione responso unificato</a:t>
            </a:r>
          </a:p>
        </p:txBody>
      </p:sp>
      <p:sp>
        <p:nvSpPr>
          <p:cNvPr id="24" name="TextBox 23"/>
          <p:cNvSpPr txBox="1"/>
          <p:nvPr/>
        </p:nvSpPr>
        <p:spPr>
          <a:xfrm>
            <a:off x="5641848" y="1216152"/>
            <a:ext cx="2660904" cy="457200"/>
          </a:xfrm>
          <a:prstGeom prst="rect">
            <a:avLst/>
          </a:prstGeom>
          <a:noFill/>
        </p:spPr>
        <p:txBody>
          <a:bodyPr wrap="square" lIns="0" tIns="0" rIns="0" bIns="0">
            <a:spAutoFit/>
          </a:bodyPr>
          <a:lstStyle/>
          <a:p>
            <a:pPr>
              <a:defRPr sz="850" b="1">
                <a:solidFill>
                  <a:srgbClr val="2563EB"/>
                </a:solidFill>
                <a:latin typeface="Arial"/>
              </a:defRPr>
            </a:pPr>
            <a:r>
              <a:t>MODEL LAYER · DUAL-ENGINE CORE</a:t>
            </a:r>
          </a:p>
          <a:p>
            <a:pPr>
              <a:defRPr sz="1150" b="1">
                <a:solidFill>
                  <a:srgbClr val="0F2744"/>
                </a:solidFill>
                <a:latin typeface="Arial"/>
              </a:defRPr>
            </a:pPr>
            <a:r>
              <a:t>Orchestrazione Predittiva (models.py)</a:t>
            </a:r>
          </a:p>
        </p:txBody>
      </p:sp>
      <p:sp>
        <p:nvSpPr>
          <p:cNvPr id="25" name="Rounded Rectangle 24"/>
          <p:cNvSpPr/>
          <p:nvPr/>
        </p:nvSpPr>
        <p:spPr>
          <a:xfrm>
            <a:off x="5641848" y="1717476"/>
            <a:ext cx="2660904" cy="896112"/>
          </a:xfrm>
          <a:prstGeom prst="roundRect">
            <a:avLst>
              <a:gd name="adj" fmla="val 9378"/>
            </a:avLst>
          </a:prstGeom>
          <a:solidFill>
            <a:srgbClr val="FFFBEB"/>
          </a:solidFill>
          <a:ln w="9525">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715000" y="1783080"/>
            <a:ext cx="2514600" cy="822960"/>
          </a:xfrm>
          <a:prstGeom prst="rect">
            <a:avLst/>
          </a:prstGeom>
          <a:noFill/>
        </p:spPr>
        <p:txBody>
          <a:bodyPr wrap="square" lIns="0" tIns="0" rIns="0" bIns="0">
            <a:spAutoFit/>
          </a:bodyPr>
          <a:lstStyle/>
          <a:p>
            <a:pPr>
              <a:defRPr sz="850" b="1">
                <a:solidFill>
                  <a:srgbClr val="D97706"/>
                </a:solidFill>
                <a:latin typeface="Arial"/>
              </a:defRPr>
            </a:pPr>
            <a:r>
              <a:t>1. MOTORE ANALITICO CLASSICO (SLR)</a:t>
            </a:r>
          </a:p>
          <a:p>
            <a:pPr>
              <a:defRPr sz="950" b="1">
                <a:solidFill>
                  <a:srgbClr val="1E293B"/>
                </a:solidFill>
                <a:latin typeface="Arial"/>
              </a:defRPr>
            </a:pPr>
            <a:r>
              <a:t>Regressione Lineare (Di Martino et al., 2020)</a:t>
            </a:r>
          </a:p>
          <a:p>
            <a:pPr>
              <a:defRPr sz="800">
                <a:solidFill>
                  <a:srgbClr val="334155"/>
                </a:solidFill>
                <a:latin typeface="Arial"/>
              </a:defRPr>
            </a:pPr>
            <a:r>
              <a:t>• Formule analitiche HLFPA, IFPA e FP standard</a:t>
            </a:r>
          </a:p>
          <a:p>
            <a:pPr>
              <a:defRPr sz="800">
                <a:solidFill>
                  <a:srgbClr val="334155"/>
                </a:solidFill>
                <a:latin typeface="Arial"/>
              </a:defRPr>
            </a:pPr>
            <a:r>
              <a:t>• Stima baseline immediata e deterministica</a:t>
            </a:r>
          </a:p>
        </p:txBody>
      </p:sp>
      <p:sp>
        <p:nvSpPr>
          <p:cNvPr id="28" name="TextBox 27"/>
          <p:cNvSpPr txBox="1"/>
          <p:nvPr/>
        </p:nvSpPr>
        <p:spPr>
          <a:xfrm>
            <a:off x="5715000" y="2824914"/>
            <a:ext cx="2514600" cy="654025"/>
          </a:xfrm>
          <a:prstGeom prst="rect">
            <a:avLst/>
          </a:prstGeom>
          <a:noFill/>
        </p:spPr>
        <p:txBody>
          <a:bodyPr wrap="square" lIns="0" tIns="0" rIns="0" bIns="0" anchor="t">
            <a:spAutoFit/>
          </a:bodyPr>
          <a:lstStyle/>
          <a:p>
            <a:pPr>
              <a:defRPr sz="850" b="1">
                <a:solidFill>
                  <a:srgbClr val="38BDF8"/>
                </a:solidFill>
                <a:latin typeface="Arial"/>
              </a:defRPr>
            </a:pPr>
            <a:r>
              <a:rPr dirty="0"/>
              <a:t>2. MOTORE DEEP LEARNING (NOSTRO SOTA)</a:t>
            </a:r>
          </a:p>
          <a:p>
            <a:pPr>
              <a:defRPr sz="950" b="1">
                <a:solidFill>
                  <a:srgbClr val="FFFFFF"/>
                </a:solidFill>
                <a:latin typeface="Arial"/>
              </a:defRPr>
            </a:pPr>
            <a:endParaRPr lang="en-US" sz="850" dirty="0">
              <a:solidFill>
                <a:srgbClr val="38BDF8"/>
              </a:solidFill>
            </a:endParaRPr>
          </a:p>
          <a:p>
            <a:pPr>
              <a:defRPr sz="950" b="1">
                <a:solidFill>
                  <a:srgbClr val="FFFFFF"/>
                </a:solidFill>
                <a:latin typeface="Arial"/>
              </a:defRPr>
            </a:pPr>
            <a:r>
              <a:rPr dirty="0"/>
              <a:t>Fuzzy-DCNN </a:t>
            </a:r>
            <a:r>
              <a:rPr dirty="0" err="1"/>
              <a:t>Ottimizzato</a:t>
            </a:r>
            <a:r>
              <a:rPr lang="it-IT" dirty="0"/>
              <a:t> da noi</a:t>
            </a:r>
            <a:r>
              <a:rPr dirty="0"/>
              <a:t> (</a:t>
            </a:r>
            <a:r>
              <a:rPr dirty="0" err="1"/>
              <a:t>PyTorch</a:t>
            </a:r>
            <a:r>
              <a:rPr dirty="0"/>
              <a:t>)</a:t>
            </a:r>
            <a:endParaRPr dirty="0">
              <a:cs typeface="Arial"/>
            </a:endParaRPr>
          </a:p>
          <a:p>
            <a:pPr>
              <a:defRPr sz="800">
                <a:solidFill>
                  <a:srgbClr val="CBD5E1"/>
                </a:solidFill>
                <a:latin typeface="Arial"/>
              </a:defRPr>
            </a:pPr>
            <a:r>
              <a:rPr dirty="0"/>
              <a:t>• Fuzzifier FCM: </a:t>
            </a:r>
            <a:r>
              <a:rPr dirty="0" err="1"/>
              <a:t>Vettore</a:t>
            </a:r>
            <a:r>
              <a:rPr dirty="0"/>
              <a:t> 1D → Matrice 2D (k=5 China)</a:t>
            </a:r>
            <a:endParaRPr dirty="0">
              <a:cs typeface="Arial"/>
            </a:endParaRPr>
          </a:p>
          <a:p>
            <a:pPr>
              <a:defRPr sz="800">
                <a:solidFill>
                  <a:srgbClr val="CBD5E1"/>
                </a:solidFill>
                <a:latin typeface="Arial"/>
              </a:defRPr>
            </a:pPr>
            <a:r>
              <a:rPr dirty="0"/>
              <a:t>• Conv2D + Linear/Clip: </a:t>
            </a:r>
            <a:r>
              <a:rPr dirty="0" err="1"/>
              <a:t>predizione</a:t>
            </a:r>
            <a:r>
              <a:rPr dirty="0"/>
              <a:t> non-</a:t>
            </a:r>
            <a:r>
              <a:rPr dirty="0" err="1"/>
              <a:t>lineare</a:t>
            </a:r>
            <a:r>
              <a:rPr dirty="0"/>
              <a:t> robusta</a:t>
            </a:r>
            <a:endParaRPr dirty="0">
              <a:cs typeface="Arial"/>
            </a:endParaRPr>
          </a:p>
        </p:txBody>
      </p:sp>
      <p:sp>
        <p:nvSpPr>
          <p:cNvPr id="29" name="Rounded Rectangle 28"/>
          <p:cNvSpPr/>
          <p:nvPr/>
        </p:nvSpPr>
        <p:spPr>
          <a:xfrm>
            <a:off x="731520" y="3931920"/>
            <a:ext cx="7680960" cy="566928"/>
          </a:xfrm>
          <a:prstGeom prst="round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1248" y="4005072"/>
            <a:ext cx="2340864" cy="420624"/>
          </a:xfrm>
          <a:prstGeom prst="rect">
            <a:avLst/>
          </a:prstGeom>
          <a:noFill/>
        </p:spPr>
        <p:txBody>
          <a:bodyPr wrap="square" lIns="0" tIns="0" rIns="0" bIns="0">
            <a:spAutoFit/>
          </a:bodyPr>
          <a:lstStyle/>
          <a:p>
            <a:pPr>
              <a:defRPr sz="850" b="1">
                <a:solidFill>
                  <a:srgbClr val="38BDF8"/>
                </a:solidFill>
                <a:latin typeface="Arial"/>
              </a:defRPr>
            </a:pPr>
            <a:r>
              <a:t>INFERENZA ULTRA-RAPIDA</a:t>
            </a:r>
          </a:p>
          <a:p>
            <a:pPr>
              <a:defRPr sz="800">
                <a:solidFill>
                  <a:srgbClr val="DFE7EF"/>
                </a:solidFill>
                <a:latin typeface="Arial"/>
              </a:defRPr>
            </a:pPr>
            <a:r>
              <a:t>&lt; 5 ms per predizione, ideale per l'interazione web fluida</a:t>
            </a:r>
          </a:p>
        </p:txBody>
      </p:sp>
      <p:sp>
        <p:nvSpPr>
          <p:cNvPr id="31" name="TextBox 30"/>
          <p:cNvSpPr txBox="1"/>
          <p:nvPr/>
        </p:nvSpPr>
        <p:spPr>
          <a:xfrm>
            <a:off x="3401568" y="4005072"/>
            <a:ext cx="2340864" cy="420624"/>
          </a:xfrm>
          <a:prstGeom prst="rect">
            <a:avLst/>
          </a:prstGeom>
          <a:noFill/>
        </p:spPr>
        <p:txBody>
          <a:bodyPr wrap="square" lIns="0" tIns="0" rIns="0" bIns="0">
            <a:spAutoFit/>
          </a:bodyPr>
          <a:lstStyle/>
          <a:p>
            <a:pPr>
              <a:defRPr sz="850" b="1">
                <a:solidFill>
                  <a:srgbClr val="38BDF8"/>
                </a:solidFill>
                <a:latin typeface="Arial"/>
              </a:defRPr>
            </a:pPr>
            <a:r>
              <a:t>PARADIGMA DUAL-ENGINE</a:t>
            </a:r>
          </a:p>
          <a:p>
            <a:pPr>
              <a:defRPr sz="800">
                <a:solidFill>
                  <a:srgbClr val="DFE7EF"/>
                </a:solidFill>
                <a:latin typeface="Arial"/>
              </a:defRPr>
            </a:pPr>
            <a:r>
              <a:t>Affiancamento continuo: formula chiusa vs rete neurale</a:t>
            </a:r>
          </a:p>
        </p:txBody>
      </p:sp>
      <p:sp>
        <p:nvSpPr>
          <p:cNvPr id="32" name="TextBox 31"/>
          <p:cNvSpPr txBox="1"/>
          <p:nvPr/>
        </p:nvSpPr>
        <p:spPr>
          <a:xfrm>
            <a:off x="5961888" y="4005072"/>
            <a:ext cx="2340864" cy="420624"/>
          </a:xfrm>
          <a:prstGeom prst="rect">
            <a:avLst/>
          </a:prstGeom>
          <a:noFill/>
        </p:spPr>
        <p:txBody>
          <a:bodyPr wrap="square" lIns="0" tIns="0" rIns="0" bIns="0">
            <a:spAutoFit/>
          </a:bodyPr>
          <a:lstStyle/>
          <a:p>
            <a:pPr>
              <a:defRPr sz="850" b="1">
                <a:solidFill>
                  <a:srgbClr val="38BDF8"/>
                </a:solidFill>
                <a:latin typeface="Arial"/>
              </a:defRPr>
            </a:pPr>
            <a:r>
              <a:t>DECISION SUPPORT PM</a:t>
            </a:r>
          </a:p>
          <a:p>
            <a:pPr>
              <a:defRPr sz="800">
                <a:solidFill>
                  <a:srgbClr val="DFE7EF"/>
                </a:solidFill>
                <a:latin typeface="Arial"/>
              </a:defRPr>
            </a:pPr>
            <a:r>
              <a:t>Budgeting affidabile e contrattazione oggettiva con dati</a:t>
            </a:r>
          </a:p>
        </p:txBody>
      </p:sp>
      <p:sp>
        <p:nvSpPr>
          <p:cNvPr id="33" name="TextBox 13"/>
          <p:cNvSpPr txBox="1"/>
          <p:nvPr/>
        </p:nvSpPr>
        <p:spPr>
          <a:xfrm>
            <a:off x="2880360" y="2615184"/>
            <a:ext cx="365760" cy="182880"/>
          </a:xfrm>
          <a:prstGeom prst="rect">
            <a:avLst/>
          </a:prstGeom>
          <a:noFill/>
        </p:spPr>
        <p:txBody>
          <a:bodyPr wrap="none" lIns="0" tIns="0" rIns="0" bIns="0">
            <a:spAutoFit/>
          </a:bodyPr>
          <a:lstStyle/>
          <a:p>
            <a:pPr algn="ctr">
              <a:defRPr sz="650" b="1">
                <a:solidFill>
                  <a:srgbClr val="059669"/>
                </a:solidFill>
                <a:latin typeface="Arial"/>
              </a:defRPr>
            </a:pPr>
            <a:r>
              <a:t>&lt; 5 ms</a:t>
            </a:r>
          </a:p>
        </p:txBody>
      </p:sp>
      <p:sp>
        <p:nvSpPr>
          <p:cNvPr id="35" name="TextBox 15"/>
          <p:cNvSpPr txBox="1"/>
          <p:nvPr/>
        </p:nvSpPr>
        <p:spPr>
          <a:xfrm>
            <a:off x="3355848" y="1216152"/>
            <a:ext cx="1746504" cy="300082"/>
          </a:xfrm>
          <a:prstGeom prst="rect">
            <a:avLst/>
          </a:prstGeom>
          <a:noFill/>
        </p:spPr>
        <p:txBody>
          <a:bodyPr wrap="square" lIns="0" tIns="0" rIns="0" bIns="0">
            <a:spAutoFit/>
          </a:bodyPr>
          <a:lstStyle/>
          <a:p>
            <a:pPr>
              <a:defRPr sz="850" b="1">
                <a:solidFill>
                  <a:srgbClr val="2563EB"/>
                </a:solidFill>
                <a:latin typeface="Arial"/>
              </a:defRPr>
            </a:pPr>
            <a:r>
              <a:rPr sz="850" b="1">
                <a:solidFill>
                  <a:srgbClr val="2563EB"/>
                </a:solidFill>
                <a:latin typeface="Arial"/>
              </a:rPr>
              <a:t>BACKEND · CONTROLLER</a:t>
            </a:r>
          </a:p>
          <a:p>
            <a:pPr>
              <a:defRPr sz="1100" b="1">
                <a:solidFill>
                  <a:srgbClr val="0F2744"/>
                </a:solidFill>
                <a:latin typeface="Arial"/>
              </a:defRPr>
            </a:pPr>
            <a:r>
              <a:t>Flask Controller (app.py)</a:t>
            </a:r>
          </a:p>
        </p:txBody>
      </p:sp>
      <p:sp>
        <p:nvSpPr>
          <p:cNvPr id="39" name="TextBox 19"/>
          <p:cNvSpPr txBox="1"/>
          <p:nvPr/>
        </p:nvSpPr>
        <p:spPr>
          <a:xfrm>
            <a:off x="3410712" y="2834640"/>
            <a:ext cx="1636776" cy="392415"/>
          </a:xfrm>
          <a:prstGeom prst="rect">
            <a:avLst/>
          </a:prstGeom>
          <a:noFill/>
        </p:spPr>
        <p:txBody>
          <a:bodyPr wrap="square" lIns="0" tIns="0" rIns="0" bIns="0" anchor="t">
            <a:spAutoFit/>
          </a:bodyPr>
          <a:lstStyle/>
          <a:p>
            <a:pPr>
              <a:defRPr sz="950" b="1">
                <a:solidFill>
                  <a:srgbClr val="1E293B"/>
                </a:solidFill>
                <a:latin typeface="Arial"/>
              </a:defRPr>
            </a:pPr>
            <a:r>
              <a:t>Dual Dispatcher</a:t>
            </a:r>
          </a:p>
          <a:p>
            <a:pPr>
              <a:defRPr sz="800">
                <a:solidFill>
                  <a:srgbClr val="334155"/>
                </a:solidFill>
                <a:latin typeface="Arial"/>
              </a:defRPr>
            </a:pPr>
            <a:r>
              <a:t>• </a:t>
            </a:r>
            <a:r>
              <a:rPr err="1"/>
              <a:t>Invocazione</a:t>
            </a:r>
            <a:r>
              <a:t> parallela ai </a:t>
            </a:r>
            <a:r>
              <a:rPr lang="en-US" err="1"/>
              <a:t>motoi</a:t>
            </a:r>
            <a:endParaRPr err="1">
              <a:cs typeface="Arial"/>
            </a:endParaRPr>
          </a:p>
          <a:p>
            <a:pPr>
              <a:defRPr sz="800">
                <a:solidFill>
                  <a:srgbClr val="334155"/>
                </a:solidFill>
                <a:latin typeface="Arial"/>
              </a:defRPr>
            </a:pPr>
            <a:r>
              <a:t>• </a:t>
            </a:r>
            <a:r>
              <a:rPr err="1"/>
              <a:t>Aggregazione</a:t>
            </a:r>
            <a:r>
              <a:t> </a:t>
            </a:r>
            <a:r>
              <a:rPr err="1"/>
              <a:t>responso</a:t>
            </a:r>
            <a:r>
              <a:t> </a:t>
            </a:r>
            <a:r>
              <a:rPr err="1"/>
              <a:t>unificato</a:t>
            </a:r>
            <a:endParaRPr err="1">
              <a:cs typeface="Arial"/>
            </a:endParaRPr>
          </a:p>
        </p:txBody>
      </p:sp>
      <p:sp>
        <p:nvSpPr>
          <p:cNvPr id="40" name="Right Arrow 20"/>
          <p:cNvSpPr/>
          <p:nvPr/>
        </p:nvSpPr>
        <p:spPr>
          <a:xfrm>
            <a:off x="5257800" y="2011680"/>
            <a:ext cx="237744" cy="146304"/>
          </a:xfrm>
          <a:prstGeom prst="rightArrow">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ight Arrow 21"/>
          <p:cNvSpPr/>
          <p:nvPr/>
        </p:nvSpPr>
        <p:spPr>
          <a:xfrm>
            <a:off x="5257800" y="3078480"/>
            <a:ext cx="237744" cy="146304"/>
          </a:xfrm>
          <a:prstGeom prst="rightArrow">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23"/>
          <p:cNvSpPr txBox="1"/>
          <p:nvPr/>
        </p:nvSpPr>
        <p:spPr>
          <a:xfrm>
            <a:off x="5641848" y="1216152"/>
            <a:ext cx="2660904" cy="457200"/>
          </a:xfrm>
          <a:prstGeom prst="rect">
            <a:avLst/>
          </a:prstGeom>
          <a:noFill/>
        </p:spPr>
        <p:txBody>
          <a:bodyPr wrap="square" lIns="0" tIns="0" rIns="0" bIns="0">
            <a:spAutoFit/>
          </a:bodyPr>
          <a:lstStyle/>
          <a:p>
            <a:pPr>
              <a:defRPr sz="850" b="1">
                <a:solidFill>
                  <a:srgbClr val="2563EB"/>
                </a:solidFill>
                <a:latin typeface="Arial"/>
              </a:defRPr>
            </a:pPr>
            <a:r>
              <a:t>MODEL LAYER · DUAL-ENGINE CORE</a:t>
            </a:r>
          </a:p>
          <a:p>
            <a:pPr>
              <a:defRPr sz="1150" b="1">
                <a:solidFill>
                  <a:srgbClr val="0F2744"/>
                </a:solidFill>
                <a:latin typeface="Arial"/>
              </a:defRPr>
            </a:pPr>
            <a:r>
              <a:t>Orchestrazione Predittiva (models.py)</a:t>
            </a:r>
          </a:p>
        </p:txBody>
      </p:sp>
      <p:sp>
        <p:nvSpPr>
          <p:cNvPr id="48" name="Rounded Rectangle 28"/>
          <p:cNvSpPr/>
          <p:nvPr/>
        </p:nvSpPr>
        <p:spPr>
          <a:xfrm>
            <a:off x="731520" y="3931920"/>
            <a:ext cx="7680960" cy="566928"/>
          </a:xfrm>
          <a:prstGeom prst="roundRect">
            <a:avLst/>
          </a:prstGeom>
          <a:solidFill>
            <a:srgbClr val="0F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29"/>
          <p:cNvSpPr txBox="1"/>
          <p:nvPr/>
        </p:nvSpPr>
        <p:spPr>
          <a:xfrm>
            <a:off x="841248" y="4005072"/>
            <a:ext cx="2340864" cy="420624"/>
          </a:xfrm>
          <a:prstGeom prst="rect">
            <a:avLst/>
          </a:prstGeom>
          <a:noFill/>
        </p:spPr>
        <p:txBody>
          <a:bodyPr wrap="square" lIns="0" tIns="0" rIns="0" bIns="0">
            <a:spAutoFit/>
          </a:bodyPr>
          <a:lstStyle/>
          <a:p>
            <a:pPr>
              <a:defRPr sz="850" b="1">
                <a:solidFill>
                  <a:srgbClr val="38BDF8"/>
                </a:solidFill>
                <a:latin typeface="Arial"/>
              </a:defRPr>
            </a:pPr>
            <a:r>
              <a:t>INFERENZA ULTRA-RAPIDA</a:t>
            </a:r>
          </a:p>
          <a:p>
            <a:pPr>
              <a:defRPr sz="800">
                <a:solidFill>
                  <a:srgbClr val="DFE7EF"/>
                </a:solidFill>
                <a:latin typeface="Arial"/>
              </a:defRPr>
            </a:pPr>
            <a:r>
              <a:t>&lt; 5 ms per predizione, ideale per l'interazione web fluida</a:t>
            </a:r>
          </a:p>
        </p:txBody>
      </p:sp>
      <p:sp>
        <p:nvSpPr>
          <p:cNvPr id="50" name="TextBox 30"/>
          <p:cNvSpPr txBox="1"/>
          <p:nvPr/>
        </p:nvSpPr>
        <p:spPr>
          <a:xfrm>
            <a:off x="3401568" y="4005072"/>
            <a:ext cx="2340864" cy="420624"/>
          </a:xfrm>
          <a:prstGeom prst="rect">
            <a:avLst/>
          </a:prstGeom>
          <a:noFill/>
        </p:spPr>
        <p:txBody>
          <a:bodyPr wrap="square" lIns="0" tIns="0" rIns="0" bIns="0">
            <a:spAutoFit/>
          </a:bodyPr>
          <a:lstStyle/>
          <a:p>
            <a:pPr>
              <a:defRPr sz="850" b="1">
                <a:solidFill>
                  <a:srgbClr val="38BDF8"/>
                </a:solidFill>
                <a:latin typeface="Arial"/>
              </a:defRPr>
            </a:pPr>
            <a:r>
              <a:t>PARADIGMA DUAL-ENGINE</a:t>
            </a:r>
          </a:p>
          <a:p>
            <a:pPr>
              <a:defRPr sz="800">
                <a:solidFill>
                  <a:srgbClr val="DFE7EF"/>
                </a:solidFill>
                <a:latin typeface="Arial"/>
              </a:defRPr>
            </a:pPr>
            <a:r>
              <a:t>Affiancamento continuo: formula chiusa vs rete neurale</a:t>
            </a:r>
          </a:p>
        </p:txBody>
      </p:sp>
      <p:sp>
        <p:nvSpPr>
          <p:cNvPr id="51" name="TextBox 31"/>
          <p:cNvSpPr txBox="1"/>
          <p:nvPr/>
        </p:nvSpPr>
        <p:spPr>
          <a:xfrm>
            <a:off x="5961888" y="4005072"/>
            <a:ext cx="2340864" cy="420624"/>
          </a:xfrm>
          <a:prstGeom prst="rect">
            <a:avLst/>
          </a:prstGeom>
          <a:noFill/>
        </p:spPr>
        <p:txBody>
          <a:bodyPr wrap="square" lIns="0" tIns="0" rIns="0" bIns="0">
            <a:spAutoFit/>
          </a:bodyPr>
          <a:lstStyle/>
          <a:p>
            <a:pPr>
              <a:defRPr sz="850" b="1">
                <a:solidFill>
                  <a:srgbClr val="38BDF8"/>
                </a:solidFill>
                <a:latin typeface="Arial"/>
              </a:defRPr>
            </a:pPr>
            <a:r>
              <a:t>DECISION SUPPORT PM</a:t>
            </a:r>
          </a:p>
          <a:p>
            <a:pPr>
              <a:defRPr sz="800">
                <a:solidFill>
                  <a:srgbClr val="DFE7EF"/>
                </a:solidFill>
                <a:latin typeface="Arial"/>
              </a:defRPr>
            </a:pPr>
            <a:r>
              <a:t>Budgeting affidabile e contrattazione oggettiva con dati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txBox="1"/>
          <p:nvPr/>
        </p:nvSpPr>
        <p:spPr>
          <a:xfrm>
            <a:off x="731520" y="274320"/>
            <a:ext cx="7680960" cy="201168"/>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PROSPETTIVE DI RICERCA</a:t>
            </a:r>
            <a:endParaRPr lang="en-US" sz="850"/>
          </a:p>
        </p:txBody>
      </p:sp>
      <p:sp>
        <p:nvSpPr>
          <p:cNvPr id="3" name="Text 1"/>
          <p:cNvSpPr txBox="1"/>
          <p:nvPr/>
        </p:nvSpPr>
        <p:spPr>
          <a:xfrm>
            <a:off x="731520" y="475488"/>
            <a:ext cx="7680960" cy="411480"/>
          </a:xfrm>
          <a:prstGeom prst="rect">
            <a:avLst/>
          </a:prstGeom>
          <a:noFill/>
          <a:ln/>
        </p:spPr>
        <p:txBody>
          <a:bodyPr wrap="square" lIns="0" tIns="0" rIns="0" bIns="0" rtlCol="0" anchor="ctr"/>
          <a:lstStyle/>
          <a:p>
            <a:pPr marL="0" indent="0">
              <a:buNone/>
            </a:pPr>
            <a:r>
              <a:rPr lang="en-US" sz="1850" b="1">
                <a:solidFill>
                  <a:srgbClr val="0F2744"/>
                </a:solidFill>
                <a:latin typeface="Arial" pitchFamily="34" charset="0"/>
                <a:ea typeface="Arial" pitchFamily="34" charset="-122"/>
                <a:cs typeface="Arial" pitchFamily="34" charset="-120"/>
              </a:rPr>
              <a:t>Sviluppi Futuri e Nuove Frontiere di Ricerca</a:t>
            </a:r>
            <a:endParaRPr lang="en-US" sz="1850"/>
          </a:p>
        </p:txBody>
      </p:sp>
      <p:sp>
        <p:nvSpPr>
          <p:cNvPr id="4" name="Shape 2"/>
          <p:cNvSpPr/>
          <p:nvPr/>
        </p:nvSpPr>
        <p:spPr>
          <a:xfrm>
            <a:off x="731520" y="1051560"/>
            <a:ext cx="2423160" cy="3566160"/>
          </a:xfrm>
          <a:prstGeom prst="roundRect">
            <a:avLst>
              <a:gd name="adj" fmla="val 3019"/>
            </a:avLst>
          </a:prstGeom>
          <a:solidFill>
            <a:srgbClr val="FFFFFF"/>
          </a:solidFill>
          <a:ln w="12700">
            <a:solidFill>
              <a:srgbClr val="CBD5E1"/>
            </a:solidFill>
            <a:prstDash val="solid"/>
          </a:ln>
        </p:spPr>
        <p:txBody>
          <a:bodyPr/>
          <a:lstStyle/>
          <a:p>
            <a:endParaRPr lang="it-IT"/>
          </a:p>
        </p:txBody>
      </p:sp>
      <p:sp>
        <p:nvSpPr>
          <p:cNvPr id="5" name="Text 3"/>
          <p:cNvSpPr txBox="1"/>
          <p:nvPr/>
        </p:nvSpPr>
        <p:spPr>
          <a:xfrm>
            <a:off x="914400" y="1234440"/>
            <a:ext cx="2057400" cy="182880"/>
          </a:xfrm>
          <a:prstGeom prst="rect">
            <a:avLst/>
          </a:prstGeom>
          <a:noFill/>
          <a:ln/>
        </p:spPr>
        <p:txBody>
          <a:bodyPr wrap="square" lIns="0" tIns="0" rIns="0" bIns="0" rtlCol="0" anchor="ctr"/>
          <a:lstStyle/>
          <a:p>
            <a:pPr marL="0" indent="0">
              <a:buNone/>
            </a:pPr>
            <a:r>
              <a:rPr lang="en-US" sz="850" b="1">
                <a:solidFill>
                  <a:srgbClr val="2563EB"/>
                </a:solidFill>
                <a:latin typeface="Arial" pitchFamily="34" charset="0"/>
                <a:ea typeface="Arial" pitchFamily="34" charset="-122"/>
                <a:cs typeface="Arial" pitchFamily="34" charset="-120"/>
              </a:rPr>
              <a:t>ESPANSIONE MODELLI</a:t>
            </a:r>
            <a:endParaRPr lang="en-US" sz="850"/>
          </a:p>
        </p:txBody>
      </p:sp>
      <p:sp>
        <p:nvSpPr>
          <p:cNvPr id="6" name="Text 4"/>
          <p:cNvSpPr txBox="1"/>
          <p:nvPr/>
        </p:nvSpPr>
        <p:spPr>
          <a:xfrm>
            <a:off x="914400" y="1444752"/>
            <a:ext cx="2057400" cy="320040"/>
          </a:xfrm>
          <a:prstGeom prst="rect">
            <a:avLst/>
          </a:prstGeom>
          <a:noFill/>
          <a:ln/>
        </p:spPr>
        <p:txBody>
          <a:bodyPr wrap="square" lIns="0" tIns="0" rIns="0" bIns="0" rtlCol="0" anchor="ctr"/>
          <a:lstStyle/>
          <a:p>
            <a:pPr marL="0" indent="0">
              <a:buNone/>
            </a:pPr>
            <a:r>
              <a:rPr lang="en-US" sz="1250" b="1">
                <a:solidFill>
                  <a:srgbClr val="0F2744"/>
                </a:solidFill>
                <a:latin typeface="Arial" pitchFamily="34" charset="0"/>
                <a:ea typeface="Arial" pitchFamily="34" charset="-122"/>
                <a:cs typeface="Arial" pitchFamily="34" charset="-120"/>
              </a:rPr>
              <a:t>Laboratorio Multi-Modello</a:t>
            </a:r>
            <a:endParaRPr lang="en-US" sz="1250"/>
          </a:p>
        </p:txBody>
      </p:sp>
      <p:sp>
        <p:nvSpPr>
          <p:cNvPr id="7" name="Text 5"/>
          <p:cNvSpPr txBox="1"/>
          <p:nvPr/>
        </p:nvSpPr>
        <p:spPr>
          <a:xfrm>
            <a:off x="914400" y="1874520"/>
            <a:ext cx="2057400" cy="2560320"/>
          </a:xfrm>
          <a:prstGeom prst="rect">
            <a:avLst/>
          </a:prstGeom>
          <a:noFill/>
          <a:ln/>
        </p:spPr>
        <p:txBody>
          <a:bodyPr wrap="square" lIns="0" tIns="0" rIns="0" bIns="0" rtlCol="0" anchor="t"/>
          <a:lstStyle/>
          <a:p>
            <a:pPr marL="0" indent="0">
              <a:lnSpc>
                <a:spcPts val="1200"/>
              </a:lnSpc>
              <a:buNone/>
            </a:pPr>
            <a:r>
              <a:rPr lang="en-US" sz="860">
                <a:solidFill>
                  <a:srgbClr val="334155"/>
                </a:solidFill>
                <a:latin typeface="Arial" pitchFamily="34" charset="0"/>
                <a:ea typeface="Arial" pitchFamily="34" charset="-122"/>
                <a:cs typeface="Arial" pitchFamily="34" charset="-120"/>
              </a:rPr>
              <a:t>Estendere l'architettura della Web Application per integrare in parallelo i competitor emergenti studiati in letteratura:</a:t>
            </a:r>
            <a:endParaRPr lang="en-US" sz="860"/>
          </a:p>
          <a:p>
            <a:pPr marL="0" indent="0">
              <a:lnSpc>
                <a:spcPts val="1200"/>
              </a:lnSpc>
              <a:buNone/>
            </a:pPr>
            <a:endParaRPr lang="en-US" sz="860"/>
          </a:p>
          <a:p>
            <a:pPr marL="0" indent="0">
              <a:lnSpc>
                <a:spcPts val="1200"/>
              </a:lnSpc>
              <a:buNone/>
            </a:pPr>
            <a:r>
              <a:rPr lang="en-US" sz="860">
                <a:solidFill>
                  <a:srgbClr val="334155"/>
                </a:solidFill>
                <a:latin typeface="Arial" pitchFamily="34" charset="0"/>
                <a:ea typeface="Arial" pitchFamily="34" charset="-122"/>
                <a:cs typeface="Arial" pitchFamily="34" charset="-120"/>
              </a:rPr>
              <a:t>• Reti tabulari ad attenzione (TabNet con ottimizzazione Harris Hawks).</a:t>
            </a:r>
            <a:endParaRPr lang="en-US" sz="860"/>
          </a:p>
          <a:p>
            <a:pPr marL="0" indent="0">
              <a:lnSpc>
                <a:spcPts val="1200"/>
              </a:lnSpc>
              <a:buNone/>
            </a:pPr>
            <a:r>
              <a:rPr lang="en-US" sz="860">
                <a:solidFill>
                  <a:srgbClr val="334155"/>
                </a:solidFill>
                <a:latin typeface="Arial" pitchFamily="34" charset="0"/>
                <a:ea typeface="Arial" pitchFamily="34" charset="-122"/>
                <a:cs typeface="Arial" pitchFamily="34" charset="-120"/>
              </a:rPr>
              <a:t>• Stacking Ensembles avanzati (framework SELI e SENSE).</a:t>
            </a:r>
            <a:endParaRPr lang="en-US" sz="860"/>
          </a:p>
          <a:p>
            <a:pPr marL="0" indent="0">
              <a:lnSpc>
                <a:spcPts val="1200"/>
              </a:lnSpc>
              <a:buNone/>
            </a:pPr>
            <a:endParaRPr lang="en-US" sz="860"/>
          </a:p>
          <a:p>
            <a:pPr marL="0" indent="0">
              <a:lnSpc>
                <a:spcPts val="1200"/>
              </a:lnSpc>
              <a:buNone/>
            </a:pPr>
            <a:r>
              <a:rPr lang="en-US" sz="860">
                <a:solidFill>
                  <a:srgbClr val="334155"/>
                </a:solidFill>
                <a:latin typeface="Arial" pitchFamily="34" charset="0"/>
                <a:ea typeface="Arial" pitchFamily="34" charset="-122"/>
                <a:cs typeface="Arial" pitchFamily="34" charset="-120"/>
              </a:rPr>
              <a:t>Questo consentirà al manager di avere una suite di benchmark multi-modello con stima per consenso.</a:t>
            </a:r>
            <a:endParaRPr lang="en-US" sz="860"/>
          </a:p>
        </p:txBody>
      </p:sp>
      <p:sp>
        <p:nvSpPr>
          <p:cNvPr id="8" name="Shape 6"/>
          <p:cNvSpPr/>
          <p:nvPr/>
        </p:nvSpPr>
        <p:spPr>
          <a:xfrm>
            <a:off x="3355848" y="1051560"/>
            <a:ext cx="2423160" cy="3566160"/>
          </a:xfrm>
          <a:prstGeom prst="roundRect">
            <a:avLst>
              <a:gd name="adj" fmla="val 3019"/>
            </a:avLst>
          </a:prstGeom>
          <a:solidFill>
            <a:srgbClr val="FFFFFF"/>
          </a:solidFill>
          <a:ln w="15240">
            <a:solidFill>
              <a:srgbClr val="DDD6FE"/>
            </a:solidFill>
            <a:prstDash val="solid"/>
          </a:ln>
        </p:spPr>
        <p:txBody>
          <a:bodyPr/>
          <a:lstStyle/>
          <a:p>
            <a:endParaRPr lang="it-IT"/>
          </a:p>
        </p:txBody>
      </p:sp>
      <p:sp>
        <p:nvSpPr>
          <p:cNvPr id="9" name="Text 7"/>
          <p:cNvSpPr txBox="1"/>
          <p:nvPr/>
        </p:nvSpPr>
        <p:spPr>
          <a:xfrm>
            <a:off x="3538728" y="1234440"/>
            <a:ext cx="2057400" cy="182880"/>
          </a:xfrm>
          <a:prstGeom prst="rect">
            <a:avLst/>
          </a:prstGeom>
          <a:noFill/>
          <a:ln/>
        </p:spPr>
        <p:txBody>
          <a:bodyPr wrap="square" lIns="0" tIns="0" rIns="0" bIns="0" rtlCol="0" anchor="ctr"/>
          <a:lstStyle/>
          <a:p>
            <a:pPr marL="0" indent="0">
              <a:buNone/>
            </a:pPr>
            <a:r>
              <a:rPr lang="en-US" sz="850" b="1">
                <a:solidFill>
                  <a:srgbClr val="7C3AED"/>
                </a:solidFill>
                <a:latin typeface="Arial" pitchFamily="34" charset="0"/>
                <a:ea typeface="Arial" pitchFamily="34" charset="-122"/>
                <a:cs typeface="Arial" pitchFamily="34" charset="-120"/>
              </a:rPr>
              <a:t>PIPELINE GENERATIVA CON LLM</a:t>
            </a:r>
            <a:endParaRPr lang="en-US" sz="850"/>
          </a:p>
        </p:txBody>
      </p:sp>
      <p:sp>
        <p:nvSpPr>
          <p:cNvPr id="10" name="Text 8"/>
          <p:cNvSpPr txBox="1"/>
          <p:nvPr/>
        </p:nvSpPr>
        <p:spPr>
          <a:xfrm>
            <a:off x="3538728" y="1444752"/>
            <a:ext cx="2057400" cy="320040"/>
          </a:xfrm>
          <a:prstGeom prst="rect">
            <a:avLst/>
          </a:prstGeom>
          <a:noFill/>
          <a:ln/>
        </p:spPr>
        <p:txBody>
          <a:bodyPr wrap="square" lIns="0" tIns="0" rIns="0" bIns="0" rtlCol="0" anchor="ctr"/>
          <a:lstStyle/>
          <a:p>
            <a:pPr marL="0" indent="0">
              <a:buNone/>
            </a:pPr>
            <a:r>
              <a:rPr lang="en-US" sz="1250" b="1">
                <a:solidFill>
                  <a:srgbClr val="0F2744"/>
                </a:solidFill>
                <a:latin typeface="Arial" pitchFamily="34" charset="0"/>
                <a:ea typeface="Arial" pitchFamily="34" charset="-122"/>
                <a:cs typeface="Arial" pitchFamily="34" charset="-120"/>
              </a:rPr>
              <a:t>Dai Requisiti ai FP in Automatico</a:t>
            </a:r>
            <a:endParaRPr lang="en-US" sz="1250"/>
          </a:p>
        </p:txBody>
      </p:sp>
      <p:sp>
        <p:nvSpPr>
          <p:cNvPr id="11" name="Text 9"/>
          <p:cNvSpPr txBox="1"/>
          <p:nvPr/>
        </p:nvSpPr>
        <p:spPr>
          <a:xfrm>
            <a:off x="3538728" y="1874520"/>
            <a:ext cx="2057400" cy="2560320"/>
          </a:xfrm>
          <a:prstGeom prst="rect">
            <a:avLst/>
          </a:prstGeom>
          <a:noFill/>
          <a:ln/>
        </p:spPr>
        <p:txBody>
          <a:bodyPr wrap="square" lIns="0" tIns="0" rIns="0" bIns="0" rtlCol="0" anchor="t"/>
          <a:lstStyle/>
          <a:p>
            <a:pPr marL="0" indent="0">
              <a:lnSpc>
                <a:spcPts val="1200"/>
              </a:lnSpc>
              <a:buNone/>
            </a:pPr>
            <a:r>
              <a:rPr lang="en-US" sz="860">
                <a:solidFill>
                  <a:srgbClr val="334155"/>
                </a:solidFill>
                <a:latin typeface="Arial" pitchFamily="34" charset="0"/>
                <a:ea typeface="Arial" pitchFamily="34" charset="-122"/>
                <a:cs typeface="Arial" pitchFamily="34" charset="-120"/>
              </a:rPr>
              <a:t>La vera frontiera applicativa:</a:t>
            </a:r>
            <a:endParaRPr lang="en-US" sz="860"/>
          </a:p>
          <a:p>
            <a:pPr marL="0" indent="0">
              <a:lnSpc>
                <a:spcPts val="1200"/>
              </a:lnSpc>
              <a:buNone/>
            </a:pPr>
            <a:endParaRPr lang="en-US" sz="860"/>
          </a:p>
          <a:p>
            <a:pPr marL="0" indent="0">
              <a:lnSpc>
                <a:spcPts val="1200"/>
              </a:lnSpc>
              <a:buNone/>
            </a:pPr>
            <a:r>
              <a:rPr lang="en-US" sz="860">
                <a:solidFill>
                  <a:srgbClr val="334155"/>
                </a:solidFill>
                <a:latin typeface="Arial" pitchFamily="34" charset="0"/>
                <a:ea typeface="Arial" pitchFamily="34" charset="-122"/>
                <a:cs typeface="Arial" pitchFamily="34" charset="-120"/>
              </a:rPr>
              <a:t>Sfruttare un Large Language Model (es. Claude o GPT-4) per analizzare direttamente i documenti dei requisiti in linguaggio naturale (SRS o User Stories), estrarre in automatico i conteggi funzionali IFPUG e passarli alla rete neurale F-DCNN per una stima immediata senza conteggio manuale!</a:t>
            </a:r>
            <a:endParaRPr lang="en-US" sz="860"/>
          </a:p>
        </p:txBody>
      </p:sp>
      <p:sp>
        <p:nvSpPr>
          <p:cNvPr id="12" name="Shape 10"/>
          <p:cNvSpPr/>
          <p:nvPr/>
        </p:nvSpPr>
        <p:spPr>
          <a:xfrm>
            <a:off x="5989320" y="1051560"/>
            <a:ext cx="2423160" cy="3566160"/>
          </a:xfrm>
          <a:prstGeom prst="roundRect">
            <a:avLst>
              <a:gd name="adj" fmla="val 3019"/>
            </a:avLst>
          </a:prstGeom>
          <a:solidFill>
            <a:srgbClr val="FEF2F2"/>
          </a:solidFill>
          <a:ln w="15240">
            <a:solidFill>
              <a:srgbClr val="FECACA"/>
            </a:solidFill>
            <a:prstDash val="solid"/>
          </a:ln>
        </p:spPr>
        <p:txBody>
          <a:bodyPr/>
          <a:lstStyle/>
          <a:p>
            <a:endParaRPr lang="it-IT"/>
          </a:p>
        </p:txBody>
      </p:sp>
      <p:sp>
        <p:nvSpPr>
          <p:cNvPr id="13" name="Text 11"/>
          <p:cNvSpPr txBox="1"/>
          <p:nvPr/>
        </p:nvSpPr>
        <p:spPr>
          <a:xfrm>
            <a:off x="6172200" y="1234440"/>
            <a:ext cx="2057400" cy="182880"/>
          </a:xfrm>
          <a:prstGeom prst="rect">
            <a:avLst/>
          </a:prstGeom>
          <a:noFill/>
          <a:ln/>
        </p:spPr>
        <p:txBody>
          <a:bodyPr wrap="square" lIns="0" tIns="0" rIns="0" bIns="0" rtlCol="0" anchor="ctr"/>
          <a:lstStyle/>
          <a:p>
            <a:pPr marL="0" indent="0">
              <a:buNone/>
            </a:pPr>
            <a:r>
              <a:rPr lang="en-US" sz="850" b="1">
                <a:solidFill>
                  <a:srgbClr val="DC2626"/>
                </a:solidFill>
                <a:latin typeface="Arial" pitchFamily="34" charset="0"/>
                <a:ea typeface="Arial" pitchFamily="34" charset="-122"/>
                <a:cs typeface="Arial" pitchFamily="34" charset="-120"/>
              </a:rPr>
              <a:t>ESPLORAZIONE DI NUOVI DATI</a:t>
            </a:r>
            <a:endParaRPr lang="en-US" sz="850"/>
          </a:p>
        </p:txBody>
      </p:sp>
      <p:sp>
        <p:nvSpPr>
          <p:cNvPr id="14" name="Text 12"/>
          <p:cNvSpPr txBox="1"/>
          <p:nvPr/>
        </p:nvSpPr>
        <p:spPr>
          <a:xfrm>
            <a:off x="6172200" y="1444752"/>
            <a:ext cx="2057400" cy="320040"/>
          </a:xfrm>
          <a:prstGeom prst="rect">
            <a:avLst/>
          </a:prstGeom>
          <a:noFill/>
          <a:ln/>
        </p:spPr>
        <p:txBody>
          <a:bodyPr wrap="square" lIns="0" tIns="0" rIns="0" bIns="0" rtlCol="0" anchor="ctr"/>
          <a:lstStyle/>
          <a:p>
            <a:pPr marL="0" indent="0">
              <a:buNone/>
            </a:pPr>
            <a:r>
              <a:rPr lang="en-US" sz="1250" b="1">
                <a:solidFill>
                  <a:srgbClr val="0F2744"/>
                </a:solidFill>
                <a:latin typeface="Arial" pitchFamily="34" charset="0"/>
                <a:ea typeface="Arial" pitchFamily="34" charset="-122"/>
                <a:cs typeface="Arial" pitchFamily="34" charset="-120"/>
              </a:rPr>
              <a:t>Nuovi Dataset Pubblici</a:t>
            </a:r>
            <a:endParaRPr lang="en-US" sz="1250"/>
          </a:p>
        </p:txBody>
      </p:sp>
      <p:sp>
        <p:nvSpPr>
          <p:cNvPr id="15" name="Text 13"/>
          <p:cNvSpPr txBox="1"/>
          <p:nvPr/>
        </p:nvSpPr>
        <p:spPr>
          <a:xfrm>
            <a:off x="6172200" y="1874520"/>
            <a:ext cx="2057400" cy="2560320"/>
          </a:xfrm>
          <a:prstGeom prst="rect">
            <a:avLst/>
          </a:prstGeom>
          <a:noFill/>
          <a:ln/>
        </p:spPr>
        <p:txBody>
          <a:bodyPr wrap="square" lIns="0" tIns="0" rIns="0" bIns="0" rtlCol="0" anchor="t"/>
          <a:lstStyle/>
          <a:p>
            <a:pPr marL="0" indent="0">
              <a:lnSpc>
                <a:spcPts val="1200"/>
              </a:lnSpc>
              <a:buNone/>
            </a:pPr>
            <a:r>
              <a:rPr lang="en-US" sz="860">
                <a:solidFill>
                  <a:srgbClr val="334155"/>
                </a:solidFill>
                <a:latin typeface="Arial" pitchFamily="34" charset="0"/>
                <a:ea typeface="Arial" pitchFamily="34" charset="-122"/>
                <a:cs typeface="Arial" pitchFamily="34" charset="-120"/>
              </a:rPr>
              <a:t>Il nostro lavoro ha rivelato una carenza strutturale della ricerca:</a:t>
            </a:r>
            <a:endParaRPr lang="en-US" sz="860"/>
          </a:p>
          <a:p>
            <a:pPr marL="0" indent="0">
              <a:lnSpc>
                <a:spcPts val="1200"/>
              </a:lnSpc>
              <a:buNone/>
            </a:pPr>
            <a:endParaRPr lang="en-US" sz="860"/>
          </a:p>
          <a:p>
            <a:pPr marL="0" indent="0">
              <a:lnSpc>
                <a:spcPts val="1200"/>
              </a:lnSpc>
              <a:buNone/>
            </a:pPr>
            <a:r>
              <a:rPr lang="en-US" sz="860">
                <a:solidFill>
                  <a:srgbClr val="334155"/>
                </a:solidFill>
                <a:latin typeface="Arial" pitchFamily="34" charset="0"/>
                <a:ea typeface="Arial" pitchFamily="34" charset="-122"/>
                <a:cs typeface="Arial" pitchFamily="34" charset="-120"/>
              </a:rPr>
              <a:t>L'ingegneria del software addestra modelli del 2026 su progetti storici degli anni '80 e '90!</a:t>
            </a:r>
            <a:endParaRPr lang="en-US" sz="860"/>
          </a:p>
          <a:p>
            <a:pPr marL="0" indent="0">
              <a:lnSpc>
                <a:spcPts val="1200"/>
              </a:lnSpc>
              <a:buNone/>
            </a:pPr>
            <a:r>
              <a:rPr lang="en-US" sz="860">
                <a:solidFill>
                  <a:srgbClr val="334155"/>
                </a:solidFill>
                <a:latin typeface="Arial" pitchFamily="34" charset="0"/>
                <a:ea typeface="Arial" pitchFamily="34" charset="-122"/>
                <a:cs typeface="Arial" pitchFamily="34" charset="-120"/>
              </a:rPr>
              <a:t>È indispensabile che l'industria condivida nuovi dataset pubblici basati su Cloud, Microservizi e cicli di rilascio Agile moderni per calibrare i pesi sui processi attuali.</a:t>
            </a:r>
            <a:endParaRPr lang="en-US" sz="86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0F2744"/>
        </a:solidFill>
        <a:effectLst/>
      </p:bgPr>
    </p:bg>
    <p:spTree>
      <p:nvGrpSpPr>
        <p:cNvPr id="1" name=""/>
        <p:cNvGrpSpPr/>
        <p:nvPr/>
      </p:nvGrpSpPr>
      <p:grpSpPr>
        <a:xfrm>
          <a:off x="0" y="0"/>
          <a:ext cx="0" cy="0"/>
          <a:chOff x="0" y="0"/>
          <a:chExt cx="0" cy="0"/>
        </a:xfrm>
      </p:grpSpPr>
      <p:sp>
        <p:nvSpPr>
          <p:cNvPr id="2" name="Text 0"/>
          <p:cNvSpPr txBox="1"/>
          <p:nvPr/>
        </p:nvSpPr>
        <p:spPr>
          <a:xfrm>
            <a:off x="914400" y="1371600"/>
            <a:ext cx="7315200" cy="228600"/>
          </a:xfrm>
          <a:prstGeom prst="rect">
            <a:avLst/>
          </a:prstGeom>
          <a:noFill/>
          <a:ln/>
        </p:spPr>
        <p:txBody>
          <a:bodyPr wrap="square" lIns="0" tIns="0" rIns="0" bIns="0" rtlCol="0" anchor="ctr"/>
          <a:lstStyle/>
          <a:p>
            <a:pPr marL="0" indent="0" algn="ctr">
              <a:buNone/>
            </a:pPr>
            <a:r>
              <a:rPr lang="en-US" sz="1100" b="1">
                <a:solidFill>
                  <a:srgbClr val="38BDF8"/>
                </a:solidFill>
                <a:latin typeface="Arial" pitchFamily="34" charset="0"/>
                <a:ea typeface="Arial" pitchFamily="34" charset="-122"/>
                <a:cs typeface="Arial" pitchFamily="34" charset="-120"/>
              </a:rPr>
              <a:t>SINTESI FINALE</a:t>
            </a:r>
            <a:endParaRPr lang="en-US" sz="1100"/>
          </a:p>
        </p:txBody>
      </p:sp>
      <p:sp>
        <p:nvSpPr>
          <p:cNvPr id="3" name="Text 1"/>
          <p:cNvSpPr txBox="1"/>
          <p:nvPr/>
        </p:nvSpPr>
        <p:spPr>
          <a:xfrm>
            <a:off x="914400" y="1737360"/>
            <a:ext cx="7315200" cy="640080"/>
          </a:xfrm>
          <a:prstGeom prst="rect">
            <a:avLst/>
          </a:prstGeom>
          <a:noFill/>
          <a:ln/>
        </p:spPr>
        <p:txBody>
          <a:bodyPr wrap="square" lIns="0" tIns="0" rIns="0" bIns="0" rtlCol="0" anchor="ctr"/>
          <a:lstStyle/>
          <a:p>
            <a:pPr marL="0" indent="0" algn="ctr">
              <a:buNone/>
            </a:pPr>
            <a:r>
              <a:rPr lang="en-US" sz="4200" b="1">
                <a:solidFill>
                  <a:srgbClr val="FFFFFF"/>
                </a:solidFill>
                <a:latin typeface="Arial" pitchFamily="34" charset="0"/>
                <a:ea typeface="Arial" pitchFamily="34" charset="-122"/>
                <a:cs typeface="Arial" pitchFamily="34" charset="-120"/>
              </a:rPr>
              <a:t>Grazie per l'attenzione!</a:t>
            </a:r>
            <a:endParaRPr lang="en-US" sz="4200"/>
          </a:p>
        </p:txBody>
      </p:sp>
      <p:sp>
        <p:nvSpPr>
          <p:cNvPr id="4" name="Text 2"/>
          <p:cNvSpPr txBox="1"/>
          <p:nvPr/>
        </p:nvSpPr>
        <p:spPr>
          <a:xfrm>
            <a:off x="914400" y="2606040"/>
            <a:ext cx="7315200" cy="594360"/>
          </a:xfrm>
          <a:prstGeom prst="rect">
            <a:avLst/>
          </a:prstGeom>
          <a:noFill/>
          <a:ln/>
        </p:spPr>
        <p:txBody>
          <a:bodyPr wrap="square" lIns="0" tIns="0" rIns="0" bIns="0" rtlCol="0" anchor="ctr"/>
          <a:lstStyle/>
          <a:p>
            <a:pPr marL="0" indent="0" algn="ctr">
              <a:lnSpc>
                <a:spcPts val="2000"/>
              </a:lnSpc>
              <a:buNone/>
            </a:pPr>
            <a:r>
              <a:rPr lang="en-US" sz="1350">
                <a:solidFill>
                  <a:srgbClr val="94A3B8"/>
                </a:solidFill>
                <a:latin typeface="Arial" pitchFamily="34" charset="0"/>
                <a:ea typeface="Arial" pitchFamily="34" charset="-122"/>
                <a:cs typeface="Arial" pitchFamily="34" charset="-120"/>
              </a:rPr>
              <a:t>Fabrizio Apuzzo &amp; Agostino Cesarano</a:t>
            </a:r>
            <a:endParaRPr lang="en-US" sz="1350"/>
          </a:p>
          <a:p>
            <a:pPr marL="0" indent="0" algn="ctr">
              <a:lnSpc>
                <a:spcPts val="2000"/>
              </a:lnSpc>
              <a:buNone/>
            </a:pPr>
            <a:r>
              <a:rPr lang="en-US" sz="1350">
                <a:solidFill>
                  <a:srgbClr val="94A3B8"/>
                </a:solidFill>
                <a:latin typeface="Arial" pitchFamily="34" charset="0"/>
                <a:ea typeface="Arial" pitchFamily="34" charset="-122"/>
                <a:cs typeface="Arial" pitchFamily="34" charset="-120"/>
              </a:rPr>
              <a:t>Corso di Software Project Management and Evolution</a:t>
            </a:r>
            <a:endParaRPr lang="en-US" sz="1350"/>
          </a:p>
        </p:txBody>
      </p:sp>
      <p:sp>
        <p:nvSpPr>
          <p:cNvPr id="5" name="Shape 3"/>
          <p:cNvSpPr/>
          <p:nvPr/>
        </p:nvSpPr>
        <p:spPr>
          <a:xfrm>
            <a:off x="2011680" y="3566160"/>
            <a:ext cx="5120640" cy="685800"/>
          </a:xfrm>
          <a:prstGeom prst="roundRect">
            <a:avLst>
              <a:gd name="adj" fmla="val 10667"/>
            </a:avLst>
          </a:prstGeom>
          <a:solidFill>
            <a:srgbClr val="1E293B"/>
          </a:solidFill>
          <a:ln w="12700">
            <a:solidFill>
              <a:srgbClr val="334155"/>
            </a:solidFill>
            <a:prstDash val="solid"/>
          </a:ln>
        </p:spPr>
        <p:txBody>
          <a:bodyPr/>
          <a:lstStyle/>
          <a:p>
            <a:endParaRPr lang="it-IT"/>
          </a:p>
        </p:txBody>
      </p:sp>
      <p:sp>
        <p:nvSpPr>
          <p:cNvPr id="6" name="Text 4"/>
          <p:cNvSpPr txBox="1"/>
          <p:nvPr/>
        </p:nvSpPr>
        <p:spPr>
          <a:xfrm>
            <a:off x="2103120" y="3675888"/>
            <a:ext cx="4937760" cy="457200"/>
          </a:xfrm>
          <a:prstGeom prst="rect">
            <a:avLst/>
          </a:prstGeom>
          <a:noFill/>
          <a:ln/>
        </p:spPr>
        <p:txBody>
          <a:bodyPr wrap="square" lIns="0" tIns="0" rIns="0" bIns="0" rtlCol="0" anchor="ctr"/>
          <a:lstStyle/>
          <a:p>
            <a:pPr marL="0" indent="0" algn="ctr">
              <a:lnSpc>
                <a:spcPts val="1300"/>
              </a:lnSpc>
              <a:buNone/>
            </a:pPr>
            <a:r>
              <a:rPr lang="en-US" sz="950" b="1">
                <a:solidFill>
                  <a:srgbClr val="38BDF8"/>
                </a:solidFill>
                <a:latin typeface="Arial" pitchFamily="34" charset="0"/>
                <a:ea typeface="Arial" pitchFamily="34" charset="-122"/>
                <a:cs typeface="Arial" pitchFamily="34" charset="-120"/>
              </a:rPr>
              <a:t>Siamo a completa disposizione della commissione per chiarimenti,</a:t>
            </a:r>
            <a:endParaRPr lang="en-US" sz="950"/>
          </a:p>
          <a:p>
            <a:pPr marL="0" indent="0" algn="ctr">
              <a:lnSpc>
                <a:spcPts val="1300"/>
              </a:lnSpc>
              <a:buNone/>
            </a:pPr>
            <a:r>
              <a:rPr lang="en-US" sz="950" b="1">
                <a:solidFill>
                  <a:srgbClr val="38BDF8"/>
                </a:solidFill>
                <a:latin typeface="Arial" pitchFamily="34" charset="0"/>
                <a:ea typeface="Arial" pitchFamily="34" charset="-122"/>
                <a:cs typeface="Arial" pitchFamily="34" charset="-120"/>
              </a:rPr>
              <a:t>domande tecniche e approfondimenti sui codici e sui test.</a:t>
            </a:r>
            <a:endParaRPr lang="en-US" sz="9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4332</Words>
  <Application>Microsoft Office PowerPoint</Application>
  <PresentationFormat>Presentazione su schermo (16:9)</PresentationFormat>
  <Paragraphs>464</Paragraphs>
  <Slides>15</Slides>
  <Notes>15</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15</vt:i4>
      </vt:variant>
    </vt:vector>
  </HeadingPairs>
  <TitlesOfParts>
    <vt:vector size="18" baseType="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AGOSTINO CESARANO</cp:lastModifiedBy>
  <cp:revision>1</cp:revision>
  <dcterms:created xsi:type="dcterms:W3CDTF">2026-10-05T13:04:36Z</dcterms:created>
  <dcterms:modified xsi:type="dcterms:W3CDTF">2026-10-08T07:54:06Z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2026-10-05T13:23:15Z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4bd1b8c1-19d7-43b7-b684-d9157f75628a</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ies>
</file>